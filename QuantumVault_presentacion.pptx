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9" r:id="rId7"/>
    <p:sldId id="261" r:id="rId8"/>
    <p:sldId id="270" r:id="rId9"/>
    <p:sldId id="262" r:id="rId10"/>
    <p:sldId id="263" r:id="rId11"/>
    <p:sldId id="26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7"/>
    <p:restoredTop sz="94610"/>
  </p:normalViewPr>
  <p:slideViewPr>
    <p:cSldViewPr snapToGrid="0" snapToObjects="1">
      <p:cViewPr varScale="1">
        <p:scale>
          <a:sx n="226" d="100"/>
          <a:sy n="226" d="100"/>
        </p:scale>
        <p:origin x="49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Hoja_de_c_lculo_de_Microsoft_Excel4.xlsx"/></Relationships>
</file>

<file path=ppt/charts/_rels/chart6.xml.rels><?xml version="1.0" encoding="UTF-8" standalone="yes"?>
<Relationships xmlns="http://schemas.openxmlformats.org/package/2006/relationships"><Relationship Id="rId1" Type="http://schemas.openxmlformats.org/officeDocument/2006/relationships/package" Target="../embeddings/Hoja_de_c_lculo_de_Microsoft_Excel5.xlsx"/></Relationships>
</file>

<file path=ppt/charts/_rels/chart7.xml.rels><?xml version="1.0" encoding="UTF-8" standalone="yes"?>
<Relationships xmlns="http://schemas.openxmlformats.org/package/2006/relationships"><Relationship Id="rId1" Type="http://schemas.openxmlformats.org/officeDocument/2006/relationships/package" Target="../embeddings/Hoja_de_c_lculo_de_Microsoft_Excel6.xlsx"/></Relationships>
</file>

<file path=ppt/charts/_rels/chart8.xml.rels><?xml version="1.0" encoding="UTF-8" standalone="yes"?>
<Relationships xmlns="http://schemas.openxmlformats.org/package/2006/relationships"><Relationship Id="rId1" Type="http://schemas.openxmlformats.org/officeDocument/2006/relationships/package" Target="../embeddings/Hoja_de_c_lculo_de_Microsoft_Excel7.xlsx"/></Relationships>
</file>

<file path=ppt/charts/_rels/chart9.xml.rels><?xml version="1.0" encoding="UTF-8" standalone="yes"?>
<Relationships xmlns="http://schemas.openxmlformats.org/package/2006/relationships"><Relationship Id="rId1" Type="http://schemas.openxmlformats.org/officeDocument/2006/relationships/package" Target="../embeddings/Hoja_de_c_lculo_de_Microsoft_Excel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Clientes</c:v>
                </c:pt>
              </c:strCache>
            </c:strRef>
          </c:tx>
          <c:spPr>
            <a:solidFill>
              <a:srgbClr val="0A1A33"/>
            </a:solidFill>
            <a:effectLst/>
          </c:spPr>
          <c:invertIfNegative val="0"/>
          <c:dLbls>
            <c:numFmt formatCode="#,##0" sourceLinked="0"/>
            <c:spPr>
              <a:noFill/>
              <a:ln>
                <a:noFill/>
              </a:ln>
              <a:effectLst/>
            </c:spPr>
            <c:txPr>
              <a:bodyPr/>
              <a:lstStyle/>
              <a:p>
                <a:pPr>
                  <a:defRPr sz="950" b="0" i="0" u="none" strike="noStrike">
                    <a:solidFill>
                      <a:srgbClr val="0A1A33"/>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Año 1</c:v>
                </c:pt>
                <c:pt idx="1">
                  <c:v>Año 2</c:v>
                </c:pt>
                <c:pt idx="2">
                  <c:v>Año 3</c:v>
                </c:pt>
                <c:pt idx="3">
                  <c:v>Año 4</c:v>
                </c:pt>
                <c:pt idx="4">
                  <c:v>Año 5</c:v>
                </c:pt>
              </c:strCache>
            </c:strRef>
          </c:cat>
          <c:val>
            <c:numRef>
              <c:f>Sheet1!$B$2:$B$6</c:f>
              <c:numCache>
                <c:formatCode>General</c:formatCode>
                <c:ptCount val="5"/>
                <c:pt idx="0">
                  <c:v>20</c:v>
                </c:pt>
                <c:pt idx="1">
                  <c:v>28</c:v>
                </c:pt>
                <c:pt idx="2">
                  <c:v>39.200000000000003</c:v>
                </c:pt>
                <c:pt idx="3">
                  <c:v>54.9</c:v>
                </c:pt>
                <c:pt idx="4">
                  <c:v>76.8</c:v>
                </c:pt>
              </c:numCache>
            </c:numRef>
          </c:val>
          <c:extLst>
            <c:ext xmlns:c16="http://schemas.microsoft.com/office/drawing/2014/chart" uri="{C3380CC4-5D6E-409C-BE32-E72D297353CC}">
              <c16:uniqueId val="{00000000-7821-B949-B747-EC68D1BEEC7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Ingresos anuales (€)</c:v>
                </c:pt>
              </c:strCache>
            </c:strRef>
          </c:tx>
          <c:spPr>
            <a:solidFill>
              <a:srgbClr val="0EA5B0"/>
            </a:solidFill>
            <a:effectLst/>
          </c:spPr>
          <c:invertIfNegative val="0"/>
          <c:dLbls>
            <c:numFmt formatCode="#,##0" sourceLinked="0"/>
            <c:spPr>
              <a:noFill/>
              <a:ln>
                <a:noFill/>
              </a:ln>
              <a:effectLst/>
            </c:spPr>
            <c:txPr>
              <a:bodyPr/>
              <a:lstStyle/>
              <a:p>
                <a:pPr>
                  <a:defRPr sz="950" b="0" i="0" u="none" strike="noStrike">
                    <a:solidFill>
                      <a:srgbClr val="0A1A33"/>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Año 1</c:v>
                </c:pt>
                <c:pt idx="1">
                  <c:v>Año 2</c:v>
                </c:pt>
                <c:pt idx="2">
                  <c:v>Año 3</c:v>
                </c:pt>
                <c:pt idx="3">
                  <c:v>Año 4</c:v>
                </c:pt>
                <c:pt idx="4">
                  <c:v>Año 5</c:v>
                </c:pt>
              </c:strCache>
            </c:strRef>
          </c:cat>
          <c:val>
            <c:numRef>
              <c:f>Sheet1!$B$2:$B$6</c:f>
              <c:numCache>
                <c:formatCode>General</c:formatCode>
                <c:ptCount val="5"/>
                <c:pt idx="0">
                  <c:v>36000</c:v>
                </c:pt>
                <c:pt idx="1">
                  <c:v>50400</c:v>
                </c:pt>
                <c:pt idx="2">
                  <c:v>70560</c:v>
                </c:pt>
                <c:pt idx="3">
                  <c:v>98784</c:v>
                </c:pt>
                <c:pt idx="4">
                  <c:v>138298</c:v>
                </c:pt>
              </c:numCache>
            </c:numRef>
          </c:val>
          <c:extLst>
            <c:ext xmlns:c16="http://schemas.microsoft.com/office/drawing/2014/chart" uri="{C3380CC4-5D6E-409C-BE32-E72D297353CC}">
              <c16:uniqueId val="{00000000-A086-7247-B46D-AD9618853C7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doughnutChart>
        <c:varyColors val="1"/>
        <c:ser>
          <c:idx val="0"/>
          <c:order val="0"/>
          <c:tx>
            <c:strRef>
              <c:f>Sheet1!$B$1</c:f>
              <c:strCache>
                <c:ptCount val="1"/>
                <c:pt idx="0">
                  <c:v>CAPEX</c:v>
                </c:pt>
              </c:strCache>
            </c:strRef>
          </c:tx>
          <c:spPr>
            <a:solidFill>
              <a:schemeClr val="accent1"/>
            </a:solidFill>
            <a:ln w="9525" cap="flat">
              <a:solidFill>
                <a:srgbClr val="F9F9F9"/>
              </a:solidFill>
              <a:prstDash val="solid"/>
              <a:round/>
            </a:ln>
            <a:effectLst/>
          </c:spPr>
          <c:dPt>
            <c:idx val="0"/>
            <c:bubble3D val="0"/>
            <c:spPr>
              <a:solidFill>
                <a:srgbClr val="0A1A33"/>
              </a:solidFill>
              <a:effectLst/>
            </c:spPr>
            <c:extLst>
              <c:ext xmlns:c16="http://schemas.microsoft.com/office/drawing/2014/chart" uri="{C3380CC4-5D6E-409C-BE32-E72D297353CC}">
                <c16:uniqueId val="{00000001-4001-1640-9835-87FA0FFD17EA}"/>
              </c:ext>
            </c:extLst>
          </c:dPt>
          <c:dPt>
            <c:idx val="1"/>
            <c:bubble3D val="0"/>
            <c:spPr>
              <a:solidFill>
                <a:srgbClr val="0EA5B0"/>
              </a:solidFill>
              <a:effectLst/>
            </c:spPr>
            <c:extLst>
              <c:ext xmlns:c16="http://schemas.microsoft.com/office/drawing/2014/chart" uri="{C3380CC4-5D6E-409C-BE32-E72D297353CC}">
                <c16:uniqueId val="{00000003-4001-1640-9835-87FA0FFD17EA}"/>
              </c:ext>
            </c:extLst>
          </c:dPt>
          <c:dPt>
            <c:idx val="2"/>
            <c:bubble3D val="0"/>
            <c:spPr>
              <a:solidFill>
                <a:srgbClr val="3D7CA8"/>
              </a:solidFill>
              <a:effectLst/>
            </c:spPr>
            <c:extLst>
              <c:ext xmlns:c16="http://schemas.microsoft.com/office/drawing/2014/chart" uri="{C3380CC4-5D6E-409C-BE32-E72D297353CC}">
                <c16:uniqueId val="{00000005-4001-1640-9835-87FA0FFD17EA}"/>
              </c:ext>
            </c:extLst>
          </c:dPt>
          <c:dPt>
            <c:idx val="3"/>
            <c:bubble3D val="0"/>
            <c:spPr>
              <a:solidFill>
                <a:srgbClr val="64748B"/>
              </a:solidFill>
              <a:effectLst/>
            </c:spPr>
            <c:extLst>
              <c:ext xmlns:c16="http://schemas.microsoft.com/office/drawing/2014/chart" uri="{C3380CC4-5D6E-409C-BE32-E72D297353CC}">
                <c16:uniqueId val="{00000007-4001-1640-9835-87FA0FFD17EA}"/>
              </c:ext>
            </c:extLst>
          </c:dPt>
          <c:dPt>
            <c:idx val="4"/>
            <c:bubble3D val="0"/>
            <c:spPr>
              <a:solidFill>
                <a:srgbClr val="8FB8C9"/>
              </a:solidFill>
              <a:effectLst/>
            </c:spPr>
            <c:extLst>
              <c:ext xmlns:c16="http://schemas.microsoft.com/office/drawing/2014/chart" uri="{C3380CC4-5D6E-409C-BE32-E72D297353CC}">
                <c16:uniqueId val="{00000009-4001-1640-9835-87FA0FFD17EA}"/>
              </c:ext>
            </c:extLst>
          </c:dPt>
          <c:dPt>
            <c:idx val="5"/>
            <c:bubble3D val="0"/>
            <c:spPr>
              <a:solidFill>
                <a:srgbClr val="B9D3DA"/>
              </a:solidFill>
              <a:effectLst/>
            </c:spPr>
            <c:extLst>
              <c:ext xmlns:c16="http://schemas.microsoft.com/office/drawing/2014/chart" uri="{C3380CC4-5D6E-409C-BE32-E72D297353CC}">
                <c16:uniqueId val="{0000000B-4001-1640-9835-87FA0FFD17EA}"/>
              </c:ext>
            </c:extLst>
          </c:dPt>
          <c:dPt>
            <c:idx val="6"/>
            <c:bubble3D val="0"/>
            <c:spPr>
              <a:solidFill>
                <a:srgbClr val="1C4E6B"/>
              </a:solidFill>
              <a:effectLst/>
            </c:spPr>
            <c:extLst>
              <c:ext xmlns:c16="http://schemas.microsoft.com/office/drawing/2014/chart" uri="{C3380CC4-5D6E-409C-BE32-E72D297353CC}">
                <c16:uniqueId val="{0000000D-4001-1640-9835-87FA0FFD17EA}"/>
              </c:ext>
            </c:extLst>
          </c:dPt>
          <c:dLbls>
            <c:dLbl>
              <c:idx val="0"/>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001-1640-9835-87FA0FFD17EA}"/>
                </c:ext>
              </c:extLst>
            </c:dLbl>
            <c:dLbl>
              <c:idx val="1"/>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001-1640-9835-87FA0FFD17EA}"/>
                </c:ext>
              </c:extLst>
            </c:dLbl>
            <c:dLbl>
              <c:idx val="2"/>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001-1640-9835-87FA0FFD17EA}"/>
                </c:ext>
              </c:extLst>
            </c:dLbl>
            <c:dLbl>
              <c:idx val="3"/>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001-1640-9835-87FA0FFD17EA}"/>
                </c:ext>
              </c:extLst>
            </c:dLbl>
            <c:dLbl>
              <c:idx val="4"/>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001-1640-9835-87FA0FFD17EA}"/>
                </c:ext>
              </c:extLst>
            </c:dLbl>
            <c:dLbl>
              <c:idx val="5"/>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4001-1640-9835-87FA0FFD17EA}"/>
                </c:ext>
              </c:extLst>
            </c:dLbl>
            <c:dLbl>
              <c:idx val="6"/>
              <c:numFmt formatCode="0%" sourceLinked="0"/>
              <c:spPr/>
              <c:txPr>
                <a:bodyPr/>
                <a:lstStyle/>
                <a:p>
                  <a:pPr>
                    <a:defRPr sz="9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4001-1640-9835-87FA0FFD17EA}"/>
                </c:ext>
              </c:extLst>
            </c:dLbl>
            <c:numFmt formatCode="0%" sourceLinked="0"/>
            <c:spPr>
              <a:noFill/>
              <a:ln>
                <a:noFill/>
              </a:ln>
              <a:effectLst/>
            </c:spPr>
            <c:txPr>
              <a:bodyPr/>
              <a:lstStyle/>
              <a:p>
                <a:pPr>
                  <a:defRPr sz="1800" b="0" i="0" u="none" strike="noStrike">
                    <a:solidFill>
                      <a:srgbClr val="000000"/>
                    </a:solidFill>
                    <a:latin typeface="Arial"/>
                  </a:defRPr>
                </a:pPr>
                <a:endParaRPr lang="es-E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Desarrollo software</c:v>
                </c:pt>
                <c:pt idx="1">
                  <c:v>Auditoría de seguridad</c:v>
                </c:pt>
                <c:pt idx="2">
                  <c:v>Marketing de lanzamiento</c:v>
                </c:pt>
                <c:pt idx="3">
                  <c:v>Capital de trabajo inicial</c:v>
                </c:pt>
                <c:pt idx="4">
                  <c:v>Equipamiento informático</c:v>
                </c:pt>
                <c:pt idx="5">
                  <c:v>Constitución y gastos legales</c:v>
                </c:pt>
                <c:pt idx="6">
                  <c:v>Diseño UX/UI</c:v>
                </c:pt>
              </c:strCache>
            </c:strRef>
          </c:cat>
          <c:val>
            <c:numRef>
              <c:f>Sheet1!$B$2:$B$8</c:f>
              <c:numCache>
                <c:formatCode>General</c:formatCode>
                <c:ptCount val="7"/>
                <c:pt idx="0">
                  <c:v>80000</c:v>
                </c:pt>
                <c:pt idx="1">
                  <c:v>15000</c:v>
                </c:pt>
                <c:pt idx="2">
                  <c:v>15000</c:v>
                </c:pt>
                <c:pt idx="3">
                  <c:v>25000</c:v>
                </c:pt>
                <c:pt idx="4">
                  <c:v>7500</c:v>
                </c:pt>
                <c:pt idx="5">
                  <c:v>6000</c:v>
                </c:pt>
                <c:pt idx="6">
                  <c:v>5000</c:v>
                </c:pt>
              </c:numCache>
            </c:numRef>
          </c:val>
          <c:extLst>
            <c:ext xmlns:c16="http://schemas.microsoft.com/office/drawing/2014/chart" uri="{C3380CC4-5D6E-409C-BE32-E72D297353CC}">
              <c16:uniqueId val="{0000000E-4001-1640-9835-87FA0FFD17EA}"/>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5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Ingresos anuales</c:v>
                </c:pt>
              </c:strCache>
            </c:strRef>
          </c:tx>
          <c:spPr>
            <a:solidFill>
              <a:srgbClr val="0EA5B0"/>
            </a:solidFill>
            <a:effectLst/>
          </c:spPr>
          <c:invertIfNegative val="0"/>
          <c:cat>
            <c:strRef>
              <c:f>Sheet1!$A$2:$A$6</c:f>
              <c:strCache>
                <c:ptCount val="5"/>
                <c:pt idx="0">
                  <c:v>Año 1</c:v>
                </c:pt>
                <c:pt idx="1">
                  <c:v>Año 2</c:v>
                </c:pt>
                <c:pt idx="2">
                  <c:v>Año 3</c:v>
                </c:pt>
                <c:pt idx="3">
                  <c:v>Año 4</c:v>
                </c:pt>
                <c:pt idx="4">
                  <c:v>Año 5</c:v>
                </c:pt>
              </c:strCache>
            </c:strRef>
          </c:cat>
          <c:val>
            <c:numRef>
              <c:f>Sheet1!$B$2:$B$6</c:f>
              <c:numCache>
                <c:formatCode>General</c:formatCode>
                <c:ptCount val="5"/>
                <c:pt idx="0">
                  <c:v>36000</c:v>
                </c:pt>
                <c:pt idx="1">
                  <c:v>50400</c:v>
                </c:pt>
                <c:pt idx="2">
                  <c:v>70560</c:v>
                </c:pt>
                <c:pt idx="3">
                  <c:v>98784</c:v>
                </c:pt>
                <c:pt idx="4">
                  <c:v>138298</c:v>
                </c:pt>
              </c:numCache>
            </c:numRef>
          </c:val>
          <c:extLst>
            <c:ext xmlns:c16="http://schemas.microsoft.com/office/drawing/2014/chart" uri="{C3380CC4-5D6E-409C-BE32-E72D297353CC}">
              <c16:uniqueId val="{00000000-6749-5E4D-A750-18A92BA71148}"/>
            </c:ext>
          </c:extLst>
        </c:ser>
        <c:ser>
          <c:idx val="1"/>
          <c:order val="1"/>
          <c:tx>
            <c:strRef>
              <c:f>Sheet1!$C$1</c:f>
              <c:strCache>
                <c:ptCount val="1"/>
                <c:pt idx="0">
                  <c:v>Costes fijos</c:v>
                </c:pt>
              </c:strCache>
            </c:strRef>
          </c:tx>
          <c:spPr>
            <a:solidFill>
              <a:srgbClr val="0A1A33"/>
            </a:solidFill>
            <a:effectLst/>
          </c:spPr>
          <c:invertIfNegative val="0"/>
          <c:cat>
            <c:strRef>
              <c:f>Sheet1!$A$2:$A$6</c:f>
              <c:strCache>
                <c:ptCount val="5"/>
                <c:pt idx="0">
                  <c:v>Año 1</c:v>
                </c:pt>
                <c:pt idx="1">
                  <c:v>Año 2</c:v>
                </c:pt>
                <c:pt idx="2">
                  <c:v>Año 3</c:v>
                </c:pt>
                <c:pt idx="3">
                  <c:v>Año 4</c:v>
                </c:pt>
                <c:pt idx="4">
                  <c:v>Año 5</c:v>
                </c:pt>
              </c:strCache>
            </c:strRef>
          </c:cat>
          <c:val>
            <c:numRef>
              <c:f>Sheet1!$C$2:$C$6</c:f>
              <c:numCache>
                <c:formatCode>General</c:formatCode>
                <c:ptCount val="5"/>
                <c:pt idx="0">
                  <c:v>142440</c:v>
                </c:pt>
                <c:pt idx="1">
                  <c:v>147746</c:v>
                </c:pt>
                <c:pt idx="2">
                  <c:v>153395</c:v>
                </c:pt>
                <c:pt idx="3">
                  <c:v>159424</c:v>
                </c:pt>
                <c:pt idx="4">
                  <c:v>165879</c:v>
                </c:pt>
              </c:numCache>
            </c:numRef>
          </c:val>
          <c:extLst>
            <c:ext xmlns:c16="http://schemas.microsoft.com/office/drawing/2014/chart" uri="{C3380CC4-5D6E-409C-BE32-E72D297353CC}">
              <c16:uniqueId val="{00000001-6749-5E4D-A750-18A92BA71148}"/>
            </c:ext>
          </c:extLst>
        </c:ser>
        <c:ser>
          <c:idx val="2"/>
          <c:order val="2"/>
          <c:tx>
            <c:strRef>
              <c:f>Sheet1!$D$1</c:f>
              <c:strCache>
                <c:ptCount val="1"/>
                <c:pt idx="0">
                  <c:v>Costes variables</c:v>
                </c:pt>
              </c:strCache>
            </c:strRef>
          </c:tx>
          <c:spPr>
            <a:solidFill>
              <a:srgbClr val="B8C3CE"/>
            </a:solidFill>
            <a:effectLst/>
          </c:spPr>
          <c:invertIfNegative val="0"/>
          <c:cat>
            <c:strRef>
              <c:f>Sheet1!$A$2:$A$6</c:f>
              <c:strCache>
                <c:ptCount val="5"/>
                <c:pt idx="0">
                  <c:v>Año 1</c:v>
                </c:pt>
                <c:pt idx="1">
                  <c:v>Año 2</c:v>
                </c:pt>
                <c:pt idx="2">
                  <c:v>Año 3</c:v>
                </c:pt>
                <c:pt idx="3">
                  <c:v>Año 4</c:v>
                </c:pt>
                <c:pt idx="4">
                  <c:v>Año 5</c:v>
                </c:pt>
              </c:strCache>
            </c:strRef>
          </c:cat>
          <c:val>
            <c:numRef>
              <c:f>Sheet1!$D$2:$D$6</c:f>
              <c:numCache>
                <c:formatCode>General</c:formatCode>
                <c:ptCount val="5"/>
                <c:pt idx="0">
                  <c:v>2400</c:v>
                </c:pt>
                <c:pt idx="1">
                  <c:v>3360</c:v>
                </c:pt>
                <c:pt idx="2">
                  <c:v>4704</c:v>
                </c:pt>
                <c:pt idx="3">
                  <c:v>6586</c:v>
                </c:pt>
                <c:pt idx="4">
                  <c:v>9220</c:v>
                </c:pt>
              </c:numCache>
            </c:numRef>
          </c:val>
          <c:extLst>
            <c:ext xmlns:c16="http://schemas.microsoft.com/office/drawing/2014/chart" uri="{C3380CC4-5D6E-409C-BE32-E72D297353CC}">
              <c16:uniqueId val="{00000002-6749-5E4D-A750-18A92BA71148}"/>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doughnutChart>
        <c:varyColors val="1"/>
        <c:ser>
          <c:idx val="0"/>
          <c:order val="0"/>
          <c:tx>
            <c:strRef>
              <c:f>Sheet1!$B$1</c:f>
              <c:strCache>
                <c:ptCount val="1"/>
                <c:pt idx="0">
                  <c:v>Financiación</c:v>
                </c:pt>
              </c:strCache>
            </c:strRef>
          </c:tx>
          <c:spPr>
            <a:solidFill>
              <a:schemeClr val="accent1"/>
            </a:solidFill>
            <a:ln w="9525" cap="flat">
              <a:solidFill>
                <a:srgbClr val="F9F9F9"/>
              </a:solidFill>
              <a:prstDash val="solid"/>
              <a:round/>
            </a:ln>
            <a:effectLst/>
          </c:spPr>
          <c:dPt>
            <c:idx val="0"/>
            <c:bubble3D val="0"/>
            <c:spPr>
              <a:solidFill>
                <a:srgbClr val="0EA5B0"/>
              </a:solidFill>
              <a:effectLst/>
            </c:spPr>
            <c:extLst>
              <c:ext xmlns:c16="http://schemas.microsoft.com/office/drawing/2014/chart" uri="{C3380CC4-5D6E-409C-BE32-E72D297353CC}">
                <c16:uniqueId val="{00000001-F29C-3041-B9FB-6E22E7145857}"/>
              </c:ext>
            </c:extLst>
          </c:dPt>
          <c:dPt>
            <c:idx val="1"/>
            <c:bubble3D val="0"/>
            <c:spPr>
              <a:solidFill>
                <a:srgbClr val="0A1A33"/>
              </a:solidFill>
              <a:effectLst/>
            </c:spPr>
            <c:extLst>
              <c:ext xmlns:c16="http://schemas.microsoft.com/office/drawing/2014/chart" uri="{C3380CC4-5D6E-409C-BE32-E72D297353CC}">
                <c16:uniqueId val="{00000003-F29C-3041-B9FB-6E22E7145857}"/>
              </c:ext>
            </c:extLst>
          </c:dPt>
          <c:dLbls>
            <c:dLbl>
              <c:idx val="0"/>
              <c:numFmt formatCode="0%" sourceLinked="0"/>
              <c:spPr/>
              <c:txPr>
                <a:bodyPr/>
                <a:lstStyle/>
                <a:p>
                  <a:pPr>
                    <a:defRPr sz="11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29C-3041-B9FB-6E22E7145857}"/>
                </c:ext>
              </c:extLst>
            </c:dLbl>
            <c:dLbl>
              <c:idx val="1"/>
              <c:numFmt formatCode="0%" sourceLinked="0"/>
              <c:spPr/>
              <c:txPr>
                <a:bodyPr/>
                <a:lstStyle/>
                <a:p>
                  <a:pPr>
                    <a:defRPr sz="1100" b="0" i="0" u="none" strike="noStrike">
                      <a:solidFill>
                        <a:srgbClr val="FFFFFF"/>
                      </a:solidFill>
                      <a:latin typeface="Arial"/>
                    </a:defRPr>
                  </a:pPr>
                  <a:endParaRPr lang="es-E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29C-3041-B9FB-6E22E7145857}"/>
                </c:ext>
              </c:extLst>
            </c:dLbl>
            <c:numFmt formatCode="0%" sourceLinked="0"/>
            <c:spPr>
              <a:noFill/>
              <a:ln>
                <a:noFill/>
              </a:ln>
              <a:effectLst/>
            </c:spPr>
            <c:txPr>
              <a:bodyPr/>
              <a:lstStyle/>
              <a:p>
                <a:pPr>
                  <a:defRPr sz="1800" b="0" i="0" u="none" strike="noStrike">
                    <a:solidFill>
                      <a:srgbClr val="000000"/>
                    </a:solidFill>
                    <a:latin typeface="Arial"/>
                  </a:defRPr>
                </a:pPr>
                <a:endParaRPr lang="es-E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Capital propio (40 %)</c:v>
                </c:pt>
                <c:pt idx="1">
                  <c:v>Préstamo bancario (60 %)</c:v>
                </c:pt>
              </c:strCache>
            </c:strRef>
          </c:cat>
          <c:val>
            <c:numRef>
              <c:f>Sheet1!$B$2:$B$3</c:f>
              <c:numCache>
                <c:formatCode>General</c:formatCode>
                <c:ptCount val="2"/>
                <c:pt idx="0">
                  <c:v>61400</c:v>
                </c:pt>
                <c:pt idx="1">
                  <c:v>92100</c:v>
                </c:pt>
              </c:numCache>
            </c:numRef>
          </c:val>
          <c:extLst>
            <c:ext xmlns:c16="http://schemas.microsoft.com/office/drawing/2014/chart" uri="{C3380CC4-5D6E-409C-BE32-E72D297353CC}">
              <c16:uniqueId val="{00000004-F29C-3041-B9FB-6E22E7145857}"/>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5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FF Puro</c:v>
                </c:pt>
              </c:strCache>
            </c:strRef>
          </c:tx>
          <c:spPr>
            <a:solidFill>
              <a:srgbClr val="0EA5B0"/>
            </a:solidFill>
            <a:effectLst/>
          </c:spPr>
          <c:invertIfNegative val="0"/>
          <c:cat>
            <c:strRef>
              <c:f>Sheet1!$A$2:$A$7</c:f>
              <c:strCache>
                <c:ptCount val="6"/>
                <c:pt idx="0">
                  <c:v>Año 0</c:v>
                </c:pt>
                <c:pt idx="1">
                  <c:v>Año 1</c:v>
                </c:pt>
                <c:pt idx="2">
                  <c:v>Año 2</c:v>
                </c:pt>
                <c:pt idx="3">
                  <c:v>Año 3</c:v>
                </c:pt>
                <c:pt idx="4">
                  <c:v>Año 4</c:v>
                </c:pt>
                <c:pt idx="5">
                  <c:v>Año 5</c:v>
                </c:pt>
              </c:strCache>
            </c:strRef>
          </c:cat>
          <c:val>
            <c:numRef>
              <c:f>Sheet1!$B$2:$B$7</c:f>
              <c:numCache>
                <c:formatCode>General</c:formatCode>
                <c:ptCount val="6"/>
                <c:pt idx="0">
                  <c:v>-153500</c:v>
                </c:pt>
                <c:pt idx="1">
                  <c:v>-108840</c:v>
                </c:pt>
                <c:pt idx="2">
                  <c:v>-100706</c:v>
                </c:pt>
                <c:pt idx="3">
                  <c:v>-87539</c:v>
                </c:pt>
                <c:pt idx="4">
                  <c:v>-67226</c:v>
                </c:pt>
                <c:pt idx="5">
                  <c:v>-10301</c:v>
                </c:pt>
              </c:numCache>
            </c:numRef>
          </c:val>
          <c:extLst>
            <c:ext xmlns:c16="http://schemas.microsoft.com/office/drawing/2014/chart" uri="{C3380CC4-5D6E-409C-BE32-E72D297353CC}">
              <c16:uniqueId val="{00000000-73CA-C544-BA15-C31972DB93CA}"/>
            </c:ext>
          </c:extLst>
        </c:ser>
        <c:ser>
          <c:idx val="1"/>
          <c:order val="1"/>
          <c:tx>
            <c:strRef>
              <c:f>Sheet1!$C$1</c:f>
              <c:strCache>
                <c:ptCount val="1"/>
                <c:pt idx="0">
                  <c:v>FF Inversionista</c:v>
                </c:pt>
              </c:strCache>
            </c:strRef>
          </c:tx>
          <c:spPr>
            <a:solidFill>
              <a:srgbClr val="C73E3E"/>
            </a:solidFill>
            <a:effectLst/>
          </c:spPr>
          <c:invertIfNegative val="0"/>
          <c:cat>
            <c:strRef>
              <c:f>Sheet1!$A$2:$A$7</c:f>
              <c:strCache>
                <c:ptCount val="6"/>
                <c:pt idx="0">
                  <c:v>Año 0</c:v>
                </c:pt>
                <c:pt idx="1">
                  <c:v>Año 1</c:v>
                </c:pt>
                <c:pt idx="2">
                  <c:v>Año 2</c:v>
                </c:pt>
                <c:pt idx="3">
                  <c:v>Año 3</c:v>
                </c:pt>
                <c:pt idx="4">
                  <c:v>Año 4</c:v>
                </c:pt>
                <c:pt idx="5">
                  <c:v>Año 5</c:v>
                </c:pt>
              </c:strCache>
            </c:strRef>
          </c:cat>
          <c:val>
            <c:numRef>
              <c:f>Sheet1!$C$2:$C$7</c:f>
              <c:numCache>
                <c:formatCode>General</c:formatCode>
                <c:ptCount val="6"/>
                <c:pt idx="0">
                  <c:v>-61400</c:v>
                </c:pt>
                <c:pt idx="1">
                  <c:v>-128962</c:v>
                </c:pt>
                <c:pt idx="2">
                  <c:v>-121036</c:v>
                </c:pt>
                <c:pt idx="3">
                  <c:v>-108087</c:v>
                </c:pt>
                <c:pt idx="4">
                  <c:v>-88004</c:v>
                </c:pt>
                <c:pt idx="5">
                  <c:v>-31321</c:v>
                </c:pt>
              </c:numCache>
            </c:numRef>
          </c:val>
          <c:extLst>
            <c:ext xmlns:c16="http://schemas.microsoft.com/office/drawing/2014/chart" uri="{C3380CC4-5D6E-409C-BE32-E72D297353CC}">
              <c16:uniqueId val="{00000001-73CA-C544-BA15-C31972DB93CA}"/>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FF descontado acumulado (€)</c:v>
                </c:pt>
              </c:strCache>
            </c:strRef>
          </c:tx>
          <c:spPr>
            <a:ln w="38100" cap="flat">
              <a:solidFill>
                <a:srgbClr val="0A1A33"/>
              </a:solidFill>
              <a:prstDash val="solid"/>
              <a:round/>
            </a:ln>
            <a:effectLst/>
          </c:spPr>
          <c:marker>
            <c:symbol val="circle"/>
            <c:size val="7"/>
            <c:spPr>
              <a:solidFill>
                <a:srgbClr val="0A1A33"/>
              </a:solidFill>
              <a:ln w="9525" cap="flat">
                <a:solidFill>
                  <a:srgbClr val="0A1A33"/>
                </a:solidFill>
                <a:prstDash val="solid"/>
                <a:round/>
              </a:ln>
              <a:effectLst/>
            </c:spPr>
          </c:marker>
          <c:dLbls>
            <c:numFmt formatCode="#,##0" sourceLinked="0"/>
            <c:spPr>
              <a:noFill/>
              <a:ln>
                <a:noFill/>
              </a:ln>
              <a:effectLst/>
            </c:spPr>
            <c:txPr>
              <a:bodyPr/>
              <a:lstStyle/>
              <a:p>
                <a:pPr>
                  <a:defRPr sz="750" b="0" i="0" u="none" strike="noStrike">
                    <a:solidFill>
                      <a:srgbClr val="0A1A33"/>
                    </a:solidFill>
                    <a:latin typeface="Arial"/>
                  </a:defRPr>
                </a:pPr>
                <a:endParaRPr lang="es-E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Año 0</c:v>
                </c:pt>
                <c:pt idx="1">
                  <c:v>Año 1</c:v>
                </c:pt>
                <c:pt idx="2">
                  <c:v>Año 2</c:v>
                </c:pt>
                <c:pt idx="3">
                  <c:v>Año 3</c:v>
                </c:pt>
                <c:pt idx="4">
                  <c:v>Año 4</c:v>
                </c:pt>
                <c:pt idx="5">
                  <c:v>Año 5</c:v>
                </c:pt>
              </c:strCache>
            </c:strRef>
          </c:cat>
          <c:val>
            <c:numRef>
              <c:f>Sheet1!$B$2:$B$7</c:f>
              <c:numCache>
                <c:formatCode>General</c:formatCode>
                <c:ptCount val="6"/>
                <c:pt idx="0">
                  <c:v>-153500</c:v>
                </c:pt>
                <c:pt idx="1">
                  <c:v>-253594</c:v>
                </c:pt>
                <c:pt idx="2">
                  <c:v>-338765</c:v>
                </c:pt>
                <c:pt idx="3">
                  <c:v>-406851</c:v>
                </c:pt>
                <c:pt idx="4">
                  <c:v>-454937</c:v>
                </c:pt>
                <c:pt idx="5">
                  <c:v>-461713</c:v>
                </c:pt>
              </c:numCache>
            </c:numRef>
          </c:val>
          <c:smooth val="0"/>
          <c:extLst>
            <c:ext xmlns:c16="http://schemas.microsoft.com/office/drawing/2014/chart" uri="{C3380CC4-5D6E-409C-BE32-E72D297353CC}">
              <c16:uniqueId val="{00000000-4F02-B541-BEF3-211E9F4791B8}"/>
            </c:ext>
          </c:extLst>
        </c:ser>
        <c:dLbls>
          <c:dLblPos val="b"/>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VAN (€)</c:v>
                </c:pt>
              </c:strCache>
            </c:strRef>
          </c:tx>
          <c:spPr>
            <a:ln w="31750" cap="flat">
              <a:solidFill>
                <a:srgbClr val="C73E3E"/>
              </a:solidFill>
              <a:prstDash val="solid"/>
              <a:round/>
            </a:ln>
            <a:effectLst/>
          </c:spPr>
          <c:marker>
            <c:symbol val="circle"/>
            <c:size val="4"/>
            <c:spPr>
              <a:solidFill>
                <a:srgbClr val="C73E3E"/>
              </a:solidFill>
              <a:ln w="9525" cap="flat">
                <a:solidFill>
                  <a:srgbClr val="C73E3E"/>
                </a:solidFill>
                <a:prstDash val="solid"/>
                <a:round/>
              </a:ln>
              <a:effectLst/>
            </c:spPr>
          </c:marker>
          <c:cat>
            <c:strRef>
              <c:f>Sheet1!$A$2:$A$12</c:f>
              <c:strCache>
                <c:ptCount val="11"/>
                <c:pt idx="0">
                  <c:v>0,50x</c:v>
                </c:pt>
                <c:pt idx="1">
                  <c:v>0,60x</c:v>
                </c:pt>
                <c:pt idx="2">
                  <c:v>0,70x</c:v>
                </c:pt>
                <c:pt idx="3">
                  <c:v>0,80x</c:v>
                </c:pt>
                <c:pt idx="4">
                  <c:v>0,90x</c:v>
                </c:pt>
                <c:pt idx="5">
                  <c:v>1,00x</c:v>
                </c:pt>
                <c:pt idx="6">
                  <c:v>1,10x</c:v>
                </c:pt>
                <c:pt idx="7">
                  <c:v>1,20x</c:v>
                </c:pt>
                <c:pt idx="8">
                  <c:v>1,30x</c:v>
                </c:pt>
                <c:pt idx="9">
                  <c:v>1,40x</c:v>
                </c:pt>
                <c:pt idx="10">
                  <c:v>1,50x</c:v>
                </c:pt>
              </c:strCache>
            </c:strRef>
          </c:cat>
          <c:val>
            <c:numRef>
              <c:f>Sheet1!$B$2:$B$12</c:f>
              <c:numCache>
                <c:formatCode>General</c:formatCode>
                <c:ptCount val="11"/>
                <c:pt idx="0">
                  <c:v>-492210</c:v>
                </c:pt>
                <c:pt idx="1">
                  <c:v>-485715</c:v>
                </c:pt>
                <c:pt idx="2">
                  <c:v>-479427</c:v>
                </c:pt>
                <c:pt idx="3">
                  <c:v>-473336</c:v>
                </c:pt>
                <c:pt idx="4">
                  <c:v>-467434</c:v>
                </c:pt>
                <c:pt idx="5">
                  <c:v>-461713</c:v>
                </c:pt>
                <c:pt idx="6">
                  <c:v>-456166</c:v>
                </c:pt>
                <c:pt idx="7">
                  <c:v>-450787</c:v>
                </c:pt>
                <c:pt idx="8">
                  <c:v>-445567</c:v>
                </c:pt>
                <c:pt idx="9">
                  <c:v>-440502</c:v>
                </c:pt>
                <c:pt idx="10">
                  <c:v>-435584</c:v>
                </c:pt>
              </c:numCache>
            </c:numRef>
          </c:val>
          <c:smooth val="0"/>
          <c:extLst>
            <c:ext xmlns:c16="http://schemas.microsoft.com/office/drawing/2014/chart" uri="{C3380CC4-5D6E-409C-BE32-E72D297353CC}">
              <c16:uniqueId val="{00000000-427E-AB44-90FA-E586BD82832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Frecuencia</c:v>
                </c:pt>
              </c:strCache>
            </c:strRef>
          </c:tx>
          <c:spPr>
            <a:solidFill>
              <a:srgbClr val="C73E3E"/>
            </a:solidFill>
            <a:effectLst/>
          </c:spPr>
          <c:invertIfNegative val="0"/>
          <c:dLbls>
            <c:numFmt formatCode="#,##0" sourceLinked="0"/>
            <c:spPr>
              <a:noFill/>
              <a:ln>
                <a:noFill/>
              </a:ln>
              <a:effectLst/>
            </c:spPr>
            <c:txPr>
              <a:bodyPr/>
              <a:lstStyle/>
              <a:p>
                <a:pPr>
                  <a:defRPr sz="850" b="0" i="0" u="none" strike="noStrike">
                    <a:solidFill>
                      <a:srgbClr val="0A1A33"/>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-503/-491</c:v>
                </c:pt>
                <c:pt idx="1">
                  <c:v>-491/-480</c:v>
                </c:pt>
                <c:pt idx="2">
                  <c:v>-480/-468</c:v>
                </c:pt>
                <c:pt idx="3">
                  <c:v>-468/-457</c:v>
                </c:pt>
                <c:pt idx="4">
                  <c:v>-457/-445</c:v>
                </c:pt>
                <c:pt idx="5">
                  <c:v>-445/-433</c:v>
                </c:pt>
                <c:pt idx="6">
                  <c:v>-433/-422</c:v>
                </c:pt>
                <c:pt idx="7">
                  <c:v>-422/-410</c:v>
                </c:pt>
                <c:pt idx="8">
                  <c:v>-410/-398</c:v>
                </c:pt>
                <c:pt idx="9">
                  <c:v>-398/-387</c:v>
                </c:pt>
              </c:strCache>
            </c:strRef>
          </c:cat>
          <c:val>
            <c:numRef>
              <c:f>Sheet1!$B$2:$B$11</c:f>
              <c:numCache>
                <c:formatCode>General</c:formatCode>
                <c:ptCount val="10"/>
                <c:pt idx="0">
                  <c:v>12</c:v>
                </c:pt>
                <c:pt idx="1">
                  <c:v>35</c:v>
                </c:pt>
                <c:pt idx="2">
                  <c:v>72</c:v>
                </c:pt>
                <c:pt idx="3">
                  <c:v>130</c:v>
                </c:pt>
                <c:pt idx="4">
                  <c:v>204</c:v>
                </c:pt>
                <c:pt idx="5">
                  <c:v>183</c:v>
                </c:pt>
                <c:pt idx="6">
                  <c:v>177</c:v>
                </c:pt>
                <c:pt idx="7">
                  <c:v>109</c:v>
                </c:pt>
                <c:pt idx="8">
                  <c:v>59</c:v>
                </c:pt>
                <c:pt idx="9">
                  <c:v>19</c:v>
                </c:pt>
              </c:numCache>
            </c:numRef>
          </c:val>
          <c:extLst>
            <c:ext xmlns:c16="http://schemas.microsoft.com/office/drawing/2014/chart" uri="{C3380CC4-5D6E-409C-BE32-E72D297353CC}">
              <c16:uniqueId val="{00000000-ED88-3341-BCFB-E79A8DB65C08}"/>
            </c:ext>
          </c:extLst>
        </c:ser>
        <c:dLbls>
          <c:showLegendKey val="0"/>
          <c:showVal val="1"/>
          <c:showCatName val="0"/>
          <c:showSerName val="0"/>
          <c:showPercent val="0"/>
          <c:showBubbleSize val="0"/>
        </c:dLbls>
        <c:gapWidth val="1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2081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Buenos días. Voy a presentar la evaluación económico-financiera de QuantumVault S.L., un proyecto de startup de almacenamiento cloud seguro con criptografía post-cuántica. El análisis cubre un horizonte de 5 años, en euros constantes de 2026, con la metodología clásica: Flujo de Fondos Puro, Flujo del Inversionista, VAN, TIR, VAE, sensibilidad y Monte Carlo. Adelanto la conclusión: el resultado financiero es desfavorable en el escenario base, aunque la idea de negocio es sólida.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(0:40–1:30) QuantumVault es una S.L. que ofrece almacenamiento cloud por suscripción (SaaS), con sede en Madrid. El problema que resuelve es doble: los sistemas cloud clásicos son vulnerables a futuros ordenadores cuánticos, y muchas empresas no quieren que ni el propio proveedor pueda ver sus datos. La respuesta es cifrado extremo a extremo, arquitectura zero-knowledge y el algoritmo post-cuántico ML-KEM, estandarizado por el NIST en 2024.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El mercado objetivo es B2B: despachos, consultoras, tecnológicas, universidades y administraciones con datos sensibles. El precio es 150 €/mes por empresa (5 usuarios, 1 TB). El informe no identifica competidores concretos con nombre; se posiciona frente a los servicios cloud generalistas. La proyección parte de solo 20 clientes en el año 1, creciendo al 40% anual: esto será clave más adelante, porque es una base de partida muy pequeña.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(2:30–3:15) A nivel técnico, se apoya en AWS: S3 para almacenamiento, EC2/Docker/Kubernetes para cómputo, RDS PostgreSQL para datos. La capacidad inicial es 20 TB, con margen de seguridad del 50% hasta 30 TB instalados. Los datos se alojan en centros europeos, no solo por rendimiento sino para reforzar el cumplimiento del RGPD.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(3:15–3:45) Jurídicamente es una Sociedad Limitada, con responsabilidad limitada al capital. Cumple el RGPD por el tratamiento de datos sensibles, tributa al 25% en Impuesto de Sociedades, y necesita SLAs claros en su contratación SaaS además de proteger su propiedad intelectual.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(3:45–4:30) La inversión inicial total es 153.500 €. La partida dominante es el desarrollo de software (80.000 €, el 52%), seguida del capital de trabajo (25.000 €, recuperable en el año 5) y partidas menores de auditoría, marketing, equipamiento y constitución. La depreciación anual asciende a 17.875 €.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(4:30–5:15) Aquí empieza a verse el problema. Los costes fijos del año 1 son 142.440 €, dominados por personal (110.000 €, 2 desarrolladores y un director). Los ingresos del año 1 son solo 36.000 €. El margen de contribución por cliente es positivo, 1.680 €/año, pero con solo 20 clientes no alcanza ni de lejos para cubrir la estructura fija.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(5:15–5:45) La inversión se financia 40% capital propio (61.400 €) y 60% deuda bancaria (92.100 €) a sistema francés, 5% a 5 años. El WACC real es 4,37%. Como vamos a ver, esta deuda no ayuda: añade una cuota neta de impuestos creciente de 20.122 € a 21.020 € al año.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(5:45–6:30) Si comparamos el Flujo de Fondos Puro con el del Inversionista, el segundo es siempre más negativo, porque resta el servicio de la deuda. Y si miramos el acumulado descontado, la curva nunca cruza el cero: pasamos de -153.500 € en el año 0 a -461.713 € en el año 5. No hay recupero en el horizonte analizado.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(6:30–7:15) Estos son los resultados centrales. El VAN del proyecto es -461.713,11 €. La TIR no es calculable porque no hay suficiente recuperación positiva. El VAE de 117.896,69 € debe leerse como un coste anual equivalente, no como una renta. El payback descontado no se alcanza. Y el VAN del inversionista es aún peor, -490.611,23 €: la deuda empeora la rentabilidad del accionista en vez de mejorarla. La decisión bajo estas hipótesis es no acometer el proyecto.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(7:15–8:00) Para comprobar la robustez del resultado, hicimos sensibilidad. Moviendo solo la tasa de descuento entre la mitad y 1,5 veces su valor base, el VAN se mantiene siempre muy negativo. Cruzando clientes y precio en una matriz bidimensional, incluso en la combinación más favorable analizada —26 clientes a 195 €/mes— el VAN sigue en -361.100 €. Y la hoja de punto de equilibrio nos dice que harían falta como mínimo 52 clientes en el año 1, más del doble de los 20 previstos, para llegar a VAN = 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(8:00–8:40) La simulación Monte Carlo, con 1.000 iteraciones variando precio e ingresos, confirma el diagnóstico: el VAN esperado es -441.903,61 €, con una desviación de 22.058 €. El rango va de -503.082 € a -386.690 €. En ninguna de las 1.000 iteraciones el VAN resultó positivo: probabilidad 0,00%.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(8:40–9:30) En conclusión: QuantumVault no es viable financieramente bajo las hipótesis actuales —VAN negativo, TIR no calculable, payback no alcanzado—, pero esto es un problema de dimensionamiento financiero, no de falta de atractivo estratégico. La causa raíz es el desajuste entre una base inicial de solo 20 clientes y una estructura de costes fijos elevada, agravado por la deuda. La recomendación es no acometer el proyecto en su configuración actual, y reconsiderarlo con un horizonte más largo, un precio más ajustado al valor aportado y una captación inicial más agresiva. Gracias.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3"/>
        </a:solidFill>
        <a:effectLst/>
      </p:bgPr>
    </p:bg>
    <p:spTree>
      <p:nvGrpSpPr>
        <p:cNvPr id="1" name=""/>
        <p:cNvGrpSpPr/>
        <p:nvPr/>
      </p:nvGrpSpPr>
      <p:grpSpPr>
        <a:xfrm>
          <a:off x="0" y="0"/>
          <a:ext cx="0" cy="0"/>
          <a:chOff x="0" y="0"/>
          <a:chExt cx="0" cy="0"/>
        </a:xfrm>
      </p:grpSpPr>
      <p:sp>
        <p:nvSpPr>
          <p:cNvPr id="19" name="Text 17"/>
          <p:cNvSpPr/>
          <p:nvPr/>
        </p:nvSpPr>
        <p:spPr>
          <a:xfrm>
            <a:off x="822960" y="1965960"/>
            <a:ext cx="9144000" cy="365760"/>
          </a:xfrm>
          <a:prstGeom prst="rect">
            <a:avLst/>
          </a:prstGeom>
          <a:noFill/>
          <a:ln/>
        </p:spPr>
        <p:txBody>
          <a:bodyPr wrap="square" lIns="0" tIns="0" rIns="0" bIns="0" rtlCol="0" anchor="ctr"/>
          <a:lstStyle/>
          <a:p>
            <a:pPr marL="0" indent="0">
              <a:buNone/>
            </a:pPr>
            <a:r>
              <a:rPr lang="en-US" sz="1400" b="1" kern="0" spc="300" dirty="0">
                <a:solidFill>
                  <a:srgbClr val="0EA5B0"/>
                </a:solidFill>
                <a:latin typeface="Calibri" pitchFamily="34" charset="0"/>
                <a:ea typeface="Calibri" pitchFamily="34" charset="-122"/>
                <a:cs typeface="Calibri" pitchFamily="34" charset="-120"/>
              </a:rPr>
              <a:t>EVALUACIÓN DE PROYECTOS DE INVERSIÓN</a:t>
            </a:r>
            <a:endParaRPr lang="en-US" sz="1400" dirty="0"/>
          </a:p>
        </p:txBody>
      </p:sp>
      <p:sp>
        <p:nvSpPr>
          <p:cNvPr id="20" name="Text 18"/>
          <p:cNvSpPr/>
          <p:nvPr/>
        </p:nvSpPr>
        <p:spPr>
          <a:xfrm>
            <a:off x="777240" y="2423160"/>
            <a:ext cx="10241280" cy="11430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QuantumVault S.L.</a:t>
            </a:r>
            <a:endParaRPr lang="en-US" sz="5400" dirty="0"/>
          </a:p>
        </p:txBody>
      </p:sp>
      <p:sp>
        <p:nvSpPr>
          <p:cNvPr id="21" name="Text 19"/>
          <p:cNvSpPr/>
          <p:nvPr/>
        </p:nvSpPr>
        <p:spPr>
          <a:xfrm>
            <a:off x="822960" y="3520440"/>
            <a:ext cx="8961120" cy="640080"/>
          </a:xfrm>
          <a:prstGeom prst="rect">
            <a:avLst/>
          </a:prstGeom>
          <a:noFill/>
          <a:ln/>
        </p:spPr>
        <p:txBody>
          <a:bodyPr wrap="square" lIns="0" tIns="0" rIns="0" bIns="0" rtlCol="0" anchor="ctr"/>
          <a:lstStyle/>
          <a:p>
            <a:pPr marL="0" indent="0">
              <a:lnSpc>
                <a:spcPct val="115000"/>
              </a:lnSpc>
              <a:buNone/>
            </a:pPr>
            <a:r>
              <a:rPr lang="en-US" sz="1700" i="1" dirty="0">
                <a:solidFill>
                  <a:srgbClr val="CFE9EC"/>
                </a:solidFill>
                <a:latin typeface="Calibri" pitchFamily="34" charset="0"/>
                <a:ea typeface="Calibri" pitchFamily="34" charset="-122"/>
                <a:cs typeface="Calibri" pitchFamily="34" charset="-120"/>
              </a:rPr>
              <a:t>Almacenamiento cloud seguro con criptografía post-cuántica y arquitectura zero-knowledge</a:t>
            </a:r>
            <a:endParaRPr lang="en-US" sz="1700" dirty="0"/>
          </a:p>
        </p:txBody>
      </p:sp>
      <p:sp>
        <p:nvSpPr>
          <p:cNvPr id="22" name="Text 20"/>
          <p:cNvSpPr/>
          <p:nvPr/>
        </p:nvSpPr>
        <p:spPr>
          <a:xfrm>
            <a:off x="822960" y="5532120"/>
            <a:ext cx="6400800" cy="1005840"/>
          </a:xfrm>
          <a:prstGeom prst="rect">
            <a:avLst/>
          </a:prstGeom>
          <a:noFill/>
          <a:ln/>
        </p:spPr>
        <p:txBody>
          <a:bodyPr wrap="square" lIns="0" tIns="0" rIns="0" bIns="0" rtlCol="0" anchor="ctr"/>
          <a:lstStyle/>
          <a:p>
            <a:pPr marL="0" indent="0">
              <a:lnSpc>
                <a:spcPct val="135000"/>
              </a:lnSpc>
              <a:buNone/>
            </a:pPr>
            <a:r>
              <a:rPr lang="en-US" sz="1600" b="1" dirty="0">
                <a:solidFill>
                  <a:srgbClr val="FFFFFF"/>
                </a:solidFill>
                <a:latin typeface="Calibri" pitchFamily="34" charset="0"/>
                <a:ea typeface="Calibri" pitchFamily="34" charset="-122"/>
                <a:cs typeface="Calibri" pitchFamily="34" charset="-120"/>
              </a:rPr>
              <a:t>Alejandro Martínez Ronda</a:t>
            </a:r>
            <a:endParaRPr lang="en-US" sz="1600" dirty="0"/>
          </a:p>
          <a:p>
            <a:pPr marL="0" indent="0">
              <a:lnSpc>
                <a:spcPct val="135000"/>
              </a:lnSpc>
              <a:buNone/>
            </a:pPr>
            <a:r>
              <a:rPr lang="en-US" sz="1250" dirty="0">
                <a:solidFill>
                  <a:srgbClr val="CFE9EC"/>
                </a:solidFill>
                <a:latin typeface="Calibri" pitchFamily="34" charset="0"/>
                <a:ea typeface="Calibri" pitchFamily="34" charset="-122"/>
                <a:cs typeface="Calibri" pitchFamily="34" charset="-120"/>
              </a:rPr>
              <a:t>Evaluación de Proyectos de </a:t>
            </a:r>
            <a:r>
              <a:rPr lang="en-US" sz="1250" dirty="0" err="1">
                <a:solidFill>
                  <a:srgbClr val="CFE9EC"/>
                </a:solidFill>
                <a:latin typeface="Calibri" pitchFamily="34" charset="0"/>
                <a:ea typeface="Calibri" pitchFamily="34" charset="-122"/>
                <a:cs typeface="Calibri" pitchFamily="34" charset="-120"/>
              </a:rPr>
              <a:t>Inversión</a:t>
            </a:r>
            <a:r>
              <a:rPr lang="en-US" sz="1250" dirty="0">
                <a:solidFill>
                  <a:srgbClr val="CFE9EC"/>
                </a:solidFill>
                <a:latin typeface="Calibri" pitchFamily="34" charset="0"/>
                <a:ea typeface="Calibri" pitchFamily="34" charset="-122"/>
                <a:cs typeface="Calibri" pitchFamily="34" charset="-120"/>
              </a:rPr>
              <a:t>, UNRC</a:t>
            </a:r>
            <a:endParaRPr lang="en-US" sz="1600" dirty="0"/>
          </a:p>
          <a:p>
            <a:pPr marL="0" indent="0">
              <a:lnSpc>
                <a:spcPct val="135000"/>
              </a:lnSpc>
              <a:buNone/>
            </a:pPr>
            <a:r>
              <a:rPr lang="en-US" sz="1250" dirty="0">
                <a:solidFill>
                  <a:srgbClr val="CFE9EC"/>
                </a:solidFill>
                <a:latin typeface="Calibri" pitchFamily="34" charset="0"/>
                <a:ea typeface="Calibri" pitchFamily="34" charset="-122"/>
                <a:cs typeface="Calibri" pitchFamily="34" charset="-120"/>
              </a:rPr>
              <a:t>Junio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INTRODUCCIÓN DEL PROYECTO</a:t>
            </a:r>
            <a:endParaRPr lang="en-US" sz="1200" dirty="0"/>
          </a:p>
        </p:txBody>
      </p:sp>
      <p:sp>
        <p:nvSpPr>
          <p:cNvPr id="5" name="Text 3"/>
          <p:cNvSpPr/>
          <p:nvPr/>
        </p:nvSpPr>
        <p:spPr>
          <a:xfrm>
            <a:off x="548640" y="896112"/>
            <a:ext cx="11094415" cy="777240"/>
          </a:xfrm>
          <a:prstGeom prst="rect">
            <a:avLst/>
          </a:prstGeom>
          <a:noFill/>
          <a:ln/>
        </p:spPr>
        <p:txBody>
          <a:bodyPr wrap="square" lIns="0" tIns="0" rIns="0" bIns="0" rtlCol="0" anchor="t"/>
          <a:lstStyle/>
          <a:p>
            <a:pPr marL="0" indent="0" algn="l">
              <a:lnSpc>
                <a:spcPct val="102000"/>
              </a:lnSpc>
              <a:buNone/>
            </a:pPr>
            <a:r>
              <a:rPr lang="en-US" sz="2600" b="1" dirty="0">
                <a:solidFill>
                  <a:srgbClr val="0A1A33"/>
                </a:solidFill>
                <a:latin typeface="Cambria" pitchFamily="34" charset="0"/>
                <a:ea typeface="Cambria" pitchFamily="34" charset="-122"/>
                <a:cs typeface="Cambria" pitchFamily="34" charset="-120"/>
              </a:rPr>
              <a:t>Almacenamiento cloud preparado para la era cuántica</a:t>
            </a:r>
            <a:endParaRPr lang="en-US" sz="2600" dirty="0"/>
          </a:p>
        </p:txBody>
      </p:sp>
      <p:sp>
        <p:nvSpPr>
          <p:cNvPr id="6" name="Shape 4"/>
          <p:cNvSpPr/>
          <p:nvPr/>
        </p:nvSpPr>
        <p:spPr>
          <a:xfrm>
            <a:off x="548640" y="1965960"/>
            <a:ext cx="3520440" cy="41605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Shape 5"/>
          <p:cNvSpPr/>
          <p:nvPr/>
        </p:nvSpPr>
        <p:spPr>
          <a:xfrm>
            <a:off x="841248" y="2286000"/>
            <a:ext cx="685800" cy="685800"/>
          </a:xfrm>
          <a:prstGeom prst="ellipse">
            <a:avLst/>
          </a:prstGeom>
          <a:solidFill>
            <a:srgbClr val="0EA5B0"/>
          </a:solidFill>
          <a:ln/>
        </p:spPr>
        <p:txBody>
          <a:bodyPr/>
          <a:lstStyle/>
          <a:p>
            <a:endParaRPr lang="es-ES"/>
          </a:p>
        </p:txBody>
      </p:sp>
      <p:pic>
        <p:nvPicPr>
          <p:cNvPr id="8" name="Image 0" descr="assets/lightbulb.png"/>
          <p:cNvPicPr>
            <a:picLocks noChangeAspect="1"/>
          </p:cNvPicPr>
          <p:nvPr/>
        </p:nvPicPr>
        <p:blipFill>
          <a:blip r:embed="rId3"/>
          <a:stretch>
            <a:fillRect/>
          </a:stretch>
        </p:blipFill>
        <p:spPr>
          <a:xfrm>
            <a:off x="1019556" y="2464308"/>
            <a:ext cx="329184" cy="329184"/>
          </a:xfrm>
          <a:prstGeom prst="rect">
            <a:avLst/>
          </a:prstGeom>
        </p:spPr>
      </p:pic>
      <p:sp>
        <p:nvSpPr>
          <p:cNvPr id="9" name="Text 6"/>
          <p:cNvSpPr/>
          <p:nvPr/>
        </p:nvSpPr>
        <p:spPr>
          <a:xfrm>
            <a:off x="841248" y="3154680"/>
            <a:ext cx="2935224" cy="457200"/>
          </a:xfrm>
          <a:prstGeom prst="rect">
            <a:avLst/>
          </a:prstGeom>
          <a:noFill/>
          <a:ln/>
        </p:spPr>
        <p:txBody>
          <a:bodyPr wrap="square" lIns="0" tIns="0" rIns="0" bIns="0" rtlCol="0" anchor="ctr"/>
          <a:lstStyle/>
          <a:p>
            <a:pPr marL="0" indent="0">
              <a:buNone/>
            </a:pPr>
            <a:r>
              <a:rPr lang="en-US" sz="1650" b="1" dirty="0">
                <a:solidFill>
                  <a:srgbClr val="0A1A33"/>
                </a:solidFill>
                <a:latin typeface="Cambria" pitchFamily="34" charset="0"/>
                <a:ea typeface="Cambria" pitchFamily="34" charset="-122"/>
                <a:cs typeface="Cambria" pitchFamily="34" charset="-120"/>
              </a:rPr>
              <a:t>Idea de negocio</a:t>
            </a:r>
            <a:endParaRPr lang="en-US" sz="1650" dirty="0"/>
          </a:p>
        </p:txBody>
      </p:sp>
      <p:sp>
        <p:nvSpPr>
          <p:cNvPr id="10" name="Text 7"/>
          <p:cNvSpPr/>
          <p:nvPr/>
        </p:nvSpPr>
        <p:spPr>
          <a:xfrm>
            <a:off x="841248" y="3657600"/>
            <a:ext cx="2935224" cy="2240280"/>
          </a:xfrm>
          <a:prstGeom prst="rect">
            <a:avLst/>
          </a:prstGeom>
          <a:noFill/>
          <a:ln/>
        </p:spPr>
        <p:txBody>
          <a:bodyPr wrap="square" lIns="0" tIns="0" rIns="0" bIns="0" rtlCol="0" anchor="ctr"/>
          <a:lstStyle/>
          <a:p>
            <a:pPr marL="0" indent="0">
              <a:lnSpc>
                <a:spcPct val="125000"/>
              </a:lnSpc>
              <a:buNone/>
            </a:pPr>
            <a:r>
              <a:rPr lang="en-US" sz="1250" dirty="0">
                <a:solidFill>
                  <a:srgbClr val="152238"/>
                </a:solidFill>
                <a:latin typeface="Calibri" pitchFamily="34" charset="0"/>
                <a:ea typeface="Calibri" pitchFamily="34" charset="-122"/>
                <a:cs typeface="Calibri" pitchFamily="34" charset="-120"/>
              </a:rPr>
              <a:t>QuantumVault S.L. es una S.L. que presta almacenamiento cloud seguro en modelo SaaS por suscripción, con sede en Madrid y mercado inicial en España.</a:t>
            </a:r>
            <a:endParaRPr lang="en-US" sz="1250" dirty="0"/>
          </a:p>
        </p:txBody>
      </p:sp>
      <p:sp>
        <p:nvSpPr>
          <p:cNvPr id="11" name="Shape 8"/>
          <p:cNvSpPr/>
          <p:nvPr/>
        </p:nvSpPr>
        <p:spPr>
          <a:xfrm>
            <a:off x="4297680" y="1965960"/>
            <a:ext cx="3520440" cy="41605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2" name="Shape 9"/>
          <p:cNvSpPr/>
          <p:nvPr/>
        </p:nvSpPr>
        <p:spPr>
          <a:xfrm>
            <a:off x="4590288" y="2286000"/>
            <a:ext cx="685800" cy="685800"/>
          </a:xfrm>
          <a:prstGeom prst="ellipse">
            <a:avLst/>
          </a:prstGeom>
          <a:solidFill>
            <a:srgbClr val="0EA5B0"/>
          </a:solidFill>
          <a:ln/>
        </p:spPr>
        <p:txBody>
          <a:bodyPr/>
          <a:lstStyle/>
          <a:p>
            <a:endParaRPr lang="es-ES"/>
          </a:p>
        </p:txBody>
      </p:sp>
      <p:pic>
        <p:nvPicPr>
          <p:cNvPr id="13" name="Image 1" descr="assets/warning.png"/>
          <p:cNvPicPr>
            <a:picLocks noChangeAspect="1"/>
          </p:cNvPicPr>
          <p:nvPr/>
        </p:nvPicPr>
        <p:blipFill>
          <a:blip r:embed="rId4"/>
          <a:stretch>
            <a:fillRect/>
          </a:stretch>
        </p:blipFill>
        <p:spPr>
          <a:xfrm>
            <a:off x="4768596" y="2464308"/>
            <a:ext cx="329184" cy="329184"/>
          </a:xfrm>
          <a:prstGeom prst="rect">
            <a:avLst/>
          </a:prstGeom>
        </p:spPr>
      </p:pic>
      <p:sp>
        <p:nvSpPr>
          <p:cNvPr id="14" name="Text 10"/>
          <p:cNvSpPr/>
          <p:nvPr/>
        </p:nvSpPr>
        <p:spPr>
          <a:xfrm>
            <a:off x="4590288" y="3154680"/>
            <a:ext cx="2935224" cy="457200"/>
          </a:xfrm>
          <a:prstGeom prst="rect">
            <a:avLst/>
          </a:prstGeom>
          <a:noFill/>
          <a:ln/>
        </p:spPr>
        <p:txBody>
          <a:bodyPr wrap="square" lIns="0" tIns="0" rIns="0" bIns="0" rtlCol="0" anchor="ctr"/>
          <a:lstStyle/>
          <a:p>
            <a:pPr marL="0" indent="0">
              <a:buNone/>
            </a:pPr>
            <a:r>
              <a:rPr lang="en-US" sz="1650" b="1" dirty="0">
                <a:solidFill>
                  <a:srgbClr val="0A1A33"/>
                </a:solidFill>
                <a:latin typeface="Cambria" pitchFamily="34" charset="0"/>
                <a:ea typeface="Cambria" pitchFamily="34" charset="-122"/>
                <a:cs typeface="Cambria" pitchFamily="34" charset="-120"/>
              </a:rPr>
              <a:t>Problema que resuelve</a:t>
            </a:r>
            <a:endParaRPr lang="en-US" sz="1650" dirty="0"/>
          </a:p>
        </p:txBody>
      </p:sp>
      <p:sp>
        <p:nvSpPr>
          <p:cNvPr id="15" name="Text 11"/>
          <p:cNvSpPr/>
          <p:nvPr/>
        </p:nvSpPr>
        <p:spPr>
          <a:xfrm>
            <a:off x="4590288" y="3657600"/>
            <a:ext cx="2935224" cy="2240280"/>
          </a:xfrm>
          <a:prstGeom prst="rect">
            <a:avLst/>
          </a:prstGeom>
          <a:noFill/>
          <a:ln/>
        </p:spPr>
        <p:txBody>
          <a:bodyPr wrap="square" lIns="0" tIns="0" rIns="0" bIns="0" rtlCol="0" anchor="ctr"/>
          <a:lstStyle/>
          <a:p>
            <a:pPr marL="0" indent="0">
              <a:lnSpc>
                <a:spcPct val="125000"/>
              </a:lnSpc>
              <a:buNone/>
            </a:pPr>
            <a:r>
              <a:rPr lang="en-US" sz="1250" dirty="0">
                <a:solidFill>
                  <a:srgbClr val="152238"/>
                </a:solidFill>
                <a:latin typeface="Calibri" pitchFamily="34" charset="0"/>
                <a:ea typeface="Calibri" pitchFamily="34" charset="-122"/>
                <a:cs typeface="Calibri" pitchFamily="34" charset="-120"/>
              </a:rPr>
              <a:t>Los sistemas cloud clásicos dependen de criptografía vulnerable a futuros ordenadores cuánticos, y parte del mercado exige que ni el propio proveedor acceda a sus datos.</a:t>
            </a:r>
            <a:endParaRPr lang="en-US" sz="1250" dirty="0"/>
          </a:p>
        </p:txBody>
      </p:sp>
      <p:sp>
        <p:nvSpPr>
          <p:cNvPr id="16" name="Shape 12"/>
          <p:cNvSpPr/>
          <p:nvPr/>
        </p:nvSpPr>
        <p:spPr>
          <a:xfrm>
            <a:off x="8046720" y="1965960"/>
            <a:ext cx="3520440" cy="41605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7" name="Shape 13"/>
          <p:cNvSpPr/>
          <p:nvPr/>
        </p:nvSpPr>
        <p:spPr>
          <a:xfrm>
            <a:off x="8339328" y="2286000"/>
            <a:ext cx="685800" cy="685800"/>
          </a:xfrm>
          <a:prstGeom prst="ellipse">
            <a:avLst/>
          </a:prstGeom>
          <a:solidFill>
            <a:srgbClr val="0EA5B0"/>
          </a:solidFill>
          <a:ln/>
        </p:spPr>
        <p:txBody>
          <a:bodyPr/>
          <a:lstStyle/>
          <a:p>
            <a:endParaRPr lang="es-ES"/>
          </a:p>
        </p:txBody>
      </p:sp>
      <p:pic>
        <p:nvPicPr>
          <p:cNvPr id="18" name="Image 2" descr="assets/gem.png"/>
          <p:cNvPicPr>
            <a:picLocks noChangeAspect="1"/>
          </p:cNvPicPr>
          <p:nvPr/>
        </p:nvPicPr>
        <p:blipFill>
          <a:blip r:embed="rId5"/>
          <a:stretch>
            <a:fillRect/>
          </a:stretch>
        </p:blipFill>
        <p:spPr>
          <a:xfrm>
            <a:off x="8517636" y="2464308"/>
            <a:ext cx="329184" cy="329184"/>
          </a:xfrm>
          <a:prstGeom prst="rect">
            <a:avLst/>
          </a:prstGeom>
        </p:spPr>
      </p:pic>
      <p:sp>
        <p:nvSpPr>
          <p:cNvPr id="19" name="Text 14"/>
          <p:cNvSpPr/>
          <p:nvPr/>
        </p:nvSpPr>
        <p:spPr>
          <a:xfrm>
            <a:off x="8339328" y="3154680"/>
            <a:ext cx="2935224" cy="457200"/>
          </a:xfrm>
          <a:prstGeom prst="rect">
            <a:avLst/>
          </a:prstGeom>
          <a:noFill/>
          <a:ln/>
        </p:spPr>
        <p:txBody>
          <a:bodyPr wrap="square" lIns="0" tIns="0" rIns="0" bIns="0" rtlCol="0" anchor="ctr"/>
          <a:lstStyle/>
          <a:p>
            <a:pPr marL="0" indent="0">
              <a:buNone/>
            </a:pPr>
            <a:r>
              <a:rPr lang="en-US" sz="1650" b="1" dirty="0">
                <a:solidFill>
                  <a:srgbClr val="0A1A33"/>
                </a:solidFill>
                <a:latin typeface="Cambria" pitchFamily="34" charset="0"/>
                <a:ea typeface="Cambria" pitchFamily="34" charset="-122"/>
                <a:cs typeface="Cambria" pitchFamily="34" charset="-120"/>
              </a:rPr>
              <a:t>Propuesta de valor</a:t>
            </a:r>
            <a:endParaRPr lang="en-US" sz="1650" dirty="0"/>
          </a:p>
        </p:txBody>
      </p:sp>
      <p:sp>
        <p:nvSpPr>
          <p:cNvPr id="20" name="Text 15"/>
          <p:cNvSpPr/>
          <p:nvPr/>
        </p:nvSpPr>
        <p:spPr>
          <a:xfrm>
            <a:off x="8339328" y="3657600"/>
            <a:ext cx="2935224" cy="2240280"/>
          </a:xfrm>
          <a:prstGeom prst="rect">
            <a:avLst/>
          </a:prstGeom>
          <a:noFill/>
          <a:ln/>
        </p:spPr>
        <p:txBody>
          <a:bodyPr wrap="square" lIns="0" tIns="0" rIns="0" bIns="0" rtlCol="0" anchor="ctr"/>
          <a:lstStyle/>
          <a:p>
            <a:pPr marL="0" indent="0">
              <a:lnSpc>
                <a:spcPct val="125000"/>
              </a:lnSpc>
              <a:buNone/>
            </a:pPr>
            <a:r>
              <a:rPr lang="en-US" sz="1250" dirty="0">
                <a:solidFill>
                  <a:srgbClr val="152238"/>
                </a:solidFill>
                <a:latin typeface="Calibri" pitchFamily="34" charset="0"/>
                <a:ea typeface="Calibri" pitchFamily="34" charset="-122"/>
                <a:cs typeface="Calibri" pitchFamily="34" charset="-120"/>
              </a:rPr>
              <a:t>Cifrado extremo a extremo, arquitectura zero-knowledge y criptografía post-cuántica ML-KEM (NIST FIPS 203), con infraestructura europea y cumplimiento RGPD.</a:t>
            </a:r>
            <a:endParaRPr lang="en-US" sz="1250" dirty="0"/>
          </a:p>
        </p:txBody>
      </p:sp>
      <p:sp>
        <p:nvSpPr>
          <p:cNvPr id="21" name="Text 16"/>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2" name="Text 17"/>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 / 15</a:t>
            </a:r>
            <a:endParaRPr lang="en-US" sz="900" dirty="0"/>
          </a:p>
        </p:txBody>
      </p:sp>
      <p:sp>
        <p:nvSpPr>
          <p:cNvPr id="25" name="Eurostat">
            <a:extLst>
              <a:ext uri="{FF2B5EF4-FFF2-40B4-BE49-F238E27FC236}">
                <a16:creationId xmlns:a16="http://schemas.microsoft.com/office/drawing/2014/main" id="{1EF88395-B67D-BB85-F497-E850CF4A03E3}"/>
              </a:ext>
            </a:extLst>
          </p:cNvPr>
          <p:cNvSpPr/>
          <p:nvPr/>
        </p:nvSpPr>
        <p:spPr>
          <a:xfrm>
            <a:off x="548640" y="1374792"/>
            <a:ext cx="11094720" cy="420000"/>
          </a:xfrm>
          <a:prstGeom prst="rect">
            <a:avLst/>
          </a:prstGeom>
          <a:noFill/>
          <a:ln/>
        </p:spPr>
        <p:txBody>
          <a:bodyPr wrap="square" lIns="0" tIns="0" rIns="0" bIns="0" rtlCol="0" anchor="t"/>
          <a:lstStyle/>
          <a:p>
            <a:pPr>
              <a:lnSpc>
                <a:spcPct val="104000"/>
              </a:lnSpc>
            </a:pPr>
            <a:r>
              <a:rPr lang="es-ES" sz="1100" dirty="0">
                <a:solidFill>
                  <a:srgbClr val="64748B"/>
                </a:solidFill>
                <a:latin typeface="Calibri" pitchFamily="34" charset="0"/>
              </a:rPr>
              <a:t>Horizonte 5 años · VAN, TIR, VAE, sensibilidad y Montecarlo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ESTUDIO DE MERCADO</a:t>
            </a:r>
            <a:endParaRPr lang="en-US" sz="1200" dirty="0"/>
          </a:p>
        </p:txBody>
      </p:sp>
      <p:sp>
        <p:nvSpPr>
          <p:cNvPr id="5" name="Text 3"/>
          <p:cNvSpPr/>
          <p:nvPr/>
        </p:nvSpPr>
        <p:spPr>
          <a:xfrm>
            <a:off x="548640" y="896112"/>
            <a:ext cx="11064240" cy="868680"/>
          </a:xfrm>
          <a:prstGeom prst="rect">
            <a:avLst/>
          </a:prstGeom>
          <a:noFill/>
          <a:ln/>
        </p:spPr>
        <p:txBody>
          <a:bodyPr wrap="square" lIns="0" tIns="0" rIns="0" bIns="0" rtlCol="0" anchor="t"/>
          <a:lstStyle/>
          <a:p>
            <a:pPr>
              <a:lnSpc>
                <a:spcPct val="102000"/>
              </a:lnSpc>
            </a:pPr>
            <a:r>
              <a:rPr lang="en-US" sz="2300" b="1" dirty="0">
                <a:solidFill>
                  <a:srgbClr val="0A1A33"/>
                </a:solidFill>
                <a:latin typeface="Cambria" pitchFamily="34" charset="0"/>
                <a:ea typeface="Cambria" pitchFamily="34" charset="-122"/>
                <a:cs typeface="Cambria" pitchFamily="34" charset="-120"/>
              </a:rPr>
              <a:t>Nicho B2B de alta seguridad, con </a:t>
            </a:r>
            <a:r>
              <a:rPr lang="en-US" sz="2300" b="1" dirty="0" err="1">
                <a:solidFill>
                  <a:srgbClr val="0A1A33"/>
                </a:solidFill>
                <a:latin typeface="Cambria" pitchFamily="34" charset="0"/>
                <a:ea typeface="Cambria" pitchFamily="34" charset="-122"/>
                <a:cs typeface="Cambria" pitchFamily="34" charset="-120"/>
              </a:rPr>
              <a:t>oportunidad</a:t>
            </a:r>
            <a:r>
              <a:rPr lang="en-US" sz="2300" b="1" dirty="0">
                <a:solidFill>
                  <a:srgbClr val="0A1A33"/>
                </a:solidFill>
                <a:latin typeface="Cambria" pitchFamily="34" charset="0"/>
                <a:ea typeface="Cambria" pitchFamily="34" charset="-122"/>
                <a:cs typeface="Cambria" pitchFamily="34" charset="-120"/>
              </a:rPr>
              <a:t> real de mercado</a:t>
            </a:r>
            <a:endParaRPr lang="en-US" sz="2300" dirty="0"/>
          </a:p>
        </p:txBody>
      </p:sp>
      <p:sp>
        <p:nvSpPr>
          <p:cNvPr id="40" name="Eurostat"/>
          <p:cNvSpPr/>
          <p:nvPr/>
        </p:nvSpPr>
        <p:spPr>
          <a:xfrm>
            <a:off x="548640" y="1374792"/>
            <a:ext cx="11094720" cy="420000"/>
          </a:xfrm>
          <a:prstGeom prst="rect">
            <a:avLst/>
          </a:prstGeom>
          <a:noFill/>
          <a:ln/>
        </p:spPr>
        <p:txBody>
          <a:bodyPr wrap="square" lIns="0" tIns="0" rIns="0" bIns="0" rtlCol="0" anchor="t"/>
          <a:lstStyle/>
          <a:p>
            <a:pPr marL="0" indent="0" algn="l">
              <a:lnSpc>
                <a:spcPct val="104000"/>
              </a:lnSpc>
              <a:buNone/>
            </a:pPr>
            <a:r>
              <a:rPr lang="es-ES" sz="1100" b="1" dirty="0">
                <a:solidFill>
                  <a:srgbClr val="0EA5B0"/>
                </a:solidFill>
                <a:latin typeface="Calibri" pitchFamily="34" charset="0"/>
              </a:rPr>
              <a:t>Eurostat (2025): </a:t>
            </a:r>
            <a:r>
              <a:rPr lang="es-ES" sz="1100" dirty="0">
                <a:solidFill>
                  <a:srgbClr val="64748B"/>
                </a:solidFill>
                <a:latin typeface="Calibri" pitchFamily="34" charset="0"/>
              </a:rPr>
              <a:t>el 52,74 % de las empresas de la UE ya utilizaban servicios cloud de pago — la demanda de almacenamiento seguro es una necesidad empresarial real, no un nicho teórico.</a:t>
            </a:r>
            <a:endParaRPr lang="es-ES" sz="1100" dirty="0"/>
          </a:p>
        </p:txBody>
      </p:sp>
      <p:sp>
        <p:nvSpPr>
          <p:cNvPr id="6" name="Shape 4"/>
          <p:cNvSpPr/>
          <p:nvPr/>
        </p:nvSpPr>
        <p:spPr>
          <a:xfrm>
            <a:off x="548640" y="1874520"/>
            <a:ext cx="3520440" cy="1783080"/>
          </a:xfrm>
          <a:prstGeom prst="roundRect">
            <a:avLst>
              <a:gd name="adj" fmla="val 461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Shape 5"/>
          <p:cNvSpPr/>
          <p:nvPr/>
        </p:nvSpPr>
        <p:spPr>
          <a:xfrm>
            <a:off x="804672" y="2130552"/>
            <a:ext cx="548640" cy="548640"/>
          </a:xfrm>
          <a:prstGeom prst="ellipse">
            <a:avLst/>
          </a:prstGeom>
          <a:solidFill>
            <a:srgbClr val="0EA5B0"/>
          </a:solidFill>
          <a:ln/>
        </p:spPr>
        <p:txBody>
          <a:bodyPr/>
          <a:lstStyle/>
          <a:p>
            <a:endParaRPr lang="es-ES"/>
          </a:p>
        </p:txBody>
      </p:sp>
      <p:pic>
        <p:nvPicPr>
          <p:cNvPr id="8" name="Image 0" descr="assets/building.png"/>
          <p:cNvPicPr>
            <a:picLocks noChangeAspect="1"/>
          </p:cNvPicPr>
          <p:nvPr/>
        </p:nvPicPr>
        <p:blipFill>
          <a:blip r:embed="rId3"/>
          <a:stretch>
            <a:fillRect/>
          </a:stretch>
        </p:blipFill>
        <p:spPr>
          <a:xfrm>
            <a:off x="947318" y="2273198"/>
            <a:ext cx="263347" cy="263347"/>
          </a:xfrm>
          <a:prstGeom prst="rect">
            <a:avLst/>
          </a:prstGeom>
        </p:spPr>
      </p:pic>
      <p:sp>
        <p:nvSpPr>
          <p:cNvPr id="9" name="Text 6"/>
          <p:cNvSpPr/>
          <p:nvPr/>
        </p:nvSpPr>
        <p:spPr>
          <a:xfrm>
            <a:off x="1508760" y="2130552"/>
            <a:ext cx="2331720" cy="457200"/>
          </a:xfrm>
          <a:prstGeom prst="rect">
            <a:avLst/>
          </a:prstGeom>
          <a:noFill/>
          <a:ln/>
        </p:spPr>
        <p:txBody>
          <a:bodyPr wrap="square" lIns="0" tIns="0" rIns="0" bIns="0" rtlCol="0" anchor="ctr"/>
          <a:lstStyle/>
          <a:p>
            <a:pPr marL="0" indent="0">
              <a:buNone/>
            </a:pPr>
            <a:r>
              <a:rPr lang="en-US" sz="1400" b="1" dirty="0">
                <a:solidFill>
                  <a:srgbClr val="0A1A33"/>
                </a:solidFill>
                <a:latin typeface="Cambria" pitchFamily="34" charset="0"/>
                <a:ea typeface="Cambria" pitchFamily="34" charset="-122"/>
                <a:cs typeface="Cambria" pitchFamily="34" charset="-120"/>
              </a:rPr>
              <a:t>Clientes objetivo</a:t>
            </a:r>
            <a:endParaRPr lang="en-US" sz="1400" dirty="0"/>
          </a:p>
        </p:txBody>
      </p:sp>
      <p:sp>
        <p:nvSpPr>
          <p:cNvPr id="10" name="Text 7"/>
          <p:cNvSpPr/>
          <p:nvPr/>
        </p:nvSpPr>
        <p:spPr>
          <a:xfrm>
            <a:off x="804672" y="2743200"/>
            <a:ext cx="3008376" cy="777240"/>
          </a:xfrm>
          <a:prstGeom prst="rect">
            <a:avLst/>
          </a:prstGeom>
          <a:noFill/>
          <a:ln/>
        </p:spPr>
        <p:txBody>
          <a:bodyPr wrap="square" lIns="0" tIns="0" rIns="0" bIns="0" rtlCol="0" anchor="ctr"/>
          <a:lstStyle/>
          <a:p>
            <a:pPr marL="0" indent="0">
              <a:lnSpc>
                <a:spcPct val="118000"/>
              </a:lnSpc>
              <a:buNone/>
            </a:pPr>
            <a:r>
              <a:rPr lang="en-US" sz="1080" dirty="0">
                <a:solidFill>
                  <a:srgbClr val="152238"/>
                </a:solidFill>
                <a:latin typeface="Calibri" pitchFamily="34" charset="0"/>
                <a:ea typeface="Calibri" pitchFamily="34" charset="-122"/>
                <a:cs typeface="Calibri" pitchFamily="34" charset="-120"/>
              </a:rPr>
              <a:t>B2B principal: despachos jurídicos, consultoras, tecnológicas, universidades, AAPP y pymes con datos sensibles. B2C secundario: usuarios preocupados por la privacidad.</a:t>
            </a:r>
            <a:endParaRPr lang="en-US" sz="1080" dirty="0"/>
          </a:p>
        </p:txBody>
      </p:sp>
      <p:sp>
        <p:nvSpPr>
          <p:cNvPr id="11" name="Shape 8"/>
          <p:cNvSpPr/>
          <p:nvPr/>
        </p:nvSpPr>
        <p:spPr>
          <a:xfrm>
            <a:off x="4297680" y="1874520"/>
            <a:ext cx="3520440" cy="1783080"/>
          </a:xfrm>
          <a:prstGeom prst="roundRect">
            <a:avLst>
              <a:gd name="adj" fmla="val 461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2" name="Shape 9"/>
          <p:cNvSpPr/>
          <p:nvPr/>
        </p:nvSpPr>
        <p:spPr>
          <a:xfrm>
            <a:off x="4553712" y="2130552"/>
            <a:ext cx="548640" cy="548640"/>
          </a:xfrm>
          <a:prstGeom prst="ellipse">
            <a:avLst/>
          </a:prstGeom>
          <a:solidFill>
            <a:srgbClr val="0EA5B0"/>
          </a:solidFill>
          <a:ln/>
        </p:spPr>
        <p:txBody>
          <a:bodyPr/>
          <a:lstStyle/>
          <a:p>
            <a:endParaRPr lang="es-ES"/>
          </a:p>
        </p:txBody>
      </p:sp>
      <p:pic>
        <p:nvPicPr>
          <p:cNvPr id="13" name="Image 1" descr="assets/tag.png"/>
          <p:cNvPicPr>
            <a:picLocks noChangeAspect="1"/>
          </p:cNvPicPr>
          <p:nvPr/>
        </p:nvPicPr>
        <p:blipFill>
          <a:blip r:embed="rId4"/>
          <a:stretch>
            <a:fillRect/>
          </a:stretch>
        </p:blipFill>
        <p:spPr>
          <a:xfrm>
            <a:off x="4696358" y="2273198"/>
            <a:ext cx="263347" cy="263347"/>
          </a:xfrm>
          <a:prstGeom prst="rect">
            <a:avLst/>
          </a:prstGeom>
        </p:spPr>
      </p:pic>
      <p:sp>
        <p:nvSpPr>
          <p:cNvPr id="14" name="Text 10"/>
          <p:cNvSpPr/>
          <p:nvPr/>
        </p:nvSpPr>
        <p:spPr>
          <a:xfrm>
            <a:off x="5257800" y="2130552"/>
            <a:ext cx="2331720" cy="457200"/>
          </a:xfrm>
          <a:prstGeom prst="rect">
            <a:avLst/>
          </a:prstGeom>
          <a:noFill/>
          <a:ln/>
        </p:spPr>
        <p:txBody>
          <a:bodyPr wrap="square" lIns="0" tIns="0" rIns="0" bIns="0" rtlCol="0" anchor="ctr"/>
          <a:lstStyle/>
          <a:p>
            <a:pPr marL="0" indent="0">
              <a:buNone/>
            </a:pPr>
            <a:r>
              <a:rPr lang="en-US" sz="1400" b="1" dirty="0">
                <a:solidFill>
                  <a:srgbClr val="0A1A33"/>
                </a:solidFill>
                <a:latin typeface="Cambria" pitchFamily="34" charset="0"/>
                <a:ea typeface="Cambria" pitchFamily="34" charset="-122"/>
                <a:cs typeface="Cambria" pitchFamily="34" charset="-120"/>
              </a:rPr>
              <a:t>Precio</a:t>
            </a:r>
            <a:endParaRPr lang="en-US" sz="1400" dirty="0"/>
          </a:p>
        </p:txBody>
      </p:sp>
      <p:sp>
        <p:nvSpPr>
          <p:cNvPr id="15" name="Text 11"/>
          <p:cNvSpPr/>
          <p:nvPr/>
        </p:nvSpPr>
        <p:spPr>
          <a:xfrm>
            <a:off x="4553712" y="2743200"/>
            <a:ext cx="3008376" cy="777240"/>
          </a:xfrm>
          <a:prstGeom prst="rect">
            <a:avLst/>
          </a:prstGeom>
          <a:noFill/>
          <a:ln/>
        </p:spPr>
        <p:txBody>
          <a:bodyPr wrap="square" lIns="0" tIns="0" rIns="0" bIns="0" rtlCol="0" anchor="ctr"/>
          <a:lstStyle/>
          <a:p>
            <a:pPr marL="0" indent="0">
              <a:lnSpc>
                <a:spcPct val="118000"/>
              </a:lnSpc>
              <a:buNone/>
            </a:pPr>
            <a:r>
              <a:rPr lang="en-US" sz="1080" dirty="0">
                <a:solidFill>
                  <a:srgbClr val="152238"/>
                </a:solidFill>
                <a:latin typeface="Calibri" pitchFamily="34" charset="0"/>
                <a:ea typeface="Calibri" pitchFamily="34" charset="-122"/>
                <a:cs typeface="Calibri" pitchFamily="34" charset="-120"/>
              </a:rPr>
              <a:t>150 €/mes por empresa (5 usuarios, 1 TB) — equivalente a 30 €/usuario/mes. Ingresos anuales = Clientes × Precio mensual × 12.</a:t>
            </a:r>
            <a:endParaRPr lang="en-US" sz="1080" dirty="0"/>
          </a:p>
        </p:txBody>
      </p:sp>
      <p:sp>
        <p:nvSpPr>
          <p:cNvPr id="16" name="Shape 12"/>
          <p:cNvSpPr/>
          <p:nvPr/>
        </p:nvSpPr>
        <p:spPr>
          <a:xfrm>
            <a:off x="8046720" y="1874520"/>
            <a:ext cx="3520440" cy="1783080"/>
          </a:xfrm>
          <a:prstGeom prst="roundRect">
            <a:avLst>
              <a:gd name="adj" fmla="val 461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7" name="Shape 13"/>
          <p:cNvSpPr/>
          <p:nvPr/>
        </p:nvSpPr>
        <p:spPr>
          <a:xfrm>
            <a:off x="8302752" y="2130552"/>
            <a:ext cx="548640" cy="548640"/>
          </a:xfrm>
          <a:prstGeom prst="ellipse">
            <a:avLst/>
          </a:prstGeom>
          <a:solidFill>
            <a:srgbClr val="0EA5B0"/>
          </a:solidFill>
          <a:ln/>
        </p:spPr>
        <p:txBody>
          <a:bodyPr/>
          <a:lstStyle/>
          <a:p>
            <a:endParaRPr lang="es-ES"/>
          </a:p>
        </p:txBody>
      </p:sp>
      <p:pic>
        <p:nvPicPr>
          <p:cNvPr id="18" name="Image 2" descr="assets/balance.png"/>
          <p:cNvPicPr>
            <a:picLocks noChangeAspect="1"/>
          </p:cNvPicPr>
          <p:nvPr/>
        </p:nvPicPr>
        <p:blipFill>
          <a:blip r:embed="rId5"/>
          <a:stretch>
            <a:fillRect/>
          </a:stretch>
        </p:blipFill>
        <p:spPr>
          <a:xfrm>
            <a:off x="8445398" y="2273198"/>
            <a:ext cx="263347" cy="263347"/>
          </a:xfrm>
          <a:prstGeom prst="rect">
            <a:avLst/>
          </a:prstGeom>
        </p:spPr>
      </p:pic>
      <p:sp>
        <p:nvSpPr>
          <p:cNvPr id="19" name="Text 14"/>
          <p:cNvSpPr/>
          <p:nvPr/>
        </p:nvSpPr>
        <p:spPr>
          <a:xfrm>
            <a:off x="9006840" y="2130552"/>
            <a:ext cx="2331720" cy="457200"/>
          </a:xfrm>
          <a:prstGeom prst="rect">
            <a:avLst/>
          </a:prstGeom>
          <a:noFill/>
          <a:ln/>
        </p:spPr>
        <p:txBody>
          <a:bodyPr wrap="square" lIns="0" tIns="0" rIns="0" bIns="0" rtlCol="0" anchor="ctr"/>
          <a:lstStyle/>
          <a:p>
            <a:pPr marL="0" indent="0">
              <a:buNone/>
            </a:pPr>
            <a:r>
              <a:rPr lang="en-US" sz="1400" b="1" dirty="0">
                <a:solidFill>
                  <a:srgbClr val="0A1A33"/>
                </a:solidFill>
                <a:latin typeface="Cambria" pitchFamily="34" charset="0"/>
                <a:ea typeface="Cambria" pitchFamily="34" charset="-122"/>
                <a:cs typeface="Cambria" pitchFamily="34" charset="-120"/>
              </a:rPr>
              <a:t>Competencia y posicionamiento</a:t>
            </a:r>
            <a:endParaRPr lang="en-US" sz="1400" dirty="0"/>
          </a:p>
        </p:txBody>
      </p:sp>
      <p:sp>
        <p:nvSpPr>
          <p:cNvPr id="20" name="Text 15"/>
          <p:cNvSpPr/>
          <p:nvPr/>
        </p:nvSpPr>
        <p:spPr>
          <a:xfrm>
            <a:off x="8302752" y="2743200"/>
            <a:ext cx="3008376" cy="777240"/>
          </a:xfrm>
          <a:prstGeom prst="rect">
            <a:avLst/>
          </a:prstGeom>
          <a:noFill/>
          <a:ln/>
        </p:spPr>
        <p:txBody>
          <a:bodyPr wrap="square" lIns="0" tIns="0" rIns="0" bIns="0" rtlCol="0" anchor="ctr"/>
          <a:lstStyle/>
          <a:p>
            <a:pPr marL="0" indent="0">
              <a:lnSpc>
                <a:spcPct val="118000"/>
              </a:lnSpc>
              <a:buNone/>
            </a:pPr>
            <a:r>
              <a:rPr lang="en-US" sz="1080" dirty="0">
                <a:solidFill>
                  <a:srgbClr val="152238"/>
                </a:solidFill>
                <a:latin typeface="Calibri" pitchFamily="34" charset="0"/>
                <a:ea typeface="Calibri" pitchFamily="34" charset="-122"/>
                <a:cs typeface="Calibri" pitchFamily="34" charset="-120"/>
              </a:rPr>
              <a:t>El informe no identifica competidores concretos; posiciona la propuesta frente a servicios cloud generalistas, vía cifrado E2E, zero-knowledge y enfoque post-cuántico.</a:t>
            </a:r>
            <a:endParaRPr lang="en-US" sz="1080" dirty="0"/>
          </a:p>
        </p:txBody>
      </p:sp>
      <p:sp>
        <p:nvSpPr>
          <p:cNvPr id="21" name="Shape 16"/>
          <p:cNvSpPr/>
          <p:nvPr/>
        </p:nvSpPr>
        <p:spPr>
          <a:xfrm>
            <a:off x="548640" y="3886200"/>
            <a:ext cx="5364328" cy="2423160"/>
          </a:xfrm>
          <a:prstGeom prst="roundRect">
            <a:avLst>
              <a:gd name="adj" fmla="val 339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22" name="Text 17"/>
          <p:cNvSpPr/>
          <p:nvPr/>
        </p:nvSpPr>
        <p:spPr>
          <a:xfrm>
            <a:off x="777240" y="4023360"/>
            <a:ext cx="4907128" cy="32004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Evolución de clientes (años 1–5)</a:t>
            </a:r>
            <a:endParaRPr lang="en-US" sz="1100" dirty="0"/>
          </a:p>
        </p:txBody>
      </p:sp>
      <p:graphicFrame>
        <p:nvGraphicFramePr>
          <p:cNvPr id="23" name="Chart 0"/>
          <p:cNvGraphicFramePr/>
          <p:nvPr/>
        </p:nvGraphicFramePr>
        <p:xfrm>
          <a:off x="731520" y="4389120"/>
          <a:ext cx="4998568" cy="1691640"/>
        </p:xfrm>
        <a:graphic>
          <a:graphicData uri="http://schemas.openxmlformats.org/drawingml/2006/chart">
            <c:chart xmlns:c="http://schemas.openxmlformats.org/drawingml/2006/chart" xmlns:r="http://schemas.openxmlformats.org/officeDocument/2006/relationships" r:id="rId6"/>
          </a:graphicData>
        </a:graphic>
      </p:graphicFrame>
      <p:sp>
        <p:nvSpPr>
          <p:cNvPr id="24" name="Shape 18"/>
          <p:cNvSpPr/>
          <p:nvPr/>
        </p:nvSpPr>
        <p:spPr>
          <a:xfrm>
            <a:off x="6278728" y="3886200"/>
            <a:ext cx="5364328" cy="2423160"/>
          </a:xfrm>
          <a:prstGeom prst="roundRect">
            <a:avLst>
              <a:gd name="adj" fmla="val 339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25" name="Text 19"/>
          <p:cNvSpPr/>
          <p:nvPr/>
        </p:nvSpPr>
        <p:spPr>
          <a:xfrm>
            <a:off x="6507328" y="4023360"/>
            <a:ext cx="4907128" cy="32004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Ingresos anuales proyectados (años 1–5)</a:t>
            </a:r>
            <a:endParaRPr lang="en-US" sz="1100" dirty="0"/>
          </a:p>
        </p:txBody>
      </p:sp>
      <p:graphicFrame>
        <p:nvGraphicFramePr>
          <p:cNvPr id="26" name="Chart 1"/>
          <p:cNvGraphicFramePr/>
          <p:nvPr/>
        </p:nvGraphicFramePr>
        <p:xfrm>
          <a:off x="6461608" y="4389120"/>
          <a:ext cx="4998568" cy="1691640"/>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 20"/>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8" name="Text 21"/>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 / 15</a:t>
            </a:r>
            <a:endParaRPr lang="en-US" sz="900" dirty="0"/>
          </a:p>
        </p:txBody>
      </p:sp>
      <p:sp>
        <p:nvSpPr>
          <p:cNvPr id="41" name="OrigenClientes"/>
          <p:cNvSpPr/>
          <p:nvPr/>
        </p:nvSpPr>
        <p:spPr>
          <a:xfrm>
            <a:off x="731520" y="6018480"/>
            <a:ext cx="4998568" cy="216000"/>
          </a:xfrm>
          <a:prstGeom prst="rect">
            <a:avLst/>
          </a:prstGeom>
          <a:noFill/>
          <a:ln/>
        </p:spPr>
        <p:txBody>
          <a:bodyPr wrap="square" lIns="0" tIns="0" rIns="0" bIns="0" rtlCol="0" anchor="t"/>
          <a:lstStyle/>
          <a:p>
            <a:pPr marL="0" indent="0" algn="l">
              <a:lnSpc>
                <a:spcPct val="96000"/>
              </a:lnSpc>
              <a:buNone/>
            </a:pPr>
            <a:r>
              <a:rPr lang="es-ES" sz="760" b="1" dirty="0">
                <a:solidFill>
                  <a:srgbClr val="0EA5B0"/>
                </a:solidFill>
                <a:latin typeface="Calibri" pitchFamily="34" charset="0"/>
              </a:rPr>
              <a:t>Origen: </a:t>
            </a:r>
            <a:r>
              <a:rPr lang="es-ES" sz="760" dirty="0">
                <a:solidFill>
                  <a:srgbClr val="64748B"/>
                </a:solidFill>
                <a:latin typeface="Calibri" pitchFamily="34" charset="0"/>
              </a:rPr>
              <a:t>20 clientes = 0,2 % de 10.000 organizaciones. Cuota de entrada deliberadamente prudente: nuevo entrante sin historial ni cartera consolidada.</a:t>
            </a:r>
            <a:endParaRPr lang="es-ES" sz="7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ESTUDIO TÉCNICO</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300" b="1" dirty="0">
                <a:solidFill>
                  <a:srgbClr val="0A1A33"/>
                </a:solidFill>
                <a:latin typeface="Cambria" pitchFamily="34" charset="0"/>
                <a:ea typeface="Cambria" pitchFamily="34" charset="-122"/>
                <a:cs typeface="Cambria" pitchFamily="34" charset="-120"/>
              </a:rPr>
              <a:t>Arquitectura cloud escalable, con </a:t>
            </a:r>
            <a:r>
              <a:rPr lang="en-US" sz="2300" b="1" dirty="0" err="1">
                <a:solidFill>
                  <a:srgbClr val="0A1A33"/>
                </a:solidFill>
                <a:latin typeface="Cambria" pitchFamily="34" charset="0"/>
                <a:ea typeface="Cambria" pitchFamily="34" charset="-122"/>
                <a:cs typeface="Cambria" pitchFamily="34" charset="-120"/>
              </a:rPr>
              <a:t>sede</a:t>
            </a:r>
            <a:r>
              <a:rPr lang="en-US" sz="2300" b="1" dirty="0">
                <a:solidFill>
                  <a:srgbClr val="0A1A33"/>
                </a:solidFill>
                <a:latin typeface="Cambria" pitchFamily="34" charset="0"/>
                <a:ea typeface="Cambria" pitchFamily="34" charset="-122"/>
                <a:cs typeface="Cambria" pitchFamily="34" charset="-120"/>
              </a:rPr>
              <a:t> en Madrid y </a:t>
            </a:r>
            <a:r>
              <a:rPr lang="en-US" sz="2300" b="1" dirty="0" err="1">
                <a:solidFill>
                  <a:srgbClr val="0A1A33"/>
                </a:solidFill>
                <a:latin typeface="Cambria" pitchFamily="34" charset="0"/>
                <a:ea typeface="Cambria" pitchFamily="34" charset="-122"/>
                <a:cs typeface="Cambria" pitchFamily="34" charset="-120"/>
              </a:rPr>
              <a:t>datos</a:t>
            </a:r>
            <a:r>
              <a:rPr lang="en-US" sz="2300" b="1" dirty="0">
                <a:solidFill>
                  <a:srgbClr val="0A1A33"/>
                </a:solidFill>
                <a:latin typeface="Cambria" pitchFamily="34" charset="0"/>
                <a:ea typeface="Cambria" pitchFamily="34" charset="-122"/>
                <a:cs typeface="Cambria" pitchFamily="34" charset="-120"/>
              </a:rPr>
              <a:t> </a:t>
            </a:r>
            <a:r>
              <a:rPr lang="en-US" sz="2300" b="1" dirty="0" err="1">
                <a:solidFill>
                  <a:srgbClr val="0A1A33"/>
                </a:solidFill>
                <a:latin typeface="Cambria" pitchFamily="34" charset="0"/>
                <a:ea typeface="Cambria" pitchFamily="34" charset="-122"/>
                <a:cs typeface="Cambria" pitchFamily="34" charset="-120"/>
              </a:rPr>
              <a:t>alojados</a:t>
            </a:r>
            <a:r>
              <a:rPr lang="en-US" sz="2300" b="1" dirty="0">
                <a:solidFill>
                  <a:srgbClr val="0A1A33"/>
                </a:solidFill>
                <a:latin typeface="Cambria" pitchFamily="34" charset="0"/>
                <a:ea typeface="Cambria" pitchFamily="34" charset="-122"/>
                <a:cs typeface="Cambria" pitchFamily="34" charset="-120"/>
              </a:rPr>
              <a:t> </a:t>
            </a:r>
            <a:r>
              <a:rPr lang="en-US" sz="2300" b="1" dirty="0" err="1">
                <a:solidFill>
                  <a:srgbClr val="0A1A33"/>
                </a:solidFill>
                <a:latin typeface="Cambria" pitchFamily="34" charset="0"/>
                <a:ea typeface="Cambria" pitchFamily="34" charset="-122"/>
                <a:cs typeface="Cambria" pitchFamily="34" charset="-120"/>
              </a:rPr>
              <a:t>en</a:t>
            </a:r>
            <a:r>
              <a:rPr lang="en-US" sz="2300" b="1" dirty="0">
                <a:solidFill>
                  <a:srgbClr val="0A1A33"/>
                </a:solidFill>
                <a:latin typeface="Cambria" pitchFamily="34" charset="0"/>
                <a:ea typeface="Cambria" pitchFamily="34" charset="-122"/>
                <a:cs typeface="Cambria" pitchFamily="34" charset="-120"/>
              </a:rPr>
              <a:t> la UE</a:t>
            </a:r>
            <a:endParaRPr lang="en-US" sz="2300" dirty="0"/>
          </a:p>
        </p:txBody>
      </p:sp>
      <p:sp>
        <p:nvSpPr>
          <p:cNvPr id="6" name="Shape 4"/>
          <p:cNvSpPr/>
          <p:nvPr/>
        </p:nvSpPr>
        <p:spPr>
          <a:xfrm>
            <a:off x="548640" y="1828800"/>
            <a:ext cx="5349240" cy="1965960"/>
          </a:xfrm>
          <a:prstGeom prst="roundRect">
            <a:avLst>
              <a:gd name="adj" fmla="val 418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Shape 5"/>
          <p:cNvSpPr/>
          <p:nvPr/>
        </p:nvSpPr>
        <p:spPr>
          <a:xfrm>
            <a:off x="822960" y="2103120"/>
            <a:ext cx="640080" cy="640080"/>
          </a:xfrm>
          <a:prstGeom prst="ellipse">
            <a:avLst/>
          </a:prstGeom>
          <a:solidFill>
            <a:srgbClr val="0EA5B0"/>
          </a:solidFill>
          <a:ln/>
        </p:spPr>
        <p:txBody>
          <a:bodyPr/>
          <a:lstStyle/>
          <a:p>
            <a:endParaRPr lang="es-ES"/>
          </a:p>
        </p:txBody>
      </p:sp>
      <p:pic>
        <p:nvPicPr>
          <p:cNvPr id="8" name="Image 0" descr="assets/cloud.png"/>
          <p:cNvPicPr>
            <a:picLocks noChangeAspect="1"/>
          </p:cNvPicPr>
          <p:nvPr/>
        </p:nvPicPr>
        <p:blipFill>
          <a:blip r:embed="rId3"/>
          <a:stretch>
            <a:fillRect/>
          </a:stretch>
        </p:blipFill>
        <p:spPr>
          <a:xfrm>
            <a:off x="989381" y="2269541"/>
            <a:ext cx="307238" cy="307238"/>
          </a:xfrm>
          <a:prstGeom prst="rect">
            <a:avLst/>
          </a:prstGeom>
        </p:spPr>
      </p:pic>
      <p:sp>
        <p:nvSpPr>
          <p:cNvPr id="9" name="Text 6"/>
          <p:cNvSpPr/>
          <p:nvPr/>
        </p:nvSpPr>
        <p:spPr>
          <a:xfrm>
            <a:off x="1645920" y="2103120"/>
            <a:ext cx="3977640" cy="548640"/>
          </a:xfrm>
          <a:prstGeom prst="rect">
            <a:avLst/>
          </a:prstGeom>
          <a:noFill/>
          <a:ln/>
        </p:spPr>
        <p:txBody>
          <a:bodyPr wrap="square" lIns="0" tIns="0" rIns="0" bIns="0" rtlCol="0" anchor="ctr"/>
          <a:lstStyle/>
          <a:p>
            <a:pPr marL="0" indent="0">
              <a:buNone/>
            </a:pPr>
            <a:r>
              <a:rPr lang="en-US" sz="1500" b="1" dirty="0">
                <a:solidFill>
                  <a:srgbClr val="0A1A33"/>
                </a:solidFill>
                <a:latin typeface="Cambria" pitchFamily="34" charset="0"/>
                <a:ea typeface="Cambria" pitchFamily="34" charset="-122"/>
                <a:cs typeface="Cambria" pitchFamily="34" charset="-120"/>
              </a:rPr>
              <a:t>Infraestructura AWS</a:t>
            </a:r>
            <a:endParaRPr lang="en-US" sz="1500" dirty="0"/>
          </a:p>
        </p:txBody>
      </p:sp>
      <p:sp>
        <p:nvSpPr>
          <p:cNvPr id="10" name="Text 7"/>
          <p:cNvSpPr/>
          <p:nvPr/>
        </p:nvSpPr>
        <p:spPr>
          <a:xfrm>
            <a:off x="822960" y="2788920"/>
            <a:ext cx="4800600" cy="868680"/>
          </a:xfrm>
          <a:prstGeom prst="rect">
            <a:avLst/>
          </a:prstGeom>
          <a:noFill/>
          <a:ln/>
        </p:spPr>
        <p:txBody>
          <a:bodyPr wrap="square" lIns="0" tIns="0" rIns="0" bIns="0" rtlCol="0" anchor="ctr"/>
          <a:lstStyle/>
          <a:p>
            <a:pPr marL="171450" indent="-171450">
              <a:lnSpc>
                <a:spcPct val="120000"/>
              </a:lnSpc>
              <a:buFont typeface="Arial" panose="020B0604020202020204" pitchFamily="34" charset="0"/>
              <a:buChar char="•"/>
            </a:pPr>
            <a:r>
              <a:rPr lang="en-US" sz="1150" dirty="0">
                <a:solidFill>
                  <a:srgbClr val="152238"/>
                </a:solidFill>
                <a:latin typeface="Calibri" pitchFamily="34" charset="0"/>
                <a:ea typeface="Calibri" pitchFamily="34" charset="-122"/>
                <a:cs typeface="Calibri" pitchFamily="34" charset="-120"/>
              </a:rPr>
              <a:t>Cloud pública AWS: Amazon S3, EC2/Docker/Kubernetes, RDS PostgreSQL y CloudFront; escalable y de pago por uso. </a:t>
            </a:r>
          </a:p>
          <a:p>
            <a:pPr marL="171450" indent="-171450">
              <a:lnSpc>
                <a:spcPct val="120000"/>
              </a:lnSpc>
              <a:buFont typeface="Arial" panose="020B0604020202020204" pitchFamily="34" charset="0"/>
              <a:buChar char="•"/>
            </a:pPr>
            <a:r>
              <a:rPr lang="en-US" sz="1150" dirty="0">
                <a:solidFill>
                  <a:srgbClr val="152238"/>
                </a:solidFill>
                <a:latin typeface="Calibri" pitchFamily="34" charset="0"/>
                <a:ea typeface="Calibri" pitchFamily="34" charset="-122"/>
                <a:cs typeface="Calibri" pitchFamily="34" charset="-120"/>
              </a:rPr>
              <a:t>Coste operativo año 1: 10.440 €/año, +15 % anual.</a:t>
            </a:r>
            <a:endParaRPr lang="en-US" sz="1150" dirty="0"/>
          </a:p>
        </p:txBody>
      </p:sp>
      <p:sp>
        <p:nvSpPr>
          <p:cNvPr id="11" name="Shape 8"/>
          <p:cNvSpPr/>
          <p:nvPr/>
        </p:nvSpPr>
        <p:spPr>
          <a:xfrm>
            <a:off x="6263640" y="1828800"/>
            <a:ext cx="5349240" cy="1965960"/>
          </a:xfrm>
          <a:prstGeom prst="roundRect">
            <a:avLst>
              <a:gd name="adj" fmla="val 418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2" name="Shape 9"/>
          <p:cNvSpPr/>
          <p:nvPr/>
        </p:nvSpPr>
        <p:spPr>
          <a:xfrm>
            <a:off x="6537960" y="2103120"/>
            <a:ext cx="640080" cy="640080"/>
          </a:xfrm>
          <a:prstGeom prst="ellipse">
            <a:avLst/>
          </a:prstGeom>
          <a:solidFill>
            <a:srgbClr val="0EA5B0"/>
          </a:solidFill>
          <a:ln/>
        </p:spPr>
        <p:txBody>
          <a:bodyPr/>
          <a:lstStyle/>
          <a:p>
            <a:endParaRPr lang="es-ES"/>
          </a:p>
        </p:txBody>
      </p:sp>
      <p:pic>
        <p:nvPicPr>
          <p:cNvPr id="13" name="Image 1" descr="assets/database.png"/>
          <p:cNvPicPr>
            <a:picLocks noChangeAspect="1"/>
          </p:cNvPicPr>
          <p:nvPr/>
        </p:nvPicPr>
        <p:blipFill>
          <a:blip r:embed="rId4"/>
          <a:stretch>
            <a:fillRect/>
          </a:stretch>
        </p:blipFill>
        <p:spPr>
          <a:xfrm>
            <a:off x="6704381" y="2269541"/>
            <a:ext cx="307238" cy="307238"/>
          </a:xfrm>
          <a:prstGeom prst="rect">
            <a:avLst/>
          </a:prstGeom>
        </p:spPr>
      </p:pic>
      <p:sp>
        <p:nvSpPr>
          <p:cNvPr id="14" name="Text 10"/>
          <p:cNvSpPr/>
          <p:nvPr/>
        </p:nvSpPr>
        <p:spPr>
          <a:xfrm>
            <a:off x="7360920" y="2103120"/>
            <a:ext cx="3977640" cy="548640"/>
          </a:xfrm>
          <a:prstGeom prst="rect">
            <a:avLst/>
          </a:prstGeom>
          <a:noFill/>
          <a:ln/>
        </p:spPr>
        <p:txBody>
          <a:bodyPr wrap="square" lIns="0" tIns="0" rIns="0" bIns="0" rtlCol="0" anchor="ctr"/>
          <a:lstStyle/>
          <a:p>
            <a:pPr marL="0" indent="0">
              <a:buNone/>
            </a:pPr>
            <a:r>
              <a:rPr lang="en-US" sz="1500" b="1" dirty="0">
                <a:solidFill>
                  <a:srgbClr val="0A1A33"/>
                </a:solidFill>
                <a:latin typeface="Cambria" pitchFamily="34" charset="0"/>
                <a:ea typeface="Cambria" pitchFamily="34" charset="-122"/>
                <a:cs typeface="Cambria" pitchFamily="34" charset="-120"/>
              </a:rPr>
              <a:t>Capacidad inicial</a:t>
            </a:r>
            <a:endParaRPr lang="en-US" sz="1500" dirty="0"/>
          </a:p>
        </p:txBody>
      </p:sp>
      <p:sp>
        <p:nvSpPr>
          <p:cNvPr id="15" name="Text 11"/>
          <p:cNvSpPr/>
          <p:nvPr/>
        </p:nvSpPr>
        <p:spPr>
          <a:xfrm>
            <a:off x="6537960" y="2788920"/>
            <a:ext cx="4800600" cy="868680"/>
          </a:xfrm>
          <a:prstGeom prst="rect">
            <a:avLst/>
          </a:prstGeom>
          <a:noFill/>
          <a:ln/>
        </p:spPr>
        <p:txBody>
          <a:bodyPr wrap="square" lIns="0" tIns="0" rIns="0" bIns="0" rtlCol="0" anchor="ctr"/>
          <a:lstStyle/>
          <a:p>
            <a:pPr marL="171450" indent="-171450">
              <a:lnSpc>
                <a:spcPct val="120000"/>
              </a:lnSpc>
              <a:buFont typeface="Arial" panose="020B0604020202020204" pitchFamily="34" charset="0"/>
              <a:buChar char="•"/>
            </a:pPr>
            <a:r>
              <a:rPr lang="en-US" sz="1150" dirty="0">
                <a:solidFill>
                  <a:srgbClr val="152238"/>
                </a:solidFill>
                <a:latin typeface="Calibri" pitchFamily="34" charset="0"/>
                <a:ea typeface="Calibri" pitchFamily="34" charset="-122"/>
                <a:cs typeface="Calibri" pitchFamily="34" charset="-120"/>
              </a:rPr>
              <a:t>20 clientes × 1 TB = 20 TB base; con un margen de seguridad del 50 %, la capacidad instalada se fija en 30 TB. </a:t>
            </a:r>
          </a:p>
          <a:p>
            <a:pPr marL="171450" indent="-171450">
              <a:lnSpc>
                <a:spcPct val="120000"/>
              </a:lnSpc>
              <a:buFont typeface="Arial" panose="020B0604020202020204" pitchFamily="34" charset="0"/>
              <a:buChar char="•"/>
            </a:pPr>
            <a:r>
              <a:rPr lang="en-US" sz="1150" dirty="0" err="1">
                <a:solidFill>
                  <a:srgbClr val="152238"/>
                </a:solidFill>
                <a:latin typeface="Calibri" pitchFamily="34" charset="0"/>
                <a:ea typeface="Calibri" pitchFamily="34" charset="-122"/>
                <a:cs typeface="Calibri" pitchFamily="34" charset="-120"/>
              </a:rPr>
              <a:t>Equipamiento</a:t>
            </a:r>
            <a:r>
              <a:rPr lang="en-US" sz="1150" dirty="0">
                <a:solidFill>
                  <a:srgbClr val="152238"/>
                </a:solidFill>
                <a:latin typeface="Calibri" pitchFamily="34" charset="0"/>
                <a:ea typeface="Calibri" pitchFamily="34" charset="-122"/>
                <a:cs typeface="Calibri" pitchFamily="34" charset="-120"/>
              </a:rPr>
              <a:t>: 7.500 € (3 portátiles × 2.000 € + 3 monitores × 500 €).</a:t>
            </a:r>
            <a:endParaRPr lang="en-US" sz="1150" dirty="0"/>
          </a:p>
        </p:txBody>
      </p:sp>
      <p:sp>
        <p:nvSpPr>
          <p:cNvPr id="16" name="Shape 12"/>
          <p:cNvSpPr/>
          <p:nvPr/>
        </p:nvSpPr>
        <p:spPr>
          <a:xfrm>
            <a:off x="548640" y="4069080"/>
            <a:ext cx="5349240" cy="1965960"/>
          </a:xfrm>
          <a:prstGeom prst="roundRect">
            <a:avLst>
              <a:gd name="adj" fmla="val 418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7" name="Shape 13"/>
          <p:cNvSpPr/>
          <p:nvPr/>
        </p:nvSpPr>
        <p:spPr>
          <a:xfrm>
            <a:off x="822960" y="4343400"/>
            <a:ext cx="640080" cy="640080"/>
          </a:xfrm>
          <a:prstGeom prst="ellipse">
            <a:avLst/>
          </a:prstGeom>
          <a:solidFill>
            <a:srgbClr val="0EA5B0"/>
          </a:solidFill>
          <a:ln/>
        </p:spPr>
        <p:txBody>
          <a:bodyPr/>
          <a:lstStyle/>
          <a:p>
            <a:endParaRPr lang="es-ES"/>
          </a:p>
        </p:txBody>
      </p:sp>
      <p:pic>
        <p:nvPicPr>
          <p:cNvPr id="18" name="Image 2" descr="assets/cogs.png"/>
          <p:cNvPicPr>
            <a:picLocks noChangeAspect="1"/>
          </p:cNvPicPr>
          <p:nvPr/>
        </p:nvPicPr>
        <p:blipFill>
          <a:blip r:embed="rId5"/>
          <a:stretch>
            <a:fillRect/>
          </a:stretch>
        </p:blipFill>
        <p:spPr>
          <a:xfrm>
            <a:off x="989381" y="4509821"/>
            <a:ext cx="307238" cy="307238"/>
          </a:xfrm>
          <a:prstGeom prst="rect">
            <a:avLst/>
          </a:prstGeom>
        </p:spPr>
      </p:pic>
      <p:sp>
        <p:nvSpPr>
          <p:cNvPr id="19" name="Text 14"/>
          <p:cNvSpPr/>
          <p:nvPr/>
        </p:nvSpPr>
        <p:spPr>
          <a:xfrm>
            <a:off x="1645920" y="4343400"/>
            <a:ext cx="3977640" cy="548640"/>
          </a:xfrm>
          <a:prstGeom prst="rect">
            <a:avLst/>
          </a:prstGeom>
          <a:noFill/>
          <a:ln/>
        </p:spPr>
        <p:txBody>
          <a:bodyPr wrap="square" lIns="0" tIns="0" rIns="0" bIns="0" rtlCol="0" anchor="ctr"/>
          <a:lstStyle/>
          <a:p>
            <a:pPr marL="0" indent="0">
              <a:buNone/>
            </a:pPr>
            <a:r>
              <a:rPr lang="en-US" sz="1500" b="1" dirty="0">
                <a:solidFill>
                  <a:srgbClr val="0A1A33"/>
                </a:solidFill>
                <a:latin typeface="Cambria" pitchFamily="34" charset="0"/>
                <a:ea typeface="Cambria" pitchFamily="34" charset="-122"/>
                <a:cs typeface="Cambria" pitchFamily="34" charset="-120"/>
              </a:rPr>
              <a:t>Tecnología de seguridad</a:t>
            </a:r>
            <a:endParaRPr lang="en-US" sz="1500" dirty="0"/>
          </a:p>
        </p:txBody>
      </p:sp>
      <p:sp>
        <p:nvSpPr>
          <p:cNvPr id="20" name="Text 15"/>
          <p:cNvSpPr/>
          <p:nvPr/>
        </p:nvSpPr>
        <p:spPr>
          <a:xfrm>
            <a:off x="822960" y="5029200"/>
            <a:ext cx="4800600" cy="868680"/>
          </a:xfrm>
          <a:prstGeom prst="rect">
            <a:avLst/>
          </a:prstGeom>
          <a:noFill/>
          <a:ln/>
        </p:spPr>
        <p:txBody>
          <a:bodyPr wrap="square" lIns="0" tIns="0" rIns="0" bIns="0" rtlCol="0" anchor="ctr"/>
          <a:lstStyle/>
          <a:p>
            <a:pPr marL="0" indent="0">
              <a:lnSpc>
                <a:spcPct val="120000"/>
              </a:lnSpc>
              <a:buNone/>
            </a:pPr>
            <a:r>
              <a:rPr lang="en-US" sz="1150" dirty="0">
                <a:solidFill>
                  <a:srgbClr val="152238"/>
                </a:solidFill>
                <a:latin typeface="Calibri" pitchFamily="34" charset="0"/>
                <a:ea typeface="Calibri" pitchFamily="34" charset="-122"/>
                <a:cs typeface="Calibri" pitchFamily="34" charset="-120"/>
              </a:rPr>
              <a:t>Criptografía post-cuántica ML-KEM (FIPS 203) y FrodoKEM, cifrado extremo a extremo y arquitectura zero-knowledge: el proveedor no puede acceder al contenido.</a:t>
            </a:r>
            <a:endParaRPr lang="en-US" sz="1150" dirty="0"/>
          </a:p>
        </p:txBody>
      </p:sp>
      <p:sp>
        <p:nvSpPr>
          <p:cNvPr id="21" name="Shape 16"/>
          <p:cNvSpPr/>
          <p:nvPr/>
        </p:nvSpPr>
        <p:spPr>
          <a:xfrm>
            <a:off x="6263640" y="4069080"/>
            <a:ext cx="5349240" cy="1965960"/>
          </a:xfrm>
          <a:prstGeom prst="roundRect">
            <a:avLst>
              <a:gd name="adj" fmla="val 4186"/>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22" name="Shape 17"/>
          <p:cNvSpPr/>
          <p:nvPr/>
        </p:nvSpPr>
        <p:spPr>
          <a:xfrm>
            <a:off x="6537960" y="4343400"/>
            <a:ext cx="640080" cy="640080"/>
          </a:xfrm>
          <a:prstGeom prst="ellipse">
            <a:avLst/>
          </a:prstGeom>
          <a:solidFill>
            <a:srgbClr val="0EA5B0"/>
          </a:solidFill>
          <a:ln/>
        </p:spPr>
        <p:txBody>
          <a:bodyPr/>
          <a:lstStyle/>
          <a:p>
            <a:endParaRPr lang="es-ES"/>
          </a:p>
        </p:txBody>
      </p:sp>
      <p:pic>
        <p:nvPicPr>
          <p:cNvPr id="23" name="Image 3" descr="assets/mappin.png"/>
          <p:cNvPicPr>
            <a:picLocks noChangeAspect="1"/>
          </p:cNvPicPr>
          <p:nvPr/>
        </p:nvPicPr>
        <p:blipFill>
          <a:blip r:embed="rId6"/>
          <a:stretch>
            <a:fillRect/>
          </a:stretch>
        </p:blipFill>
        <p:spPr>
          <a:xfrm>
            <a:off x="6704381" y="4509821"/>
            <a:ext cx="307238" cy="307238"/>
          </a:xfrm>
          <a:prstGeom prst="rect">
            <a:avLst/>
          </a:prstGeom>
        </p:spPr>
      </p:pic>
      <p:sp>
        <p:nvSpPr>
          <p:cNvPr id="24" name="Text 18"/>
          <p:cNvSpPr/>
          <p:nvPr/>
        </p:nvSpPr>
        <p:spPr>
          <a:xfrm>
            <a:off x="7360920" y="4343400"/>
            <a:ext cx="3977640" cy="548640"/>
          </a:xfrm>
          <a:prstGeom prst="rect">
            <a:avLst/>
          </a:prstGeom>
          <a:noFill/>
          <a:ln/>
        </p:spPr>
        <p:txBody>
          <a:bodyPr wrap="square" lIns="0" tIns="0" rIns="0" bIns="0" rtlCol="0" anchor="ctr"/>
          <a:lstStyle/>
          <a:p>
            <a:pPr marL="0" indent="0">
              <a:buNone/>
            </a:pPr>
            <a:r>
              <a:rPr lang="en-US" sz="1500" b="1" dirty="0">
                <a:solidFill>
                  <a:srgbClr val="0A1A33"/>
                </a:solidFill>
                <a:latin typeface="Cambria" pitchFamily="34" charset="0"/>
                <a:ea typeface="Cambria" pitchFamily="34" charset="-122"/>
                <a:cs typeface="Cambria" pitchFamily="34" charset="-120"/>
              </a:rPr>
              <a:t>Localización</a:t>
            </a:r>
            <a:endParaRPr lang="en-US" sz="1500" dirty="0"/>
          </a:p>
        </p:txBody>
      </p:sp>
      <p:sp>
        <p:nvSpPr>
          <p:cNvPr id="25" name="Text 19"/>
          <p:cNvSpPr/>
          <p:nvPr/>
        </p:nvSpPr>
        <p:spPr>
          <a:xfrm>
            <a:off x="6537960" y="5029200"/>
            <a:ext cx="4800600" cy="868680"/>
          </a:xfrm>
          <a:prstGeom prst="rect">
            <a:avLst/>
          </a:prstGeom>
          <a:noFill/>
          <a:ln/>
        </p:spPr>
        <p:txBody>
          <a:bodyPr wrap="square" lIns="0" tIns="0" rIns="0" bIns="0" rtlCol="0" anchor="ctr"/>
          <a:lstStyle/>
          <a:p>
            <a:pPr marL="0" indent="0">
              <a:lnSpc>
                <a:spcPct val="120000"/>
              </a:lnSpc>
              <a:buNone/>
            </a:pPr>
            <a:r>
              <a:rPr lang="en-US" sz="1150" dirty="0">
                <a:solidFill>
                  <a:srgbClr val="152238"/>
                </a:solidFill>
                <a:latin typeface="Calibri" pitchFamily="34" charset="0"/>
                <a:ea typeface="Calibri" pitchFamily="34" charset="-122"/>
                <a:cs typeface="Calibri" pitchFamily="34" charset="-120"/>
              </a:rPr>
              <a:t>Sede administrativa en Madrid; los datos se alojan en centros de datos europeos para reforzar el cumplimiento del RGPD y reducir el riesgo jurídico.</a:t>
            </a:r>
            <a:endParaRPr lang="en-US" sz="1150" dirty="0"/>
          </a:p>
        </p:txBody>
      </p:sp>
      <p:sp>
        <p:nvSpPr>
          <p:cNvPr id="26" name="Text 20"/>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7" name="Text 21"/>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ESTUDIO LEGAL Y ORGANIZACIONAL</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300" b="1" dirty="0">
                <a:solidFill>
                  <a:srgbClr val="0A1A33"/>
                </a:solidFill>
                <a:latin typeface="Cambria" pitchFamily="34" charset="0"/>
                <a:ea typeface="Cambria" pitchFamily="34" charset="-122"/>
                <a:cs typeface="Cambria" pitchFamily="34" charset="-120"/>
              </a:rPr>
              <a:t>Forma jurídica simple, con cumplimiento normativo desde el diseño</a:t>
            </a:r>
            <a:endParaRPr lang="en-US" sz="2300" dirty="0"/>
          </a:p>
        </p:txBody>
      </p:sp>
      <p:sp>
        <p:nvSpPr>
          <p:cNvPr id="6" name="Shape 4"/>
          <p:cNvSpPr/>
          <p:nvPr/>
        </p:nvSpPr>
        <p:spPr>
          <a:xfrm>
            <a:off x="548640" y="1965960"/>
            <a:ext cx="3520440" cy="39319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Shape 5"/>
          <p:cNvSpPr/>
          <p:nvPr/>
        </p:nvSpPr>
        <p:spPr>
          <a:xfrm>
            <a:off x="841248" y="2286000"/>
            <a:ext cx="685800" cy="685800"/>
          </a:xfrm>
          <a:prstGeom prst="ellipse">
            <a:avLst/>
          </a:prstGeom>
          <a:solidFill>
            <a:srgbClr val="0EA5B0"/>
          </a:solidFill>
          <a:ln/>
        </p:spPr>
        <p:txBody>
          <a:bodyPr/>
          <a:lstStyle/>
          <a:p>
            <a:endParaRPr lang="es-ES"/>
          </a:p>
        </p:txBody>
      </p:sp>
      <p:pic>
        <p:nvPicPr>
          <p:cNvPr id="8" name="Image 0" descr="assets/contract.png"/>
          <p:cNvPicPr>
            <a:picLocks noChangeAspect="1"/>
          </p:cNvPicPr>
          <p:nvPr/>
        </p:nvPicPr>
        <p:blipFill>
          <a:blip r:embed="rId3"/>
          <a:stretch>
            <a:fillRect/>
          </a:stretch>
        </p:blipFill>
        <p:spPr>
          <a:xfrm>
            <a:off x="1019556" y="2464308"/>
            <a:ext cx="329184" cy="329184"/>
          </a:xfrm>
          <a:prstGeom prst="rect">
            <a:avLst/>
          </a:prstGeom>
        </p:spPr>
      </p:pic>
      <p:sp>
        <p:nvSpPr>
          <p:cNvPr id="9" name="Text 6"/>
          <p:cNvSpPr/>
          <p:nvPr/>
        </p:nvSpPr>
        <p:spPr>
          <a:xfrm>
            <a:off x="841248" y="3154680"/>
            <a:ext cx="2935224" cy="457200"/>
          </a:xfrm>
          <a:prstGeom prst="rect">
            <a:avLst/>
          </a:prstGeom>
          <a:noFill/>
          <a:ln/>
        </p:spPr>
        <p:txBody>
          <a:bodyPr wrap="square" lIns="0" tIns="0" rIns="0" bIns="0" rtlCol="0" anchor="ctr"/>
          <a:lstStyle/>
          <a:p>
            <a:pPr marL="0" indent="0">
              <a:buNone/>
            </a:pPr>
            <a:r>
              <a:rPr lang="en-US" sz="1600" b="1" dirty="0">
                <a:solidFill>
                  <a:srgbClr val="0A1A33"/>
                </a:solidFill>
                <a:latin typeface="Cambria" pitchFamily="34" charset="0"/>
                <a:ea typeface="Cambria" pitchFamily="34" charset="-122"/>
                <a:cs typeface="Cambria" pitchFamily="34" charset="-120"/>
              </a:rPr>
              <a:t>Forma jurídica</a:t>
            </a:r>
            <a:endParaRPr lang="en-US" sz="1600" dirty="0"/>
          </a:p>
        </p:txBody>
      </p:sp>
      <p:sp>
        <p:nvSpPr>
          <p:cNvPr id="10" name="Text 7"/>
          <p:cNvSpPr/>
          <p:nvPr/>
        </p:nvSpPr>
        <p:spPr>
          <a:xfrm>
            <a:off x="841248" y="3657600"/>
            <a:ext cx="2935224" cy="2011680"/>
          </a:xfrm>
          <a:prstGeom prst="rect">
            <a:avLst/>
          </a:prstGeom>
          <a:noFill/>
          <a:ln/>
        </p:spPr>
        <p:txBody>
          <a:bodyPr wrap="square" lIns="0" tIns="0" rIns="0" bIns="0" rtlCol="0" anchor="ctr"/>
          <a:lstStyle/>
          <a:p>
            <a:pPr marL="0" indent="0">
              <a:lnSpc>
                <a:spcPct val="125000"/>
              </a:lnSpc>
              <a:buNone/>
            </a:pPr>
            <a:r>
              <a:rPr lang="en-US" sz="1200" dirty="0">
                <a:solidFill>
                  <a:srgbClr val="152238"/>
                </a:solidFill>
                <a:latin typeface="Calibri" pitchFamily="34" charset="0"/>
                <a:ea typeface="Calibri" pitchFamily="34" charset="-122"/>
                <a:cs typeface="Calibri" pitchFamily="34" charset="-120"/>
              </a:rPr>
              <a:t>Sociedad Limitada (S.L.): responsabilidad limitada al capital aportado, posibilidad de incorporar socios y estructura societaria sencilla, adecuada para una startup.</a:t>
            </a:r>
            <a:endParaRPr lang="en-US" sz="1200" dirty="0"/>
          </a:p>
          <a:p>
            <a:pPr marL="0" indent="0">
              <a:lnSpc>
                <a:spcPct val="118000"/>
              </a:lnSpc>
              <a:buNone/>
            </a:pPr>
            <a:r>
              <a:rPr lang="es-ES" sz="1050" b="1" dirty="0">
                <a:solidFill>
                  <a:srgbClr val="0EA5B0"/>
                </a:solidFill>
                <a:latin typeface="Calibri" pitchFamily="34" charset="0"/>
              </a:rPr>
              <a:t>Coste de constitución: </a:t>
            </a:r>
            <a:r>
              <a:rPr lang="es-ES" sz="1050" dirty="0">
                <a:solidFill>
                  <a:srgbClr val="334155"/>
                </a:solidFill>
                <a:latin typeface="Calibri" pitchFamily="34" charset="0"/>
              </a:rPr>
              <a:t>6.000 € (constitución 1.000 € + asesoría legal 4.000 € + gastos 1.000 €).</a:t>
            </a:r>
            <a:endParaRPr lang="es-ES" sz="1050" dirty="0"/>
          </a:p>
        </p:txBody>
      </p:sp>
      <p:sp>
        <p:nvSpPr>
          <p:cNvPr id="11" name="Shape 8"/>
          <p:cNvSpPr/>
          <p:nvPr/>
        </p:nvSpPr>
        <p:spPr>
          <a:xfrm>
            <a:off x="4297680" y="1965960"/>
            <a:ext cx="3520440" cy="39319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2" name="Shape 9"/>
          <p:cNvSpPr/>
          <p:nvPr/>
        </p:nvSpPr>
        <p:spPr>
          <a:xfrm>
            <a:off x="4590288" y="2286000"/>
            <a:ext cx="685800" cy="685800"/>
          </a:xfrm>
          <a:prstGeom prst="ellipse">
            <a:avLst/>
          </a:prstGeom>
          <a:solidFill>
            <a:srgbClr val="0EA5B0"/>
          </a:solidFill>
          <a:ln/>
        </p:spPr>
        <p:txBody>
          <a:bodyPr/>
          <a:lstStyle/>
          <a:p>
            <a:endParaRPr lang="es-ES"/>
          </a:p>
        </p:txBody>
      </p:sp>
      <p:pic>
        <p:nvPicPr>
          <p:cNvPr id="13" name="Image 1" descr="assets/shield.png"/>
          <p:cNvPicPr>
            <a:picLocks noChangeAspect="1"/>
          </p:cNvPicPr>
          <p:nvPr/>
        </p:nvPicPr>
        <p:blipFill>
          <a:blip r:embed="rId4"/>
          <a:stretch>
            <a:fillRect/>
          </a:stretch>
        </p:blipFill>
        <p:spPr>
          <a:xfrm>
            <a:off x="4768596" y="2464308"/>
            <a:ext cx="329184" cy="329184"/>
          </a:xfrm>
          <a:prstGeom prst="rect">
            <a:avLst/>
          </a:prstGeom>
        </p:spPr>
      </p:pic>
      <p:sp>
        <p:nvSpPr>
          <p:cNvPr id="14" name="Text 10"/>
          <p:cNvSpPr/>
          <p:nvPr/>
        </p:nvSpPr>
        <p:spPr>
          <a:xfrm>
            <a:off x="4590288" y="3154680"/>
            <a:ext cx="2935224" cy="457200"/>
          </a:xfrm>
          <a:prstGeom prst="rect">
            <a:avLst/>
          </a:prstGeom>
          <a:noFill/>
          <a:ln/>
        </p:spPr>
        <p:txBody>
          <a:bodyPr wrap="square" lIns="0" tIns="0" rIns="0" bIns="0" rtlCol="0" anchor="ctr"/>
          <a:lstStyle/>
          <a:p>
            <a:pPr marL="0" indent="0">
              <a:buNone/>
            </a:pPr>
            <a:r>
              <a:rPr lang="en-US" sz="1600" b="1" dirty="0">
                <a:solidFill>
                  <a:srgbClr val="0A1A33"/>
                </a:solidFill>
                <a:latin typeface="Cambria" pitchFamily="34" charset="0"/>
                <a:ea typeface="Cambria" pitchFamily="34" charset="-122"/>
                <a:cs typeface="Cambria" pitchFamily="34" charset="-120"/>
              </a:rPr>
              <a:t>RGPD y protección de datos</a:t>
            </a:r>
            <a:endParaRPr lang="en-US" sz="1600" dirty="0"/>
          </a:p>
        </p:txBody>
      </p:sp>
      <p:sp>
        <p:nvSpPr>
          <p:cNvPr id="15" name="Text 11"/>
          <p:cNvSpPr/>
          <p:nvPr/>
        </p:nvSpPr>
        <p:spPr>
          <a:xfrm>
            <a:off x="4590288" y="3657600"/>
            <a:ext cx="2935224" cy="2011680"/>
          </a:xfrm>
          <a:prstGeom prst="rect">
            <a:avLst/>
          </a:prstGeom>
          <a:noFill/>
          <a:ln/>
        </p:spPr>
        <p:txBody>
          <a:bodyPr wrap="square" lIns="0" tIns="0" rIns="0" bIns="0" rtlCol="0" anchor="ctr"/>
          <a:lstStyle/>
          <a:p>
            <a:pPr marL="0" indent="0">
              <a:lnSpc>
                <a:spcPct val="125000"/>
              </a:lnSpc>
              <a:buNone/>
            </a:pPr>
            <a:r>
              <a:rPr lang="en-US" sz="1200" dirty="0">
                <a:solidFill>
                  <a:srgbClr val="152238"/>
                </a:solidFill>
                <a:latin typeface="Calibri" pitchFamily="34" charset="0"/>
                <a:ea typeface="Calibri" pitchFamily="34" charset="-122"/>
                <a:cs typeface="Calibri" pitchFamily="34" charset="-120"/>
              </a:rPr>
              <a:t>Alojamiento de datos en centros europeos y cumplimiento del RGPD y la normativa española de protección de datos, por el tratamiento de información empresarial sensible.</a:t>
            </a:r>
            <a:endParaRPr lang="en-US" sz="1200" dirty="0"/>
          </a:p>
          <a:p>
            <a:pPr marL="0" indent="0">
              <a:lnSpc>
                <a:spcPct val="118000"/>
              </a:lnSpc>
              <a:buNone/>
            </a:pPr>
            <a:r>
              <a:rPr lang="es-ES" sz="1050" b="1" dirty="0">
                <a:solidFill>
                  <a:srgbClr val="0EA5B0"/>
                </a:solidFill>
                <a:latin typeface="Calibri" pitchFamily="34" charset="0"/>
              </a:rPr>
              <a:t>Auditoría de seguridad: </a:t>
            </a:r>
            <a:r>
              <a:rPr lang="es-ES" sz="1050" dirty="0">
                <a:solidFill>
                  <a:srgbClr val="334155"/>
                </a:solidFill>
                <a:latin typeface="Calibri" pitchFamily="34" charset="0"/>
              </a:rPr>
              <a:t>15.000 € de inversión inicial, para verificación independiente del cifrado y el cumplimiento.</a:t>
            </a:r>
            <a:endParaRPr lang="es-ES" sz="1050" dirty="0"/>
          </a:p>
        </p:txBody>
      </p:sp>
      <p:sp>
        <p:nvSpPr>
          <p:cNvPr id="16" name="Shape 12"/>
          <p:cNvSpPr/>
          <p:nvPr/>
        </p:nvSpPr>
        <p:spPr>
          <a:xfrm>
            <a:off x="8046720" y="1965960"/>
            <a:ext cx="3520440" cy="393192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7" name="Shape 13"/>
          <p:cNvSpPr/>
          <p:nvPr/>
        </p:nvSpPr>
        <p:spPr>
          <a:xfrm>
            <a:off x="8339328" y="2286000"/>
            <a:ext cx="685800" cy="685800"/>
          </a:xfrm>
          <a:prstGeom prst="ellipse">
            <a:avLst/>
          </a:prstGeom>
          <a:solidFill>
            <a:srgbClr val="0EA5B0"/>
          </a:solidFill>
          <a:ln/>
        </p:spPr>
        <p:txBody>
          <a:bodyPr/>
          <a:lstStyle/>
          <a:p>
            <a:endParaRPr lang="es-ES"/>
          </a:p>
        </p:txBody>
      </p:sp>
      <p:pic>
        <p:nvPicPr>
          <p:cNvPr id="18" name="Image 2" descr="assets/gavel.png"/>
          <p:cNvPicPr>
            <a:picLocks noChangeAspect="1"/>
          </p:cNvPicPr>
          <p:nvPr/>
        </p:nvPicPr>
        <p:blipFill>
          <a:blip r:embed="rId5"/>
          <a:stretch>
            <a:fillRect/>
          </a:stretch>
        </p:blipFill>
        <p:spPr>
          <a:xfrm>
            <a:off x="8517636" y="2464308"/>
            <a:ext cx="329184" cy="329184"/>
          </a:xfrm>
          <a:prstGeom prst="rect">
            <a:avLst/>
          </a:prstGeom>
        </p:spPr>
      </p:pic>
      <p:sp>
        <p:nvSpPr>
          <p:cNvPr id="19" name="Text 14"/>
          <p:cNvSpPr/>
          <p:nvPr/>
        </p:nvSpPr>
        <p:spPr>
          <a:xfrm>
            <a:off x="8339328" y="3154680"/>
            <a:ext cx="2935224" cy="457200"/>
          </a:xfrm>
          <a:prstGeom prst="rect">
            <a:avLst/>
          </a:prstGeom>
          <a:noFill/>
          <a:ln/>
        </p:spPr>
        <p:txBody>
          <a:bodyPr wrap="square" lIns="0" tIns="0" rIns="0" bIns="0" rtlCol="0" anchor="ctr"/>
          <a:lstStyle/>
          <a:p>
            <a:pPr marL="0" indent="0">
              <a:buNone/>
            </a:pPr>
            <a:r>
              <a:rPr lang="en-US" sz="1600" b="1" dirty="0">
                <a:solidFill>
                  <a:srgbClr val="0A1A33"/>
                </a:solidFill>
                <a:latin typeface="Cambria" pitchFamily="34" charset="0"/>
                <a:ea typeface="Cambria" pitchFamily="34" charset="-122"/>
                <a:cs typeface="Cambria" pitchFamily="34" charset="-120"/>
              </a:rPr>
              <a:t>Requisitos legales básicos</a:t>
            </a:r>
            <a:endParaRPr lang="en-US" sz="1600" dirty="0"/>
          </a:p>
        </p:txBody>
      </p:sp>
      <p:sp>
        <p:nvSpPr>
          <p:cNvPr id="20" name="Text 15"/>
          <p:cNvSpPr/>
          <p:nvPr/>
        </p:nvSpPr>
        <p:spPr>
          <a:xfrm>
            <a:off x="8339328" y="3657600"/>
            <a:ext cx="2935224" cy="2011680"/>
          </a:xfrm>
          <a:prstGeom prst="rect">
            <a:avLst/>
          </a:prstGeom>
          <a:noFill/>
          <a:ln/>
        </p:spPr>
        <p:txBody>
          <a:bodyPr wrap="square" lIns="0" tIns="0" rIns="0" bIns="0" rtlCol="0" anchor="ctr"/>
          <a:lstStyle/>
          <a:p>
            <a:pPr marL="0" indent="0">
              <a:lnSpc>
                <a:spcPct val="125000"/>
              </a:lnSpc>
              <a:buNone/>
            </a:pPr>
            <a:r>
              <a:rPr lang="en-US" sz="1200" dirty="0">
                <a:solidFill>
                  <a:srgbClr val="152238"/>
                </a:solidFill>
                <a:latin typeface="Calibri" pitchFamily="34" charset="0"/>
                <a:ea typeface="Calibri" pitchFamily="34" charset="-122"/>
                <a:cs typeface="Calibri" pitchFamily="34" charset="-120"/>
              </a:rPr>
              <a:t>Impuesto sobre Sociedades al 25 % sobre el resultado positivo; condiciones de servicio y SLA en la contratación SaaS; protección de propiedad intelectual; políticas de ciberseguridad.</a:t>
            </a:r>
            <a:endParaRPr lang="en-US" sz="1200" dirty="0"/>
          </a:p>
          <a:p>
            <a:pPr marL="0" indent="0">
              <a:lnSpc>
                <a:spcPct val="118000"/>
              </a:lnSpc>
              <a:buNone/>
            </a:pPr>
            <a:r>
              <a:rPr lang="es-ES" sz="1050" b="1" dirty="0">
                <a:solidFill>
                  <a:srgbClr val="0EA5B0"/>
                </a:solidFill>
                <a:latin typeface="Calibri" pitchFamily="34" charset="0"/>
              </a:rPr>
              <a:t>Administración recurrente: </a:t>
            </a:r>
            <a:r>
              <a:rPr lang="es-ES" sz="1050" dirty="0">
                <a:solidFill>
                  <a:srgbClr val="334155"/>
                </a:solidFill>
                <a:latin typeface="Calibri" pitchFamily="34" charset="0"/>
              </a:rPr>
              <a:t>7.000 €/año (asesoría 3.000 € + servicios jurídicos 2.000 € + seguros 2.000 €).</a:t>
            </a:r>
            <a:endParaRPr lang="es-ES" sz="1050" dirty="0"/>
          </a:p>
        </p:txBody>
      </p:sp>
      <p:sp>
        <p:nvSpPr>
          <p:cNvPr id="21" name="Text 16"/>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2" name="Text 17"/>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Hipotesis">
    <p:bg>
      <p:bgPr>
        <a:solidFill>
          <a:srgbClr val="F5F8FB"/>
        </a:solidFill>
        <a:effectLst/>
      </p:bgPr>
    </p:bg>
    <p:spTree>
      <p:nvGrpSpPr>
        <p:cNvPr id="1" name=""/>
        <p:cNvGrpSpPr/>
        <p:nvPr/>
      </p:nvGrpSpPr>
      <p:grpSpPr>
        <a:xfrm>
          <a:off x="0" y="0"/>
          <a:ext cx="0" cy="0"/>
          <a:chOff x="0" y="0"/>
          <a:chExt cx="0" cy="0"/>
        </a:xfrm>
      </p:grpSpPr>
      <p:sp>
        <p:nvSpPr>
          <p:cNvPr id="2" name="Badge"/>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BadgeTxt"/>
          <p:cNvSpPr/>
          <p:nvPr/>
        </p:nvSpPr>
        <p:spPr>
          <a:xfrm>
            <a:off x="548640" y="457200"/>
            <a:ext cx="457200" cy="365760"/>
          </a:xfrm>
          <a:prstGeom prst="rect">
            <a:avLst/>
          </a:prstGeom>
          <a:noFill/>
          <a:ln/>
        </p:spPr>
        <p:txBody>
          <a:bodyPr wrap="square" lIns="0" tIns="0" rIns="0" bIns="0" rtlCol="0" anchor="ctr"/>
          <a:lstStyle/>
          <a:p>
            <a:pPr marL="0" indent="0" algn="ctr">
              <a:buNone/>
            </a:pPr>
            <a:r>
              <a:rPr lang="es-ES" sz="1500" b="1" dirty="0">
                <a:solidFill>
                  <a:srgbClr val="FFFFFF"/>
                </a:solidFill>
                <a:latin typeface="Cambria" pitchFamily="34" charset="0"/>
                <a:cs typeface="Cambria" pitchFamily="34" charset="-120"/>
              </a:rPr>
              <a:t>05</a:t>
            </a:r>
            <a:endParaRPr lang="es-ES" sz="1500" dirty="0"/>
          </a:p>
        </p:txBody>
      </p:sp>
      <p:sp>
        <p:nvSpPr>
          <p:cNvPr id="4" name="Label"/>
          <p:cNvSpPr/>
          <p:nvPr/>
        </p:nvSpPr>
        <p:spPr>
          <a:xfrm>
            <a:off x="1115568" y="457200"/>
            <a:ext cx="9000000" cy="365760"/>
          </a:xfrm>
          <a:prstGeom prst="rect">
            <a:avLst/>
          </a:prstGeom>
          <a:noFill/>
          <a:ln/>
        </p:spPr>
        <p:txBody>
          <a:bodyPr wrap="square" lIns="0" tIns="0" rIns="0" bIns="0" rtlCol="0" anchor="ctr"/>
          <a:lstStyle/>
          <a:p>
            <a:pPr marL="0" indent="0" algn="l">
              <a:buNone/>
            </a:pPr>
            <a:r>
              <a:rPr lang="es-ES" sz="1200" b="1" kern="0" spc="200" dirty="0">
                <a:solidFill>
                  <a:srgbClr val="64748B"/>
                </a:solidFill>
                <a:latin typeface="Calibri" pitchFamily="34" charset="0"/>
              </a:rPr>
              <a:t>HIPÓTESIS CLAVE DEL MODELO</a:t>
            </a:r>
            <a:endParaRPr lang="es-ES" sz="1200" dirty="0"/>
          </a:p>
        </p:txBody>
      </p:sp>
      <p:sp>
        <p:nvSpPr>
          <p:cNvPr id="5" name="Title"/>
          <p:cNvSpPr/>
          <p:nvPr/>
        </p:nvSpPr>
        <p:spPr>
          <a:xfrm>
            <a:off x="548640" y="896112"/>
            <a:ext cx="11094720" cy="777240"/>
          </a:xfrm>
          <a:prstGeom prst="rect">
            <a:avLst/>
          </a:prstGeom>
          <a:noFill/>
          <a:ln/>
        </p:spPr>
        <p:txBody>
          <a:bodyPr wrap="square" lIns="0" tIns="0" rIns="0" bIns="0" rtlCol="0" anchor="t"/>
          <a:lstStyle/>
          <a:p>
            <a:pPr marL="0" indent="0" algn="l">
              <a:lnSpc>
                <a:spcPct val="102000"/>
              </a:lnSpc>
              <a:buNone/>
            </a:pPr>
            <a:r>
              <a:rPr lang="es-ES" sz="2300" b="1" dirty="0">
                <a:solidFill>
                  <a:srgbClr val="0A1A33"/>
                </a:solidFill>
                <a:latin typeface="Cambria" pitchFamily="34" charset="0"/>
                <a:cs typeface="Cambria" pitchFamily="34" charset="-120"/>
              </a:rPr>
              <a:t>Un escenario base conservador en escala, precio y coste del capital</a:t>
            </a:r>
            <a:endParaRPr lang="es-ES" sz="2300" dirty="0"/>
          </a:p>
        </p:txBody>
      </p:sp>
      <p:sp>
        <p:nvSpPr>
          <p:cNvPr id="6" name="LeftCard"/>
          <p:cNvSpPr/>
          <p:nvPr/>
        </p:nvSpPr>
        <p:spPr>
          <a:xfrm>
            <a:off x="548640" y="1874520"/>
            <a:ext cx="6172200" cy="4160520"/>
          </a:xfrm>
          <a:prstGeom prst="roundRect">
            <a:avLst>
              <a:gd name="adj" fmla="val 197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CardCaption"/>
          <p:cNvSpPr/>
          <p:nvPr/>
        </p:nvSpPr>
        <p:spPr>
          <a:xfrm>
            <a:off x="777240" y="2057400"/>
            <a:ext cx="5669280" cy="274320"/>
          </a:xfrm>
          <a:prstGeom prst="rect">
            <a:avLst/>
          </a:prstGeom>
          <a:noFill/>
          <a:ln/>
        </p:spPr>
        <p:txBody>
          <a:bodyPr wrap="square" lIns="0" tIns="0" rIns="0" bIns="0" rtlCol="0" anchor="ctr"/>
          <a:lstStyle/>
          <a:p>
            <a:pPr marL="0" indent="0" algn="l">
              <a:buNone/>
            </a:pPr>
            <a:r>
              <a:rPr lang="es-ES" sz="1050" b="1" dirty="0">
                <a:solidFill>
                  <a:srgbClr val="64748B"/>
                </a:solidFill>
                <a:latin typeface="Calibri" pitchFamily="34" charset="0"/>
              </a:rPr>
              <a:t>Parámetros del escenario base</a:t>
            </a:r>
            <a:endParaRPr lang="es-ES" sz="1050" dirty="0"/>
          </a:p>
        </p:txBody>
      </p:sp>
      <p:graphicFrame>
        <p:nvGraphicFramePr>
          <p:cNvPr id="20" name="Table Hipotesis"/>
          <p:cNvGraphicFramePr>
            <a:graphicFrameLocks noGrp="1"/>
          </p:cNvGraphicFramePr>
          <p:nvPr/>
        </p:nvGraphicFramePr>
        <p:xfrm>
          <a:off x="777240" y="2278000"/>
          <a:ext cx="5669280" cy="3240000"/>
        </p:xfrm>
        <a:graphic>
          <a:graphicData uri="http://schemas.openxmlformats.org/drawingml/2006/table">
            <a:tbl>
              <a:tblPr/>
              <a:tblGrid>
                <a:gridCol w="3261360">
                  <a:extLst>
                    <a:ext uri="{9D8B030D-6E8A-4147-A177-3AD203B41FA5}">
                      <a16:colId xmlns:a16="http://schemas.microsoft.com/office/drawing/2014/main" val="20000"/>
                    </a:ext>
                  </a:extLst>
                </a:gridCol>
                <a:gridCol w="2407920">
                  <a:extLst>
                    <a:ext uri="{9D8B030D-6E8A-4147-A177-3AD203B41FA5}">
                      <a16:colId xmlns:a16="http://schemas.microsoft.com/office/drawing/2014/main" val="20001"/>
                    </a:ext>
                  </a:extLst>
                </a:gridCol>
              </a:tblGrid>
              <a:tr h="324000">
                <a:tc>
                  <a:txBody>
                    <a:bodyPr/>
                    <a:lstStyle/>
                    <a:p>
                      <a:pPr marL="0" indent="0">
                        <a:buNone/>
                      </a:pPr>
                      <a:r>
                        <a:rPr lang="es-ES" sz="1150" b="1" dirty="0">
                          <a:solidFill>
                            <a:srgbClr val="FFFFFF"/>
                          </a:solidFill>
                          <a:latin typeface="Calibri" pitchFamily="34" charset="0"/>
                        </a:rPr>
                        <a:t>Hipótesis base</a:t>
                      </a:r>
                      <a:endParaRPr lang="es-ES" sz="11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s-ES" sz="1150" b="1" dirty="0">
                          <a:solidFill>
                            <a:srgbClr val="FFFFFF"/>
                          </a:solidFill>
                          <a:latin typeface="Calibri" pitchFamily="34" charset="0"/>
                        </a:rPr>
                        <a:t>Valor</a:t>
                      </a:r>
                      <a:endParaRPr lang="es-ES" sz="11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extLst>
                  <a:ext uri="{0D108BD9-81ED-4DB2-BD59-A6C34878D82A}">
                    <a16:rowId xmlns:a16="http://schemas.microsoft.com/office/drawing/2014/main" val="10000"/>
                  </a:ext>
                </a:extLst>
              </a:tr>
              <a:tr h="324000">
                <a:tc>
                  <a:txBody>
                    <a:bodyPr/>
                    <a:lstStyle/>
                    <a:p>
                      <a:pPr marL="0" indent="0">
                        <a:buNone/>
                      </a:pPr>
                      <a:r>
                        <a:rPr lang="es-ES" sz="1050" dirty="0">
                          <a:solidFill>
                            <a:srgbClr val="334155"/>
                          </a:solidFill>
                          <a:latin typeface="Calibri" pitchFamily="34" charset="0"/>
                        </a:rPr>
                        <a:t>Horizonte de evaluación</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5 años</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000">
                <a:tc>
                  <a:txBody>
                    <a:bodyPr/>
                    <a:lstStyle/>
                    <a:p>
                      <a:pPr marL="0" indent="0">
                        <a:buNone/>
                      </a:pPr>
                      <a:r>
                        <a:rPr lang="es-ES" sz="1050" dirty="0">
                          <a:solidFill>
                            <a:srgbClr val="334155"/>
                          </a:solidFill>
                          <a:latin typeface="Calibri" pitchFamily="34" charset="0"/>
                        </a:rPr>
                        <a:t>Clientes en el año 1</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20 (cuota 0,2 % de 10.000)</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324000">
                <a:tc>
                  <a:txBody>
                    <a:bodyPr/>
                    <a:lstStyle/>
                    <a:p>
                      <a:pPr marL="0" indent="0">
                        <a:buNone/>
                      </a:pPr>
                      <a:r>
                        <a:rPr lang="es-ES" sz="1050" dirty="0">
                          <a:solidFill>
                            <a:srgbClr val="334155"/>
                          </a:solidFill>
                          <a:latin typeface="Calibri" pitchFamily="34" charset="0"/>
                        </a:rPr>
                        <a:t>Crecimiento de clientes</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40 % anual</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000">
                <a:tc>
                  <a:txBody>
                    <a:bodyPr/>
                    <a:lstStyle/>
                    <a:p>
                      <a:pPr marL="0" indent="0">
                        <a:buNone/>
                      </a:pPr>
                      <a:r>
                        <a:rPr lang="es-ES" sz="1050" dirty="0">
                          <a:solidFill>
                            <a:srgbClr val="334155"/>
                          </a:solidFill>
                          <a:latin typeface="Calibri" pitchFamily="34" charset="0"/>
                        </a:rPr>
                        <a:t>Precio por empresa</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150 €/mes  ·  1.800 €/año</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324000">
                <a:tc>
                  <a:txBody>
                    <a:bodyPr/>
                    <a:lstStyle/>
                    <a:p>
                      <a:pPr marL="0" indent="0">
                        <a:buNone/>
                      </a:pPr>
                      <a:r>
                        <a:rPr lang="es-ES" sz="1050" dirty="0">
                          <a:solidFill>
                            <a:srgbClr val="334155"/>
                          </a:solidFill>
                          <a:latin typeface="Calibri" pitchFamily="34" charset="0"/>
                        </a:rPr>
                        <a:t>Coste variable</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120 €/cliente/año</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000">
                <a:tc>
                  <a:txBody>
                    <a:bodyPr/>
                    <a:lstStyle/>
                    <a:p>
                      <a:pPr marL="0" indent="0">
                        <a:buNone/>
                      </a:pPr>
                      <a:r>
                        <a:rPr lang="es-ES" sz="1050" dirty="0">
                          <a:solidFill>
                            <a:srgbClr val="334155"/>
                          </a:solidFill>
                          <a:latin typeface="Calibri" pitchFamily="34" charset="0"/>
                        </a:rPr>
                        <a:t>Inflación</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3 %</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r h="324000">
                <a:tc>
                  <a:txBody>
                    <a:bodyPr/>
                    <a:lstStyle/>
                    <a:p>
                      <a:pPr marL="0" indent="0">
                        <a:buNone/>
                      </a:pPr>
                      <a:r>
                        <a:rPr lang="es-ES" sz="1050" dirty="0">
                          <a:solidFill>
                            <a:srgbClr val="334155"/>
                          </a:solidFill>
                          <a:latin typeface="Calibri" pitchFamily="34" charset="0"/>
                        </a:rPr>
                        <a:t>Ke nominal / Ke real</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12 % / 8,74 %</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4000">
                <a:tc>
                  <a:txBody>
                    <a:bodyPr/>
                    <a:lstStyle/>
                    <a:p>
                      <a:pPr marL="0" indent="0">
                        <a:buNone/>
                      </a:pPr>
                      <a:r>
                        <a:rPr lang="es-ES" sz="1050" dirty="0">
                          <a:solidFill>
                            <a:srgbClr val="334155"/>
                          </a:solidFill>
                          <a:latin typeface="Calibri" pitchFamily="34" charset="0"/>
                        </a:rPr>
                        <a:t>WACC real</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4,37 %</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8"/>
                  </a:ext>
                </a:extLst>
              </a:tr>
              <a:tr h="324000">
                <a:tc>
                  <a:txBody>
                    <a:bodyPr/>
                    <a:lstStyle/>
                    <a:p>
                      <a:pPr marL="0" indent="0">
                        <a:buNone/>
                      </a:pPr>
                      <a:r>
                        <a:rPr lang="es-ES" sz="1050" dirty="0">
                          <a:solidFill>
                            <a:srgbClr val="334155"/>
                          </a:solidFill>
                          <a:latin typeface="Calibri" pitchFamily="34" charset="0"/>
                        </a:rPr>
                        <a:t>Impuesto de Sociedades</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25 %</a:t>
                      </a:r>
                      <a:endParaRPr lang="es-ES" sz="1050" dirty="0"/>
                    </a:p>
                  </a:txBody>
                  <a:tcPr marT="27432" marB="27432"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30" name="StatCard30"/>
          <p:cNvSpPr/>
          <p:nvPr/>
        </p:nvSpPr>
        <p:spPr>
          <a:xfrm>
            <a:off x="7010400" y="1874520"/>
            <a:ext cx="4632960" cy="1280160"/>
          </a:xfrm>
          <a:prstGeom prst="roundRect">
            <a:avLst>
              <a:gd name="adj" fmla="val 6429"/>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31" name="StatNum30"/>
          <p:cNvSpPr/>
          <p:nvPr/>
        </p:nvSpPr>
        <p:spPr>
          <a:xfrm>
            <a:off x="7269480" y="1970520"/>
            <a:ext cx="4114800" cy="548640"/>
          </a:xfrm>
          <a:prstGeom prst="rect">
            <a:avLst/>
          </a:prstGeom>
          <a:noFill/>
          <a:ln/>
        </p:spPr>
        <p:txBody>
          <a:bodyPr wrap="square" lIns="0" tIns="0" rIns="0" bIns="0" rtlCol="0" anchor="ctr"/>
          <a:lstStyle/>
          <a:p>
            <a:pPr marL="0" indent="0" algn="l">
              <a:buNone/>
            </a:pPr>
            <a:r>
              <a:rPr lang="es-ES" sz="3600" b="1" dirty="0">
                <a:solidFill>
                  <a:srgbClr val="0EA5B0"/>
                </a:solidFill>
                <a:latin typeface="Cambria" pitchFamily="34" charset="0"/>
                <a:cs typeface="Cambria" pitchFamily="34" charset="-120"/>
              </a:rPr>
              <a:t>20</a:t>
            </a:r>
            <a:endParaRPr lang="es-ES" sz="3600" dirty="0"/>
          </a:p>
        </p:txBody>
      </p:sp>
      <p:sp>
        <p:nvSpPr>
          <p:cNvPr id="32" name="StatDesc30"/>
          <p:cNvSpPr/>
          <p:nvPr/>
        </p:nvSpPr>
        <p:spPr>
          <a:xfrm>
            <a:off x="7269480" y="2546520"/>
            <a:ext cx="4114800" cy="512064"/>
          </a:xfrm>
          <a:prstGeom prst="rect">
            <a:avLst/>
          </a:prstGeom>
          <a:noFill/>
          <a:ln/>
        </p:spPr>
        <p:txBody>
          <a:bodyPr wrap="square" lIns="0" tIns="0" rIns="0" bIns="0" rtlCol="0" anchor="t"/>
          <a:lstStyle/>
          <a:p>
            <a:pPr marL="0" indent="0" algn="l">
              <a:lnSpc>
                <a:spcPct val="104000"/>
              </a:lnSpc>
              <a:buNone/>
            </a:pPr>
            <a:r>
              <a:rPr lang="es-ES" sz="1100" dirty="0">
                <a:solidFill>
                  <a:srgbClr val="64748B"/>
                </a:solidFill>
                <a:latin typeface="Calibri" pitchFamily="34" charset="0"/>
              </a:rPr>
              <a:t>clientes empresariales en el año 1, equivalentes al 0,2 % de un mercado de 10.000 organizaciones</a:t>
            </a:r>
            <a:endParaRPr lang="es-ES" sz="1100" dirty="0"/>
          </a:p>
        </p:txBody>
      </p:sp>
      <p:sp>
        <p:nvSpPr>
          <p:cNvPr id="40" name="StatCard40"/>
          <p:cNvSpPr/>
          <p:nvPr/>
        </p:nvSpPr>
        <p:spPr>
          <a:xfrm>
            <a:off x="7010400" y="3314700"/>
            <a:ext cx="4632960" cy="1280160"/>
          </a:xfrm>
          <a:prstGeom prst="roundRect">
            <a:avLst>
              <a:gd name="adj" fmla="val 6429"/>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41" name="StatNum40"/>
          <p:cNvSpPr/>
          <p:nvPr/>
        </p:nvSpPr>
        <p:spPr>
          <a:xfrm>
            <a:off x="7269480" y="3410700"/>
            <a:ext cx="4114800" cy="548640"/>
          </a:xfrm>
          <a:prstGeom prst="rect">
            <a:avLst/>
          </a:prstGeom>
          <a:noFill/>
          <a:ln/>
        </p:spPr>
        <p:txBody>
          <a:bodyPr wrap="square" lIns="0" tIns="0" rIns="0" bIns="0" rtlCol="0" anchor="ctr"/>
          <a:lstStyle/>
          <a:p>
            <a:pPr marL="0" indent="0" algn="l">
              <a:buNone/>
            </a:pPr>
            <a:r>
              <a:rPr lang="es-ES" sz="3600" b="1" dirty="0">
                <a:solidFill>
                  <a:srgbClr val="0EA5B0"/>
                </a:solidFill>
                <a:latin typeface="Cambria" pitchFamily="34" charset="0"/>
                <a:cs typeface="Cambria" pitchFamily="34" charset="-120"/>
              </a:rPr>
              <a:t>1.680 €</a:t>
            </a:r>
            <a:endParaRPr lang="es-ES" sz="3600" dirty="0"/>
          </a:p>
        </p:txBody>
      </p:sp>
      <p:sp>
        <p:nvSpPr>
          <p:cNvPr id="42" name="StatDesc40"/>
          <p:cNvSpPr/>
          <p:nvPr/>
        </p:nvSpPr>
        <p:spPr>
          <a:xfrm>
            <a:off x="7269480" y="3986700"/>
            <a:ext cx="4114800" cy="512064"/>
          </a:xfrm>
          <a:prstGeom prst="rect">
            <a:avLst/>
          </a:prstGeom>
          <a:noFill/>
          <a:ln/>
        </p:spPr>
        <p:txBody>
          <a:bodyPr wrap="square" lIns="0" tIns="0" rIns="0" bIns="0" rtlCol="0" anchor="t"/>
          <a:lstStyle/>
          <a:p>
            <a:pPr marL="0" indent="0" algn="l">
              <a:lnSpc>
                <a:spcPct val="104000"/>
              </a:lnSpc>
              <a:buNone/>
            </a:pPr>
            <a:r>
              <a:rPr lang="es-ES" sz="1100" dirty="0">
                <a:solidFill>
                  <a:srgbClr val="64748B"/>
                </a:solidFill>
                <a:latin typeface="Calibri" pitchFamily="34" charset="0"/>
              </a:rPr>
              <a:t>margen de contribución por cliente y año (1.800 € de precio − 120 € de coste variable)</a:t>
            </a:r>
            <a:endParaRPr lang="es-ES" sz="1100" dirty="0"/>
          </a:p>
        </p:txBody>
      </p:sp>
      <p:sp>
        <p:nvSpPr>
          <p:cNvPr id="50" name="StatCard50"/>
          <p:cNvSpPr/>
          <p:nvPr/>
        </p:nvSpPr>
        <p:spPr>
          <a:xfrm>
            <a:off x="7010400" y="4754880"/>
            <a:ext cx="4632960" cy="1280160"/>
          </a:xfrm>
          <a:prstGeom prst="roundRect">
            <a:avLst>
              <a:gd name="adj" fmla="val 6429"/>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51" name="StatNum50"/>
          <p:cNvSpPr/>
          <p:nvPr/>
        </p:nvSpPr>
        <p:spPr>
          <a:xfrm>
            <a:off x="7269480" y="4850880"/>
            <a:ext cx="4114800" cy="548640"/>
          </a:xfrm>
          <a:prstGeom prst="rect">
            <a:avLst/>
          </a:prstGeom>
          <a:noFill/>
          <a:ln/>
        </p:spPr>
        <p:txBody>
          <a:bodyPr wrap="square" lIns="0" tIns="0" rIns="0" bIns="0" rtlCol="0" anchor="ctr"/>
          <a:lstStyle/>
          <a:p>
            <a:pPr marL="0" indent="0" algn="l">
              <a:buNone/>
            </a:pPr>
            <a:r>
              <a:rPr lang="es-ES" sz="3600" b="1" dirty="0">
                <a:solidFill>
                  <a:srgbClr val="0EA5B0"/>
                </a:solidFill>
                <a:latin typeface="Cambria" pitchFamily="34" charset="0"/>
                <a:cs typeface="Cambria" pitchFamily="34" charset="-120"/>
              </a:rPr>
              <a:t>52</a:t>
            </a:r>
            <a:endParaRPr lang="es-ES" sz="3600" dirty="0"/>
          </a:p>
        </p:txBody>
      </p:sp>
      <p:sp>
        <p:nvSpPr>
          <p:cNvPr id="52" name="StatDesc50"/>
          <p:cNvSpPr/>
          <p:nvPr/>
        </p:nvSpPr>
        <p:spPr>
          <a:xfrm>
            <a:off x="7269480" y="5426880"/>
            <a:ext cx="4114800" cy="512064"/>
          </a:xfrm>
          <a:prstGeom prst="rect">
            <a:avLst/>
          </a:prstGeom>
          <a:noFill/>
          <a:ln/>
        </p:spPr>
        <p:txBody>
          <a:bodyPr wrap="square" lIns="0" tIns="0" rIns="0" bIns="0" rtlCol="0" anchor="t"/>
          <a:lstStyle/>
          <a:p>
            <a:pPr marL="0" indent="0" algn="l">
              <a:lnSpc>
                <a:spcPct val="104000"/>
              </a:lnSpc>
              <a:buNone/>
            </a:pPr>
            <a:r>
              <a:rPr lang="es-ES" sz="1100" dirty="0">
                <a:solidFill>
                  <a:srgbClr val="64748B"/>
                </a:solidFill>
                <a:latin typeface="Calibri" pitchFamily="34" charset="0"/>
              </a:rPr>
              <a:t>clientes en el año 1 que se necesitarían para alcanzar el equilibrio (VAN = 0)</a:t>
            </a:r>
            <a:endParaRPr lang="es-ES" sz="1100" dirty="0"/>
          </a:p>
        </p:txBody>
      </p:sp>
      <p:sp>
        <p:nvSpPr>
          <p:cNvPr id="14" name="NoteItalic"/>
          <p:cNvSpPr/>
          <p:nvPr/>
        </p:nvSpPr>
        <p:spPr>
          <a:xfrm>
            <a:off x="548640" y="6044160"/>
            <a:ext cx="11094720" cy="430000"/>
          </a:xfrm>
          <a:prstGeom prst="rect">
            <a:avLst/>
          </a:prstGeom>
          <a:noFill/>
          <a:ln/>
        </p:spPr>
        <p:txBody>
          <a:bodyPr wrap="square" lIns="0" tIns="0" rIns="0" bIns="0" rtlCol="0" anchor="ctr"/>
          <a:lstStyle/>
          <a:p>
            <a:pPr marL="0" indent="0" algn="l">
              <a:lnSpc>
                <a:spcPct val="100000"/>
              </a:lnSpc>
              <a:buNone/>
            </a:pPr>
            <a:r>
              <a:rPr lang="es-ES" sz="850" b="1" dirty="0">
                <a:solidFill>
                  <a:srgbClr val="0EA5B0"/>
                </a:solidFill>
                <a:latin typeface="Calibri" pitchFamily="34" charset="0"/>
              </a:rPr>
              <a:t>Origen del Ke (CAPM): </a:t>
            </a:r>
            <a:r>
              <a:rPr lang="es-ES" sz="850" dirty="0">
                <a:solidFill>
                  <a:srgbClr val="64748B"/>
                </a:solidFill>
                <a:latin typeface="Calibri" pitchFamily="34" charset="0"/>
              </a:rPr>
              <a:t>Rf 3,4 % (bono español 10 años) + β 1,30 × prima de mercado 5,78 % + prima startup 1,0 % = 11,9 % ≈ 12 % nominal → 8,74 % real (Fisher, inflación 3 %).</a:t>
            </a:r>
          </a:p>
          <a:p>
            <a:pPr marL="0" indent="0" algn="l">
              <a:lnSpc>
                <a:spcPct val="100000"/>
              </a:lnSpc>
              <a:buNone/>
            </a:pPr>
            <a:r>
              <a:rPr lang="es-ES" sz="850" i="1" dirty="0">
                <a:solidFill>
                  <a:srgbClr val="64748B"/>
                </a:solidFill>
                <a:latin typeface="Calibri" pitchFamily="34" charset="0"/>
              </a:rPr>
              <a:t>β 1,30 = valor intermedio entre Software-Internet (1,55) y Software/Aplicaciones (1,23), estimaciones de Damodaran ene-2026. Magnitudes en euros constantes de 2026.</a:t>
            </a:r>
            <a:endParaRPr lang="es-ES" sz="850" i="1" dirty="0"/>
          </a:p>
        </p:txBody>
      </p:sp>
      <p:sp>
        <p:nvSpPr>
          <p:cNvPr id="15" name="FooterBrand"/>
          <p:cNvSpPr/>
          <p:nvPr/>
        </p:nvSpPr>
        <p:spPr>
          <a:xfrm>
            <a:off x="548640" y="6510528"/>
            <a:ext cx="7315200" cy="274320"/>
          </a:xfrm>
          <a:prstGeom prst="rect">
            <a:avLst/>
          </a:prstGeom>
          <a:noFill/>
          <a:ln/>
        </p:spPr>
        <p:txBody>
          <a:bodyPr wrap="square" lIns="0" tIns="0" rIns="0" bIns="0" rtlCol="0" anchor="ctr"/>
          <a:lstStyle/>
          <a:p>
            <a:pPr marL="0" indent="0" algn="l">
              <a:buNone/>
            </a:pPr>
            <a:r>
              <a:rPr lang="es-ES" sz="900" dirty="0">
                <a:solidFill>
                  <a:srgbClr val="64748B"/>
                </a:solidFill>
                <a:latin typeface="Calibri" pitchFamily="34" charset="0"/>
              </a:rPr>
              <a:t>QuantumVault S.L.  ·  Evaluación de Proyecto de Inversión</a:t>
            </a:r>
            <a:endParaRPr lang="es-ES" sz="900" dirty="0"/>
          </a:p>
        </p:txBody>
      </p:sp>
      <p:sp>
        <p:nvSpPr>
          <p:cNvPr id="16" name="FooterPage"/>
          <p:cNvSpPr/>
          <p:nvPr/>
        </p:nvSpPr>
        <p:spPr>
          <a:xfrm>
            <a:off x="10545775" y="6510528"/>
            <a:ext cx="1097280" cy="274320"/>
          </a:xfrm>
          <a:prstGeom prst="rect">
            <a:avLst/>
          </a:prstGeom>
          <a:noFill/>
          <a:ln/>
        </p:spPr>
        <p:txBody>
          <a:bodyPr wrap="square" lIns="0" tIns="0" rIns="0" bIns="0" rtlCol="0" anchor="ctr"/>
          <a:lstStyle/>
          <a:p>
            <a:pPr marL="0" indent="0" algn="r">
              <a:buNone/>
            </a:pPr>
            <a:r>
              <a:rPr lang="es-ES" sz="900" dirty="0">
                <a:solidFill>
                  <a:srgbClr val="64748B"/>
                </a:solidFill>
                <a:latin typeface="Calibri" pitchFamily="34" charset="0"/>
              </a:rPr>
              <a:t>06 / 15</a:t>
            </a:r>
            <a:endParaRPr lang="es-E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06</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INVERSIÓN INICIAL</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300" b="1" dirty="0">
                <a:solidFill>
                  <a:srgbClr val="0A1A33"/>
                </a:solidFill>
                <a:latin typeface="Cambria" pitchFamily="34" charset="0"/>
                <a:ea typeface="Cambria" pitchFamily="34" charset="-122"/>
                <a:cs typeface="Cambria" pitchFamily="34" charset="-120"/>
              </a:rPr>
              <a:t>153.500 € de inversión, con el software como partida dominante</a:t>
            </a:r>
            <a:endParaRPr lang="en-US" sz="2300" dirty="0"/>
          </a:p>
        </p:txBody>
      </p:sp>
      <p:sp>
        <p:nvSpPr>
          <p:cNvPr id="6" name="Shape 4"/>
          <p:cNvSpPr/>
          <p:nvPr/>
        </p:nvSpPr>
        <p:spPr>
          <a:xfrm>
            <a:off x="548640" y="1874520"/>
            <a:ext cx="4846320" cy="4160520"/>
          </a:xfrm>
          <a:prstGeom prst="roundRect">
            <a:avLst>
              <a:gd name="adj" fmla="val 197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graphicFrame>
        <p:nvGraphicFramePr>
          <p:cNvPr id="7" name="Chart 0"/>
          <p:cNvGraphicFramePr/>
          <p:nvPr/>
        </p:nvGraphicFramePr>
        <p:xfrm>
          <a:off x="777240" y="2103120"/>
          <a:ext cx="43891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777240" y="4709160"/>
            <a:ext cx="4389120" cy="274320"/>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CAPEX / </a:t>
            </a:r>
            <a:r>
              <a:rPr lang="en-US" sz="1050" b="1" dirty="0" err="1">
                <a:solidFill>
                  <a:srgbClr val="64748B"/>
                </a:solidFill>
                <a:latin typeface="Calibri" pitchFamily="34" charset="0"/>
                <a:ea typeface="Calibri" pitchFamily="34" charset="-122"/>
                <a:cs typeface="Calibri" pitchFamily="34" charset="-120"/>
              </a:rPr>
              <a:t>Inversión</a:t>
            </a:r>
            <a:r>
              <a:rPr lang="en-US" sz="1050" b="1" dirty="0">
                <a:solidFill>
                  <a:srgbClr val="64748B"/>
                </a:solidFill>
                <a:latin typeface="Calibri" pitchFamily="34" charset="0"/>
                <a:ea typeface="Calibri" pitchFamily="34" charset="-122"/>
                <a:cs typeface="Calibri" pitchFamily="34" charset="-120"/>
              </a:rPr>
              <a:t> </a:t>
            </a:r>
            <a:r>
              <a:rPr lang="en-US" sz="1050" b="1" dirty="0" err="1">
                <a:solidFill>
                  <a:srgbClr val="64748B"/>
                </a:solidFill>
                <a:latin typeface="Calibri" pitchFamily="34" charset="0"/>
                <a:ea typeface="Calibri" pitchFamily="34" charset="-122"/>
                <a:cs typeface="Calibri" pitchFamily="34" charset="-120"/>
              </a:rPr>
              <a:t>inicial</a:t>
            </a:r>
            <a:r>
              <a:rPr lang="en-US" sz="1050" b="1" dirty="0">
                <a:solidFill>
                  <a:srgbClr val="64748B"/>
                </a:solidFill>
                <a:latin typeface="Calibri" pitchFamily="34" charset="0"/>
                <a:ea typeface="Calibri" pitchFamily="34" charset="-122"/>
                <a:cs typeface="Calibri" pitchFamily="34" charset="-120"/>
              </a:rPr>
              <a:t> + Capital de </a:t>
            </a:r>
            <a:r>
              <a:rPr lang="en-US" sz="1050" b="1" dirty="0" err="1">
                <a:solidFill>
                  <a:srgbClr val="64748B"/>
                </a:solidFill>
                <a:latin typeface="Calibri" pitchFamily="34" charset="0"/>
                <a:ea typeface="Calibri" pitchFamily="34" charset="-122"/>
                <a:cs typeface="Calibri" pitchFamily="34" charset="-120"/>
              </a:rPr>
              <a:t>Trabajo</a:t>
            </a:r>
            <a:endParaRPr lang="en-US" sz="1050" dirty="0"/>
          </a:p>
        </p:txBody>
      </p:sp>
      <p:sp>
        <p:nvSpPr>
          <p:cNvPr id="9" name="Text 6"/>
          <p:cNvSpPr/>
          <p:nvPr/>
        </p:nvSpPr>
        <p:spPr>
          <a:xfrm>
            <a:off x="777240" y="4983480"/>
            <a:ext cx="4389120" cy="868680"/>
          </a:xfrm>
          <a:prstGeom prst="rect">
            <a:avLst/>
          </a:prstGeom>
          <a:noFill/>
          <a:ln/>
        </p:spPr>
        <p:txBody>
          <a:bodyPr wrap="square" lIns="0" tIns="0" rIns="0" bIns="0" rtlCol="0" anchor="ctr"/>
          <a:lstStyle/>
          <a:p>
            <a:pPr marL="0" indent="0" algn="ctr">
              <a:lnSpc>
                <a:spcPct val="120000"/>
              </a:lnSpc>
              <a:buNone/>
            </a:pPr>
            <a:r>
              <a:rPr lang="en-US" sz="2600" b="1" dirty="0">
                <a:solidFill>
                  <a:srgbClr val="0A1A33"/>
                </a:solidFill>
                <a:latin typeface="Calibri" pitchFamily="34" charset="0"/>
                <a:ea typeface="Calibri" pitchFamily="34" charset="-122"/>
                <a:cs typeface="Calibri" pitchFamily="34" charset="-120"/>
              </a:rPr>
              <a:t>153.500 €</a:t>
            </a:r>
            <a:endParaRPr lang="en-US" sz="2600" dirty="0"/>
          </a:p>
          <a:p>
            <a:pPr marL="0" indent="0" algn="ctr">
              <a:lnSpc>
                <a:spcPct val="120000"/>
              </a:lnSpc>
              <a:buNone/>
            </a:pPr>
            <a:r>
              <a:rPr lang="en-US" sz="1000" dirty="0">
                <a:solidFill>
                  <a:srgbClr val="64748B"/>
                </a:solidFill>
                <a:latin typeface="Calibri" pitchFamily="34" charset="0"/>
                <a:ea typeface="Calibri" pitchFamily="34" charset="-122"/>
                <a:cs typeface="Calibri" pitchFamily="34" charset="-120"/>
              </a:rPr>
              <a:t>Capital de trabajo recuperable en el año 5: 25.000 €</a:t>
            </a:r>
            <a:endParaRPr lang="en-US" sz="2600" dirty="0"/>
          </a:p>
        </p:txBody>
      </p:sp>
      <p:graphicFrame>
        <p:nvGraphicFramePr>
          <p:cNvPr id="10" name="Table 0"/>
          <p:cNvGraphicFramePr>
            <a:graphicFrameLocks noGrp="1"/>
          </p:cNvGraphicFramePr>
          <p:nvPr/>
        </p:nvGraphicFramePr>
        <p:xfrm>
          <a:off x="5715000" y="1796520"/>
          <a:ext cx="5928055" cy="3630000"/>
        </p:xfrm>
        <a:graphic>
          <a:graphicData uri="http://schemas.openxmlformats.org/drawingml/2006/table">
            <a:tbl>
              <a:tblPr/>
              <a:tblGrid>
                <a:gridCol w="4255394">
                  <a:extLst>
                    <a:ext uri="{9D8B030D-6E8A-4147-A177-3AD203B41FA5}">
                      <a16:colId xmlns:a16="http://schemas.microsoft.com/office/drawing/2014/main" val="20000"/>
                    </a:ext>
                  </a:extLst>
                </a:gridCol>
                <a:gridCol w="1672661">
                  <a:extLst>
                    <a:ext uri="{9D8B030D-6E8A-4147-A177-3AD203B41FA5}">
                      <a16:colId xmlns:a16="http://schemas.microsoft.com/office/drawing/2014/main" val="20001"/>
                    </a:ext>
                  </a:extLst>
                </a:gridCol>
              </a:tblGrid>
              <a:tr h="300000">
                <a:tc>
                  <a:txBody>
                    <a:bodyPr/>
                    <a:lstStyle/>
                    <a:p>
                      <a:pPr marL="0" indent="0" algn="l">
                        <a:buNone/>
                      </a:pPr>
                      <a:r>
                        <a:rPr lang="es-ES" sz="1100" b="1" dirty="0">
                          <a:solidFill>
                            <a:srgbClr val="FFFFFF"/>
                          </a:solidFill>
                          <a:latin typeface="Calibri" pitchFamily="34" charset="0"/>
                        </a:rPr>
                        <a:t>Concepto</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s-ES" sz="1100" b="1" dirty="0">
                          <a:solidFill>
                            <a:srgbClr val="FFFFFF"/>
                          </a:solidFill>
                          <a:latin typeface="Calibri" pitchFamily="34" charset="0"/>
                        </a:rPr>
                        <a:t>Importe</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extLst>
                  <a:ext uri="{0D108BD9-81ED-4DB2-BD59-A6C34878D82A}">
                    <a16:rowId xmlns:a16="http://schemas.microsoft.com/office/drawing/2014/main" val="10000"/>
                  </a:ext>
                </a:extLst>
              </a:tr>
              <a:tr h="430000">
                <a:tc>
                  <a:txBody>
                    <a:bodyPr/>
                    <a:lstStyle/>
                    <a:p>
                      <a:pPr marL="0" indent="0" algn="l">
                        <a:buNone/>
                      </a:pPr>
                      <a:r>
                        <a:rPr lang="es-ES" sz="1050" b="1" dirty="0">
                          <a:solidFill>
                            <a:srgbClr val="152238"/>
                          </a:solidFill>
                          <a:latin typeface="Calibri" pitchFamily="34" charset="0"/>
                        </a:rPr>
                        <a:t>Desarrollo software</a:t>
                      </a:r>
                    </a:p>
                    <a:p>
                      <a:pPr marL="0" indent="0" algn="l">
                        <a:buNone/>
                      </a:pPr>
                      <a:r>
                        <a:rPr lang="es-ES" sz="800" dirty="0">
                          <a:solidFill>
                            <a:srgbClr val="64748B"/>
                          </a:solidFill>
                          <a:latin typeface="Calibri" pitchFamily="34" charset="0"/>
                        </a:rPr>
                        <a:t>Producto a medida · vida útil 5 años</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100" b="1" dirty="0">
                          <a:solidFill>
                            <a:srgbClr val="0A1A33"/>
                          </a:solidFill>
                          <a:latin typeface="Calibri" pitchFamily="34" charset="0"/>
                        </a:rPr>
                        <a:t>80.000 €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0000">
                <a:tc>
                  <a:txBody>
                    <a:bodyPr/>
                    <a:lstStyle/>
                    <a:p>
                      <a:pPr marL="0" indent="0" algn="l">
                        <a:buNone/>
                      </a:pPr>
                      <a:r>
                        <a:rPr lang="es-ES" sz="1050" b="1" dirty="0">
                          <a:solidFill>
                            <a:srgbClr val="152238"/>
                          </a:solidFill>
                          <a:latin typeface="Calibri" pitchFamily="34" charset="0"/>
                        </a:rPr>
                        <a:t>Auditoría de seguridad</a:t>
                      </a:r>
                    </a:p>
                    <a:p>
                      <a:pPr marL="0" indent="0" algn="l">
                        <a:buNone/>
                      </a:pPr>
                      <a:r>
                        <a:rPr lang="es-ES" sz="800" dirty="0">
                          <a:solidFill>
                            <a:srgbClr val="64748B"/>
                          </a:solidFill>
                          <a:latin typeface="Calibri" pitchFamily="34" charset="0"/>
                        </a:rPr>
                        <a:t>Seguridad y cumplimiento (ver Estudio legal)</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100" b="1" dirty="0">
                          <a:solidFill>
                            <a:srgbClr val="0A1A33"/>
                          </a:solidFill>
                          <a:latin typeface="Calibri" pitchFamily="34" charset="0"/>
                        </a:rPr>
                        <a:t>15.000 €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430000">
                <a:tc>
                  <a:txBody>
                    <a:bodyPr/>
                    <a:lstStyle/>
                    <a:p>
                      <a:pPr marL="0" indent="0" algn="l">
                        <a:buNone/>
                      </a:pPr>
                      <a:r>
                        <a:rPr lang="es-ES" sz="1050" b="1" dirty="0">
                          <a:solidFill>
                            <a:srgbClr val="152238"/>
                          </a:solidFill>
                          <a:latin typeface="Calibri" pitchFamily="34" charset="0"/>
                        </a:rPr>
                        <a:t>Marketing de lanzamiento</a:t>
                      </a:r>
                    </a:p>
                    <a:p>
                      <a:pPr marL="0" indent="0" algn="l">
                        <a:buNone/>
                      </a:pPr>
                      <a:r>
                        <a:rPr lang="es-ES" sz="800" dirty="0">
                          <a:solidFill>
                            <a:srgbClr val="64748B"/>
                          </a:solidFill>
                          <a:latin typeface="Calibri" pitchFamily="34" charset="0"/>
                        </a:rPr>
                        <a:t>Web 3.000 € + publicidad 10.000 € + branding 2.000 €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100" b="1" dirty="0">
                          <a:solidFill>
                            <a:srgbClr val="0A1A33"/>
                          </a:solidFill>
                          <a:latin typeface="Calibri" pitchFamily="34" charset="0"/>
                        </a:rPr>
                        <a:t>15.000 €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0000">
                <a:tc>
                  <a:txBody>
                    <a:bodyPr/>
                    <a:lstStyle/>
                    <a:p>
                      <a:pPr marL="0" indent="0" algn="l">
                        <a:buNone/>
                      </a:pPr>
                      <a:r>
                        <a:rPr lang="es-ES" sz="1050" b="1" dirty="0">
                          <a:solidFill>
                            <a:srgbClr val="152238"/>
                          </a:solidFill>
                          <a:latin typeface="Calibri" pitchFamily="34" charset="0"/>
                        </a:rPr>
                        <a:t>Capital de trabajo inicial</a:t>
                      </a:r>
                    </a:p>
                    <a:p>
                      <a:pPr marL="0" indent="0" algn="l">
                        <a:buNone/>
                      </a:pPr>
                      <a:r>
                        <a:rPr lang="es-ES" sz="800" dirty="0">
                          <a:solidFill>
                            <a:srgbClr val="64748B"/>
                          </a:solidFill>
                          <a:latin typeface="Calibri" pitchFamily="34" charset="0"/>
                        </a:rPr>
                        <a:t>Recuperable en el año 5</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100" b="1" dirty="0">
                          <a:solidFill>
                            <a:srgbClr val="0A1A33"/>
                          </a:solidFill>
                          <a:latin typeface="Calibri" pitchFamily="34" charset="0"/>
                        </a:rPr>
                        <a:t>25.000 €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430000">
                <a:tc>
                  <a:txBody>
                    <a:bodyPr/>
                    <a:lstStyle/>
                    <a:p>
                      <a:pPr marL="0" indent="0" algn="l">
                        <a:buNone/>
                      </a:pPr>
                      <a:r>
                        <a:rPr lang="es-ES" sz="1050" b="1" dirty="0">
                          <a:solidFill>
                            <a:srgbClr val="152238"/>
                          </a:solidFill>
                          <a:latin typeface="Calibri" pitchFamily="34" charset="0"/>
                        </a:rPr>
                        <a:t>Equipamiento informático</a:t>
                      </a:r>
                    </a:p>
                    <a:p>
                      <a:pPr marL="0" indent="0" algn="l">
                        <a:buNone/>
                      </a:pPr>
                      <a:r>
                        <a:rPr lang="es-ES" sz="800" dirty="0">
                          <a:solidFill>
                            <a:srgbClr val="64748B"/>
                          </a:solidFill>
                          <a:latin typeface="Calibri" pitchFamily="34" charset="0"/>
                        </a:rPr>
                        <a:t>3 portátiles × 2.000 € + 3 monitores × 500 €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100" b="1" dirty="0">
                          <a:solidFill>
                            <a:srgbClr val="0A1A33"/>
                          </a:solidFill>
                          <a:latin typeface="Calibri" pitchFamily="34" charset="0"/>
                        </a:rPr>
                        <a:t>7.500 €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0000">
                <a:tc>
                  <a:txBody>
                    <a:bodyPr/>
                    <a:lstStyle/>
                    <a:p>
                      <a:pPr marL="0" indent="0" algn="l">
                        <a:buNone/>
                      </a:pPr>
                      <a:r>
                        <a:rPr lang="es-ES" sz="1050" b="1" dirty="0">
                          <a:solidFill>
                            <a:srgbClr val="152238"/>
                          </a:solidFill>
                          <a:latin typeface="Calibri" pitchFamily="34" charset="0"/>
                        </a:rPr>
                        <a:t>Constitución y gastos legales</a:t>
                      </a:r>
                    </a:p>
                    <a:p>
                      <a:pPr marL="0" indent="0" algn="l">
                        <a:buNone/>
                      </a:pPr>
                      <a:r>
                        <a:rPr lang="es-ES" sz="800" dirty="0">
                          <a:solidFill>
                            <a:srgbClr val="64748B"/>
                          </a:solidFill>
                          <a:latin typeface="Calibri" pitchFamily="34" charset="0"/>
                        </a:rPr>
                        <a:t>Constitución 1.000 € + asesoría 4.000 € + legales 1.000 €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100" b="1" dirty="0">
                          <a:solidFill>
                            <a:srgbClr val="0A1A33"/>
                          </a:solidFill>
                          <a:latin typeface="Calibri" pitchFamily="34" charset="0"/>
                        </a:rPr>
                        <a:t>6.000 €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r h="430000">
                <a:tc>
                  <a:txBody>
                    <a:bodyPr/>
                    <a:lstStyle/>
                    <a:p>
                      <a:pPr marL="0" indent="0" algn="l">
                        <a:buNone/>
                      </a:pPr>
                      <a:r>
                        <a:rPr lang="es-ES" sz="1050" b="1" dirty="0">
                          <a:solidFill>
                            <a:srgbClr val="152238"/>
                          </a:solidFill>
                          <a:latin typeface="Calibri" pitchFamily="34" charset="0"/>
                        </a:rPr>
                        <a:t>Diseño UX/UI</a:t>
                      </a:r>
                    </a:p>
                    <a:p>
                      <a:pPr marL="0" indent="0" algn="l">
                        <a:buNone/>
                      </a:pPr>
                      <a:r>
                        <a:rPr lang="es-ES" sz="800" dirty="0">
                          <a:solidFill>
                            <a:srgbClr val="64748B"/>
                          </a:solidFill>
                          <a:latin typeface="Calibri" pitchFamily="34" charset="0"/>
                        </a:rPr>
                        <a:t>Diseño de interfaz y experiencia de usuario</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100" b="1" dirty="0">
                          <a:solidFill>
                            <a:srgbClr val="0A1A33"/>
                          </a:solidFill>
                          <a:latin typeface="Calibri" pitchFamily="34" charset="0"/>
                        </a:rPr>
                        <a:t>5.000 €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00">
                <a:tc>
                  <a:txBody>
                    <a:bodyPr/>
                    <a:lstStyle/>
                    <a:p>
                      <a:pPr marL="0" indent="0" algn="l">
                        <a:buNone/>
                      </a:pPr>
                      <a:r>
                        <a:rPr lang="es-ES" sz="1100" b="1" dirty="0">
                          <a:solidFill>
                            <a:srgbClr val="FFFFFF"/>
                          </a:solidFill>
                          <a:latin typeface="Calibri" pitchFamily="34" charset="0"/>
                        </a:rPr>
                        <a:t>TOTAL INVERSIÓN INICIAL</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EA5B0"/>
                    </a:solidFill>
                  </a:tcPr>
                </a:tc>
                <a:tc>
                  <a:txBody>
                    <a:bodyPr/>
                    <a:lstStyle/>
                    <a:p>
                      <a:pPr marL="0" indent="0" algn="r">
                        <a:buNone/>
                      </a:pPr>
                      <a:r>
                        <a:rPr lang="es-ES" sz="1100" b="1" dirty="0">
                          <a:solidFill>
                            <a:srgbClr val="FFFFFF"/>
                          </a:solidFill>
                          <a:latin typeface="Calibri" pitchFamily="34" charset="0"/>
                        </a:rPr>
                        <a:t>153.500 €</a:t>
                      </a:r>
                    </a:p>
                  </a:txBody>
                  <a:tcPr marT="36000" marB="36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EA5B0"/>
                    </a:solidFill>
                  </a:tcPr>
                </a:tc>
                <a:extLst>
                  <a:ext uri="{0D108BD9-81ED-4DB2-BD59-A6C34878D82A}">
                    <a16:rowId xmlns:a16="http://schemas.microsoft.com/office/drawing/2014/main" val="10008"/>
                  </a:ext>
                </a:extLst>
              </a:tr>
            </a:tbl>
          </a:graphicData>
        </a:graphic>
      </p:graphicFrame>
      <p:sp>
        <p:nvSpPr>
          <p:cNvPr id="11" name="Text 7"/>
          <p:cNvSpPr/>
          <p:nvPr/>
        </p:nvSpPr>
        <p:spPr>
          <a:xfrm>
            <a:off x="5715000" y="5468524"/>
            <a:ext cx="5928055" cy="500000"/>
          </a:xfrm>
          <a:prstGeom prst="rect">
            <a:avLst/>
          </a:prstGeom>
          <a:noFill/>
          <a:ln/>
        </p:spPr>
        <p:txBody>
          <a:bodyPr wrap="square" lIns="0" tIns="0" rIns="0" bIns="0" rtlCol="0" anchor="ctr"/>
          <a:lstStyle/>
          <a:p>
            <a:pPr marL="0" indent="0">
              <a:lnSpc>
                <a:spcPct val="125000"/>
              </a:lnSpc>
              <a:buNone/>
            </a:pPr>
            <a:r>
              <a:rPr lang="en-US" sz="1050" i="1" dirty="0">
                <a:solidFill>
                  <a:srgbClr val="64748B"/>
                </a:solidFill>
                <a:latin typeface="Calibri" pitchFamily="34" charset="0"/>
                <a:ea typeface="Calibri" pitchFamily="34" charset="-122"/>
                <a:cs typeface="Calibri" pitchFamily="34" charset="-120"/>
              </a:rPr>
              <a:t>Depreciación anual total: 17.875 € (16.000 € software a 5 años + 1.875 € equipamiento a 4 años). No es salida de caja, pero reduce el resultado contable.</a:t>
            </a:r>
            <a:endParaRPr lang="en-US" sz="1050" dirty="0"/>
          </a:p>
        </p:txBody>
      </p:sp>
      <p:sp>
        <p:nvSpPr>
          <p:cNvPr id="12" name="Text 8"/>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13" name="Text 9"/>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stes operativos">
    <p:bg>
      <p:bgPr>
        <a:solidFill>
          <a:srgbClr val="F5F8FB"/>
        </a:solidFill>
        <a:effectLst/>
      </p:bgPr>
    </p:bg>
    <p:spTree>
      <p:nvGrpSpPr>
        <p:cNvPr id="1" name=""/>
        <p:cNvGrpSpPr/>
        <p:nvPr/>
      </p:nvGrpSpPr>
      <p:grpSpPr>
        <a:xfrm>
          <a:off x="0" y="0"/>
          <a:ext cx="0" cy="0"/>
          <a:chOff x="0" y="0"/>
          <a:chExt cx="0" cy="0"/>
        </a:xfrm>
      </p:grpSpPr>
      <p:sp>
        <p:nvSpPr>
          <p:cNvPr id="2" name="Badge"/>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BadgeTxt"/>
          <p:cNvSpPr/>
          <p:nvPr/>
        </p:nvSpPr>
        <p:spPr>
          <a:xfrm>
            <a:off x="548640" y="457200"/>
            <a:ext cx="457200" cy="365760"/>
          </a:xfrm>
          <a:prstGeom prst="rect">
            <a:avLst/>
          </a:prstGeom>
          <a:noFill/>
          <a:ln/>
        </p:spPr>
        <p:txBody>
          <a:bodyPr wrap="square" lIns="0" tIns="0" rIns="0" bIns="0" rtlCol="0" anchor="ctr"/>
          <a:lstStyle/>
          <a:p>
            <a:pPr marL="0" indent="0" algn="ctr">
              <a:buNone/>
            </a:pPr>
            <a:r>
              <a:rPr lang="es-ES" sz="1500" b="1" dirty="0">
                <a:solidFill>
                  <a:srgbClr val="FFFFFF"/>
                </a:solidFill>
                <a:latin typeface="Cambria" pitchFamily="34" charset="0"/>
                <a:cs typeface="Cambria"/>
              </a:rPr>
              <a:t>07</a:t>
            </a:r>
          </a:p>
        </p:txBody>
      </p:sp>
      <p:sp>
        <p:nvSpPr>
          <p:cNvPr id="4" name="Label"/>
          <p:cNvSpPr/>
          <p:nvPr/>
        </p:nvSpPr>
        <p:spPr>
          <a:xfrm>
            <a:off x="1115568" y="457200"/>
            <a:ext cx="9000000" cy="365760"/>
          </a:xfrm>
          <a:prstGeom prst="rect">
            <a:avLst/>
          </a:prstGeom>
          <a:noFill/>
          <a:ln/>
        </p:spPr>
        <p:txBody>
          <a:bodyPr wrap="square" lIns="0" tIns="0" rIns="0" bIns="0" rtlCol="0" anchor="ctr"/>
          <a:lstStyle/>
          <a:p>
            <a:pPr marL="0" indent="0" algn="l">
              <a:buNone/>
            </a:pPr>
            <a:r>
              <a:rPr lang="es-ES" sz="1200" b="1" kern="0" spc="200" dirty="0">
                <a:solidFill>
                  <a:srgbClr val="64748B"/>
                </a:solidFill>
                <a:latin typeface="Calibri" pitchFamily="34" charset="0"/>
              </a:rPr>
              <a:t>COSTES OPERATIVOS</a:t>
            </a:r>
          </a:p>
        </p:txBody>
      </p:sp>
      <p:sp>
        <p:nvSpPr>
          <p:cNvPr id="5" name="Title"/>
          <p:cNvSpPr/>
          <p:nvPr/>
        </p:nvSpPr>
        <p:spPr>
          <a:xfrm>
            <a:off x="548640" y="896112"/>
            <a:ext cx="11094720" cy="777240"/>
          </a:xfrm>
          <a:prstGeom prst="rect">
            <a:avLst/>
          </a:prstGeom>
          <a:noFill/>
          <a:ln/>
        </p:spPr>
        <p:txBody>
          <a:bodyPr wrap="square" lIns="0" tIns="0" rIns="0" bIns="0" rtlCol="0" anchor="t"/>
          <a:lstStyle/>
          <a:p>
            <a:pPr marL="0" indent="0" algn="l">
              <a:lnSpc>
                <a:spcPct val="102000"/>
              </a:lnSpc>
              <a:buNone/>
            </a:pPr>
            <a:r>
              <a:rPr lang="es-ES" sz="2300" b="1" dirty="0">
                <a:solidFill>
                  <a:srgbClr val="0A1A33"/>
                </a:solidFill>
                <a:latin typeface="Cambria" pitchFamily="34" charset="0"/>
                <a:cs typeface="Cambria"/>
              </a:rPr>
              <a:t>Costes fijos de 142.440 € en el año 1, dominados por el personal</a:t>
            </a:r>
          </a:p>
        </p:txBody>
      </p:sp>
      <p:sp>
        <p:nvSpPr>
          <p:cNvPr id="6" name="LeftCard"/>
          <p:cNvSpPr/>
          <p:nvPr/>
        </p:nvSpPr>
        <p:spPr>
          <a:xfrm>
            <a:off x="548640" y="1796520"/>
            <a:ext cx="7000000" cy="3750000"/>
          </a:xfrm>
          <a:prstGeom prst="roundRect">
            <a:avLst>
              <a:gd name="adj" fmla="val 4200"/>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Cap"/>
          <p:cNvSpPr/>
          <p:nvPr/>
        </p:nvSpPr>
        <p:spPr>
          <a:xfrm>
            <a:off x="777240" y="1960000"/>
            <a:ext cx="6580000" cy="274320"/>
          </a:xfrm>
          <a:prstGeom prst="rect">
            <a:avLst/>
          </a:prstGeom>
          <a:noFill/>
          <a:ln/>
        </p:spPr>
        <p:txBody>
          <a:bodyPr wrap="square" lIns="0" tIns="0" rIns="0" bIns="0" rtlCol="0" anchor="ctr"/>
          <a:lstStyle/>
          <a:p>
            <a:pPr marL="0" indent="0" algn="l">
              <a:buNone/>
            </a:pPr>
            <a:r>
              <a:rPr lang="es-ES" sz="1050" b="1" dirty="0">
                <a:solidFill>
                  <a:srgbClr val="64748B"/>
                </a:solidFill>
                <a:latin typeface="Calibri" pitchFamily="34" charset="0"/>
              </a:rPr>
              <a:t>Costes fijos — estructura del año 1</a:t>
            </a:r>
          </a:p>
        </p:txBody>
      </p:sp>
      <p:graphicFrame>
        <p:nvGraphicFramePr>
          <p:cNvPr id="30" name="TablaCostes"/>
          <p:cNvGraphicFramePr>
            <a:graphicFrameLocks noGrp="1"/>
          </p:cNvGraphicFramePr>
          <p:nvPr>
            <p:extLst>
              <p:ext uri="{D42A27DB-BD31-4B8C-83A1-F6EECF244321}">
                <p14:modId xmlns:p14="http://schemas.microsoft.com/office/powerpoint/2010/main" val="4096224719"/>
              </p:ext>
            </p:extLst>
          </p:nvPr>
        </p:nvGraphicFramePr>
        <p:xfrm>
          <a:off x="777240" y="2240000"/>
          <a:ext cx="6580000" cy="2988320"/>
        </p:xfrm>
        <a:graphic>
          <a:graphicData uri="http://schemas.openxmlformats.org/drawingml/2006/table">
            <a:tbl>
              <a:tblPr/>
              <a:tblGrid>
                <a:gridCol w="4170000">
                  <a:extLst>
                    <a:ext uri="{9D8B030D-6E8A-4147-A177-3AD203B41FA5}">
                      <a16:colId xmlns:a16="http://schemas.microsoft.com/office/drawing/2014/main" val="20000"/>
                    </a:ext>
                  </a:extLst>
                </a:gridCol>
                <a:gridCol w="1410000">
                  <a:extLst>
                    <a:ext uri="{9D8B030D-6E8A-4147-A177-3AD203B41FA5}">
                      <a16:colId xmlns:a16="http://schemas.microsoft.com/office/drawing/2014/main" val="20001"/>
                    </a:ext>
                  </a:extLst>
                </a:gridCol>
                <a:gridCol w="1000000">
                  <a:extLst>
                    <a:ext uri="{9D8B030D-6E8A-4147-A177-3AD203B41FA5}">
                      <a16:colId xmlns:a16="http://schemas.microsoft.com/office/drawing/2014/main" val="20002"/>
                    </a:ext>
                  </a:extLst>
                </a:gridCol>
              </a:tblGrid>
              <a:tr h="300000">
                <a:tc>
                  <a:txBody>
                    <a:bodyPr/>
                    <a:lstStyle/>
                    <a:p>
                      <a:pPr marL="0" indent="0" algn="l">
                        <a:buNone/>
                      </a:pPr>
                      <a:r>
                        <a:rPr lang="es-ES" sz="1050" b="1" dirty="0">
                          <a:solidFill>
                            <a:srgbClr val="FFFFFF"/>
                          </a:solidFill>
                          <a:latin typeface="Calibri" pitchFamily="34" charset="0"/>
                        </a:rPr>
                        <a:t>Partida</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s-ES" sz="1050" b="1" dirty="0">
                          <a:solidFill>
                            <a:srgbClr val="FFFFFF"/>
                          </a:solidFill>
                          <a:latin typeface="Calibri" pitchFamily="34" charset="0"/>
                        </a:rPr>
                        <a:t>Año 1</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s-ES" sz="1050" b="1" dirty="0">
                          <a:solidFill>
                            <a:srgbClr val="FFFFFF"/>
                          </a:solidFill>
                          <a:latin typeface="Calibri" pitchFamily="34" charset="0"/>
                        </a:rPr>
                        <a:t>Crec.</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extLst>
                  <a:ext uri="{0D108BD9-81ED-4DB2-BD59-A6C34878D82A}">
                    <a16:rowId xmlns:a16="http://schemas.microsoft.com/office/drawing/2014/main" val="10000"/>
                  </a:ext>
                </a:extLst>
              </a:tr>
              <a:tr h="470000">
                <a:tc>
                  <a:txBody>
                    <a:bodyPr/>
                    <a:lstStyle/>
                    <a:p>
                      <a:pPr marL="0" indent="0" algn="l">
                        <a:buNone/>
                      </a:pPr>
                      <a:r>
                        <a:rPr lang="es-ES" sz="1000" b="1" dirty="0">
                          <a:solidFill>
                            <a:srgbClr val="152238"/>
                          </a:solidFill>
                          <a:latin typeface="Calibri" pitchFamily="34" charset="0"/>
                        </a:rPr>
                        <a:t>Personal</a:t>
                      </a:r>
                    </a:p>
                    <a:p>
                      <a:pPr marL="0" indent="0" algn="l">
                        <a:buNone/>
                      </a:pPr>
                      <a:r>
                        <a:rPr lang="es-ES" sz="750" dirty="0">
                          <a:solidFill>
                            <a:srgbClr val="64748B"/>
                          </a:solidFill>
                          <a:latin typeface="Calibri" pitchFamily="34" charset="0"/>
                        </a:rPr>
                        <a:t>2 desarrolladores full-stack (40.000 €) + 1 director-gerente (30.000 €)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110.000 €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950" dirty="0">
                          <a:solidFill>
                            <a:srgbClr val="64748B"/>
                          </a:solidFill>
                          <a:latin typeface="Calibri" pitchFamily="34" charset="0"/>
                        </a:rPr>
                        <a:t>+3 %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0000">
                <a:tc>
                  <a:txBody>
                    <a:bodyPr/>
                    <a:lstStyle/>
                    <a:p>
                      <a:pPr marL="0" indent="0" algn="l">
                        <a:buNone/>
                      </a:pPr>
                      <a:r>
                        <a:rPr lang="es-ES" sz="1000" b="1" dirty="0">
                          <a:solidFill>
                            <a:srgbClr val="152238"/>
                          </a:solidFill>
                          <a:latin typeface="Calibri" pitchFamily="34" charset="0"/>
                        </a:rPr>
                        <a:t>Infraestructura AWS</a:t>
                      </a:r>
                    </a:p>
                    <a:p>
                      <a:pPr marL="0" indent="0" algn="l">
                        <a:buNone/>
                      </a:pPr>
                      <a:r>
                        <a:rPr lang="es-ES" sz="750" dirty="0">
                          <a:solidFill>
                            <a:srgbClr val="64748B"/>
                          </a:solidFill>
                          <a:latin typeface="Calibri" pitchFamily="34" charset="0"/>
                        </a:rPr>
                        <a:t>S3 120 €/mes + EC2 300 €/mes + RDS 200 €/mes + CloudFront 150 €/mes + monitorización 100 €/mes</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10.440 €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950" dirty="0">
                          <a:solidFill>
                            <a:srgbClr val="64748B"/>
                          </a:solidFill>
                          <a:latin typeface="Calibri" pitchFamily="34" charset="0"/>
                        </a:rPr>
                        <a:t>+15 %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470000">
                <a:tc>
                  <a:txBody>
                    <a:bodyPr/>
                    <a:lstStyle/>
                    <a:p>
                      <a:pPr marL="0" indent="0" algn="l">
                        <a:buNone/>
                      </a:pPr>
                      <a:r>
                        <a:rPr lang="es-ES" sz="1000" b="1" dirty="0">
                          <a:solidFill>
                            <a:srgbClr val="152238"/>
                          </a:solidFill>
                          <a:latin typeface="Calibri" pitchFamily="34" charset="0"/>
                        </a:rPr>
                        <a:t>Licencias</a:t>
                      </a:r>
                    </a:p>
                    <a:p>
                      <a:pPr marL="0" indent="0" algn="l">
                        <a:buNone/>
                      </a:pPr>
                      <a:r>
                        <a:rPr lang="es-ES" sz="750" dirty="0">
                          <a:solidFill>
                            <a:srgbClr val="64748B"/>
                          </a:solidFill>
                          <a:latin typeface="Calibri" pitchFamily="34" charset="0"/>
                        </a:rPr>
                        <a:t>Dominio 200 €/año + desarrollo 1.000 €/año + SaaS 1.800 €/año</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3.000 €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950" dirty="0">
                          <a:solidFill>
                            <a:srgbClr val="64748B"/>
                          </a:solidFill>
                          <a:latin typeface="Calibri" pitchFamily="34" charset="0"/>
                        </a:rPr>
                        <a:t>+2 %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0000">
                <a:tc>
                  <a:txBody>
                    <a:bodyPr/>
                    <a:lstStyle/>
                    <a:p>
                      <a:pPr marL="0" indent="0" algn="l">
                        <a:buNone/>
                      </a:pPr>
                      <a:r>
                        <a:rPr lang="es-ES" sz="1000" b="1" dirty="0">
                          <a:solidFill>
                            <a:srgbClr val="152238"/>
                          </a:solidFill>
                          <a:latin typeface="Calibri" pitchFamily="34" charset="0"/>
                        </a:rPr>
                        <a:t>Administración</a:t>
                      </a:r>
                    </a:p>
                    <a:p>
                      <a:pPr marL="0" indent="0" algn="l">
                        <a:buNone/>
                      </a:pPr>
                      <a:r>
                        <a:rPr lang="es-ES" sz="750" dirty="0">
                          <a:solidFill>
                            <a:srgbClr val="64748B"/>
                          </a:solidFill>
                          <a:latin typeface="Calibri" pitchFamily="34" charset="0"/>
                        </a:rPr>
                        <a:t>Asesoría 3.000 €/año + servicios jurídicos 2.000 €/año + seguros 2.000 €/año</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1050" b="1" dirty="0">
                          <a:solidFill>
                            <a:srgbClr val="0A1A33"/>
                          </a:solidFill>
                          <a:latin typeface="Calibri" pitchFamily="34" charset="0"/>
                        </a:rPr>
                        <a:t>7.000 €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tc>
                  <a:txBody>
                    <a:bodyPr/>
                    <a:lstStyle/>
                    <a:p>
                      <a:pPr marL="0" indent="0" algn="r">
                        <a:buNone/>
                      </a:pPr>
                      <a:r>
                        <a:rPr lang="es-ES" sz="950" dirty="0">
                          <a:solidFill>
                            <a:srgbClr val="64748B"/>
                          </a:solidFill>
                          <a:latin typeface="Calibri" pitchFamily="34" charset="0"/>
                        </a:rPr>
                        <a:t>+2 %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470000">
                <a:tc>
                  <a:txBody>
                    <a:bodyPr/>
                    <a:lstStyle/>
                    <a:p>
                      <a:pPr marL="0" indent="0" algn="l">
                        <a:buNone/>
                      </a:pPr>
                      <a:r>
                        <a:rPr lang="es-ES" sz="1000" b="1" dirty="0">
                          <a:solidFill>
                            <a:srgbClr val="152238"/>
                          </a:solidFill>
                          <a:latin typeface="Calibri" pitchFamily="34" charset="0"/>
                        </a:rPr>
                        <a:t>Marketing recurrente</a:t>
                      </a:r>
                    </a:p>
                    <a:p>
                      <a:pPr marL="0" indent="0" algn="l">
                        <a:buNone/>
                      </a:pPr>
                      <a:r>
                        <a:rPr lang="es-ES" sz="750" dirty="0">
                          <a:solidFill>
                            <a:srgbClr val="64748B"/>
                          </a:solidFill>
                          <a:latin typeface="Calibri" pitchFamily="34" charset="0"/>
                        </a:rPr>
                        <a:t>Campañas y captación continua</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1050" b="1" dirty="0">
                          <a:solidFill>
                            <a:srgbClr val="0A1A33"/>
                          </a:solidFill>
                          <a:latin typeface="Calibri" pitchFamily="34" charset="0"/>
                        </a:rPr>
                        <a:t>12.000 €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s-ES" sz="950" dirty="0">
                          <a:solidFill>
                            <a:srgbClr val="64748B"/>
                          </a:solidFill>
                          <a:latin typeface="Calibri" pitchFamily="34" charset="0"/>
                        </a:rPr>
                        <a:t>+2 %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00">
                <a:tc>
                  <a:txBody>
                    <a:bodyPr/>
                    <a:lstStyle/>
                    <a:p>
                      <a:pPr marL="0" indent="0" algn="l">
                        <a:buNone/>
                      </a:pPr>
                      <a:r>
                        <a:rPr lang="es-ES" sz="1050" b="1" dirty="0">
                          <a:solidFill>
                            <a:srgbClr val="FFFFFF"/>
                          </a:solidFill>
                          <a:latin typeface="Calibri" pitchFamily="34" charset="0"/>
                        </a:rPr>
                        <a:t>TOTAL COSTES FIJOS</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EA5B0"/>
                    </a:solidFill>
                  </a:tcPr>
                </a:tc>
                <a:tc>
                  <a:txBody>
                    <a:bodyPr/>
                    <a:lstStyle/>
                    <a:p>
                      <a:pPr marL="0" indent="0" algn="r">
                        <a:buNone/>
                      </a:pPr>
                      <a:r>
                        <a:rPr lang="es-ES" sz="1050" b="1" dirty="0">
                          <a:solidFill>
                            <a:srgbClr val="FFFFFF"/>
                          </a:solidFill>
                          <a:latin typeface="Calibri" pitchFamily="34" charset="0"/>
                        </a:rPr>
                        <a:t>142.440 €</a:t>
                      </a:r>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EA5B0"/>
                    </a:solidFill>
                  </a:tcPr>
                </a:tc>
                <a:tc>
                  <a:txBody>
                    <a:bodyPr/>
                    <a:lstStyle/>
                    <a:p>
                      <a:pPr marL="0" indent="0" algn="r">
                        <a:buNone/>
                      </a:pPr>
                      <a:endParaRPr dirty="0"/>
                    </a:p>
                  </a:txBody>
                  <a:tcPr marL="82296" marR="82296" marT="32000" marB="32000"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EA5B0"/>
                    </a:solidFill>
                  </a:tcPr>
                </a:tc>
                <a:extLst>
                  <a:ext uri="{0D108BD9-81ED-4DB2-BD59-A6C34878D82A}">
                    <a16:rowId xmlns:a16="http://schemas.microsoft.com/office/drawing/2014/main" val="10006"/>
                  </a:ext>
                </a:extLst>
              </a:tr>
            </a:tbl>
          </a:graphicData>
        </a:graphic>
      </p:graphicFrame>
      <p:sp>
        <p:nvSpPr>
          <p:cNvPr id="40" name="c40"/>
          <p:cNvSpPr/>
          <p:nvPr/>
        </p:nvSpPr>
        <p:spPr>
          <a:xfrm>
            <a:off x="7700000" y="1796520"/>
            <a:ext cx="3943360" cy="1080000"/>
          </a:xfrm>
          <a:prstGeom prst="roundRect">
            <a:avLst>
              <a:gd name="adj" fmla="val 4200"/>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41" name="n40"/>
          <p:cNvSpPr/>
          <p:nvPr/>
        </p:nvSpPr>
        <p:spPr>
          <a:xfrm>
            <a:off x="7960000" y="1886520"/>
            <a:ext cx="3500000" cy="470000"/>
          </a:xfrm>
          <a:prstGeom prst="rect">
            <a:avLst/>
          </a:prstGeom>
          <a:noFill/>
          <a:ln/>
        </p:spPr>
        <p:txBody>
          <a:bodyPr wrap="square" lIns="0" tIns="0" rIns="0" bIns="0" rtlCol="0" anchor="ctr"/>
          <a:lstStyle/>
          <a:p>
            <a:pPr marL="0" indent="0" algn="l">
              <a:buNone/>
            </a:pPr>
            <a:r>
              <a:rPr lang="es-ES" sz="3000" b="1" dirty="0">
                <a:solidFill>
                  <a:srgbClr val="0EA5B0"/>
                </a:solidFill>
                <a:latin typeface="Calibri" pitchFamily="34" charset="0"/>
              </a:rPr>
              <a:t>142.440 €</a:t>
            </a:r>
          </a:p>
        </p:txBody>
      </p:sp>
      <p:sp>
        <p:nvSpPr>
          <p:cNvPr id="42" name="d40"/>
          <p:cNvSpPr/>
          <p:nvPr/>
        </p:nvSpPr>
        <p:spPr>
          <a:xfrm>
            <a:off x="7960000" y="2356520"/>
            <a:ext cx="3460000" cy="470000"/>
          </a:xfrm>
          <a:prstGeom prst="rect">
            <a:avLst/>
          </a:prstGeom>
          <a:noFill/>
          <a:ln/>
        </p:spPr>
        <p:txBody>
          <a:bodyPr wrap="square" lIns="0" tIns="0" rIns="0" bIns="0" rtlCol="0" anchor="t"/>
          <a:lstStyle/>
          <a:p>
            <a:pPr marL="0" indent="0" algn="l">
              <a:lnSpc>
                <a:spcPct val="102000"/>
              </a:lnSpc>
              <a:buNone/>
            </a:pPr>
            <a:r>
              <a:rPr lang="es-ES" sz="1050" dirty="0">
                <a:solidFill>
                  <a:srgbClr val="64748B"/>
                </a:solidFill>
                <a:latin typeface="Calibri" pitchFamily="34" charset="0"/>
              </a:rPr>
              <a:t>costes fijos en el año 1; crecen hasta 165.879 € en el año 5</a:t>
            </a:r>
          </a:p>
        </p:txBody>
      </p:sp>
      <p:sp>
        <p:nvSpPr>
          <p:cNvPr id="50" name="c50"/>
          <p:cNvSpPr/>
          <p:nvPr/>
        </p:nvSpPr>
        <p:spPr>
          <a:xfrm>
            <a:off x="7700000" y="2996520"/>
            <a:ext cx="3943360" cy="1080000"/>
          </a:xfrm>
          <a:prstGeom prst="roundRect">
            <a:avLst>
              <a:gd name="adj" fmla="val 4200"/>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51" name="n50"/>
          <p:cNvSpPr/>
          <p:nvPr/>
        </p:nvSpPr>
        <p:spPr>
          <a:xfrm>
            <a:off x="7960000" y="3086520"/>
            <a:ext cx="3500000" cy="470000"/>
          </a:xfrm>
          <a:prstGeom prst="rect">
            <a:avLst/>
          </a:prstGeom>
          <a:noFill/>
          <a:ln/>
        </p:spPr>
        <p:txBody>
          <a:bodyPr wrap="square" lIns="0" tIns="0" rIns="0" bIns="0" rtlCol="0" anchor="ctr"/>
          <a:lstStyle/>
          <a:p>
            <a:pPr marL="0" indent="0" algn="l">
              <a:buNone/>
            </a:pPr>
            <a:r>
              <a:rPr lang="es-ES" sz="3000" b="1" dirty="0">
                <a:solidFill>
                  <a:srgbClr val="0EA5B0"/>
                </a:solidFill>
                <a:latin typeface="Calibri" pitchFamily="34" charset="0"/>
              </a:rPr>
              <a:t>77 %</a:t>
            </a:r>
          </a:p>
        </p:txBody>
      </p:sp>
      <p:sp>
        <p:nvSpPr>
          <p:cNvPr id="52" name="d50"/>
          <p:cNvSpPr/>
          <p:nvPr/>
        </p:nvSpPr>
        <p:spPr>
          <a:xfrm>
            <a:off x="7960000" y="3556520"/>
            <a:ext cx="3460000" cy="470000"/>
          </a:xfrm>
          <a:prstGeom prst="rect">
            <a:avLst/>
          </a:prstGeom>
          <a:noFill/>
          <a:ln/>
        </p:spPr>
        <p:txBody>
          <a:bodyPr wrap="square" lIns="0" tIns="0" rIns="0" bIns="0" rtlCol="0" anchor="t"/>
          <a:lstStyle/>
          <a:p>
            <a:pPr marL="0" indent="0" algn="l">
              <a:lnSpc>
                <a:spcPct val="102000"/>
              </a:lnSpc>
              <a:buNone/>
            </a:pPr>
            <a:r>
              <a:rPr lang="es-ES" sz="1050" dirty="0">
                <a:solidFill>
                  <a:srgbClr val="64748B"/>
                </a:solidFill>
                <a:latin typeface="Calibri" pitchFamily="34" charset="0"/>
              </a:rPr>
              <a:t>del coste fijo es personal (110.000 € de 142.440 €)</a:t>
            </a:r>
          </a:p>
        </p:txBody>
      </p:sp>
      <p:sp>
        <p:nvSpPr>
          <p:cNvPr id="60" name="VarCard"/>
          <p:cNvSpPr/>
          <p:nvPr/>
        </p:nvSpPr>
        <p:spPr>
          <a:xfrm>
            <a:off x="7700000" y="4196520"/>
            <a:ext cx="3943360" cy="1300000"/>
          </a:xfrm>
          <a:prstGeom prst="roundRect">
            <a:avLst>
              <a:gd name="adj" fmla="val 4200"/>
            </a:avLst>
          </a:prstGeom>
          <a:solidFill>
            <a:srgbClr val="E8F6F7"/>
          </a:solidFill>
          <a:ln/>
          <a:effectLst>
            <a:outerShdw blurRad="101600" dist="38100" dir="5400000" algn="bl" rotWithShape="0">
              <a:srgbClr val="0A1A33">
                <a:alpha val="12000"/>
              </a:srgbClr>
            </a:outerShdw>
          </a:effectLst>
        </p:spPr>
        <p:txBody>
          <a:bodyPr/>
          <a:lstStyle/>
          <a:p>
            <a:endParaRPr lang="es-ES"/>
          </a:p>
        </p:txBody>
      </p:sp>
      <p:sp>
        <p:nvSpPr>
          <p:cNvPr id="61" name="VarT"/>
          <p:cNvSpPr/>
          <p:nvPr/>
        </p:nvSpPr>
        <p:spPr>
          <a:xfrm>
            <a:off x="7960000" y="4316520"/>
            <a:ext cx="3460000" cy="300000"/>
          </a:xfrm>
          <a:prstGeom prst="rect">
            <a:avLst/>
          </a:prstGeom>
          <a:noFill/>
          <a:ln/>
        </p:spPr>
        <p:txBody>
          <a:bodyPr wrap="square" lIns="0" tIns="0" rIns="0" bIns="0" rtlCol="0" anchor="t"/>
          <a:lstStyle/>
          <a:p>
            <a:pPr marL="0" indent="0" algn="l">
              <a:buNone/>
            </a:pPr>
            <a:r>
              <a:rPr lang="es-ES" sz="1150" b="1" dirty="0">
                <a:solidFill>
                  <a:srgbClr val="0A1A33"/>
                </a:solidFill>
                <a:latin typeface="Calibri" pitchFamily="34" charset="0"/>
              </a:rPr>
              <a:t>Coste variable: 120 €/cliente/año</a:t>
            </a:r>
          </a:p>
        </p:txBody>
      </p:sp>
      <p:sp>
        <p:nvSpPr>
          <p:cNvPr id="62" name="VarB"/>
          <p:cNvSpPr/>
          <p:nvPr/>
        </p:nvSpPr>
        <p:spPr>
          <a:xfrm>
            <a:off x="7960000" y="4636520"/>
            <a:ext cx="3460000" cy="760000"/>
          </a:xfrm>
          <a:prstGeom prst="rect">
            <a:avLst/>
          </a:prstGeom>
          <a:noFill/>
          <a:ln/>
        </p:spPr>
        <p:txBody>
          <a:bodyPr wrap="square" lIns="0" tIns="0" rIns="0" bIns="0" rtlCol="0" anchor="t"/>
          <a:lstStyle/>
          <a:p>
            <a:pPr marL="0" indent="0" algn="l">
              <a:lnSpc>
                <a:spcPct val="104000"/>
              </a:lnSpc>
              <a:buNone/>
            </a:pPr>
            <a:r>
              <a:rPr lang="es-ES" sz="1050" dirty="0">
                <a:solidFill>
                  <a:srgbClr val="334155"/>
                </a:solidFill>
                <a:latin typeface="Calibri" pitchFamily="34" charset="0"/>
              </a:rPr>
              <a:t>10 €/mes: almacenamiento, transferencia y soporte. Con 20 clientes, solo 2.400 € en el año 1.</a:t>
            </a:r>
          </a:p>
        </p:txBody>
      </p:sp>
      <p:sp>
        <p:nvSpPr>
          <p:cNvPr id="70" name="Note"/>
          <p:cNvSpPr/>
          <p:nvPr/>
        </p:nvSpPr>
        <p:spPr>
          <a:xfrm>
            <a:off x="548640" y="5630528"/>
            <a:ext cx="11094720" cy="360000"/>
          </a:xfrm>
          <a:prstGeom prst="rect">
            <a:avLst/>
          </a:prstGeom>
          <a:noFill/>
          <a:ln/>
        </p:spPr>
        <p:txBody>
          <a:bodyPr wrap="square" lIns="0" tIns="0" rIns="0" bIns="0" rtlCol="0" anchor="ctr"/>
          <a:lstStyle/>
          <a:p>
            <a:pPr marL="0" indent="0" algn="l">
              <a:buNone/>
            </a:pPr>
            <a:r>
              <a:rPr lang="es-ES" sz="950" i="1" dirty="0">
                <a:solidFill>
                  <a:srgbClr val="64748B"/>
                </a:solidFill>
                <a:latin typeface="Calibri" pitchFamily="34" charset="0"/>
              </a:rPr>
              <a:t>El personal y la infraestructura escalan con tasas distintas (+3 % y +15 %); el coste variable es mínimo porque la base de clientes es pequeña. </a:t>
            </a:r>
          </a:p>
        </p:txBody>
      </p:sp>
      <p:sp>
        <p:nvSpPr>
          <p:cNvPr id="71" name="FB"/>
          <p:cNvSpPr/>
          <p:nvPr/>
        </p:nvSpPr>
        <p:spPr>
          <a:xfrm>
            <a:off x="548640" y="6510528"/>
            <a:ext cx="7315200" cy="274320"/>
          </a:xfrm>
          <a:prstGeom prst="rect">
            <a:avLst/>
          </a:prstGeom>
          <a:noFill/>
          <a:ln/>
        </p:spPr>
        <p:txBody>
          <a:bodyPr wrap="square" lIns="0" tIns="0" rIns="0" bIns="0" rtlCol="0" anchor="ctr"/>
          <a:lstStyle/>
          <a:p>
            <a:pPr marL="0" indent="0" algn="l">
              <a:buNone/>
            </a:pPr>
            <a:r>
              <a:rPr lang="es-ES" sz="900" dirty="0">
                <a:solidFill>
                  <a:srgbClr val="64748B"/>
                </a:solidFill>
                <a:latin typeface="Calibri" pitchFamily="34" charset="0"/>
              </a:rPr>
              <a:t>QuantumVault S.L.  ·  Evaluación de Proyecto de Inversión</a:t>
            </a:r>
          </a:p>
        </p:txBody>
      </p:sp>
      <p:sp>
        <p:nvSpPr>
          <p:cNvPr id="72" name="FP"/>
          <p:cNvSpPr/>
          <p:nvPr/>
        </p:nvSpPr>
        <p:spPr>
          <a:xfrm>
            <a:off x="10545775" y="6510528"/>
            <a:ext cx="1097280" cy="274320"/>
          </a:xfrm>
          <a:prstGeom prst="rect">
            <a:avLst/>
          </a:prstGeom>
          <a:noFill/>
          <a:ln/>
        </p:spPr>
        <p:txBody>
          <a:bodyPr wrap="square" lIns="0" tIns="0" rIns="0" bIns="0" rtlCol="0" anchor="ctr"/>
          <a:lstStyle/>
          <a:p>
            <a:pPr marL="0" indent="0" algn="r">
              <a:buNone/>
            </a:pPr>
            <a:r>
              <a:rPr lang="es-ES" sz="900" dirty="0">
                <a:solidFill>
                  <a:srgbClr val="64748B"/>
                </a:solidFill>
                <a:latin typeface="Calibri" pitchFamily="34" charset="0"/>
              </a:rPr>
              <a:t>08 / 15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08</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COSTES E INGRESOS</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300" b="1" dirty="0">
                <a:solidFill>
                  <a:srgbClr val="0A1A33"/>
                </a:solidFill>
                <a:latin typeface="Cambria" pitchFamily="34" charset="0"/>
                <a:ea typeface="Cambria" pitchFamily="34" charset="-122"/>
                <a:cs typeface="Cambria" pitchFamily="34" charset="-120"/>
              </a:rPr>
              <a:t>Los costes fijos superan a los ingresos en los cinco años</a:t>
            </a:r>
            <a:endParaRPr lang="en-US" sz="2300" dirty="0"/>
          </a:p>
        </p:txBody>
      </p:sp>
      <p:sp>
        <p:nvSpPr>
          <p:cNvPr id="6" name="Shape 4"/>
          <p:cNvSpPr/>
          <p:nvPr/>
        </p:nvSpPr>
        <p:spPr>
          <a:xfrm>
            <a:off x="548640" y="1828800"/>
            <a:ext cx="11094415" cy="3520440"/>
          </a:xfrm>
          <a:prstGeom prst="roundRect">
            <a:avLst>
              <a:gd name="adj" fmla="val 233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graphicFrame>
        <p:nvGraphicFramePr>
          <p:cNvPr id="7" name="Chart 0"/>
          <p:cNvGraphicFramePr/>
          <p:nvPr/>
        </p:nvGraphicFramePr>
        <p:xfrm>
          <a:off x="822960" y="2057400"/>
          <a:ext cx="10545775"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48640" y="5532120"/>
            <a:ext cx="11094415" cy="868680"/>
          </a:xfrm>
          <a:prstGeom prst="roundRect">
            <a:avLst>
              <a:gd name="adj" fmla="val 9474"/>
            </a:avLst>
          </a:prstGeom>
          <a:solidFill>
            <a:srgbClr val="FBEAEA"/>
          </a:solidFill>
          <a:ln/>
        </p:spPr>
        <p:txBody>
          <a:bodyPr/>
          <a:lstStyle/>
          <a:p>
            <a:endParaRPr lang="es-ES"/>
          </a:p>
        </p:txBody>
      </p:sp>
      <p:sp>
        <p:nvSpPr>
          <p:cNvPr id="9" name="Shape 6"/>
          <p:cNvSpPr/>
          <p:nvPr/>
        </p:nvSpPr>
        <p:spPr>
          <a:xfrm>
            <a:off x="777240" y="5696712"/>
            <a:ext cx="548640" cy="548640"/>
          </a:xfrm>
          <a:prstGeom prst="ellipse">
            <a:avLst/>
          </a:prstGeom>
          <a:solidFill>
            <a:srgbClr val="C73E3E"/>
          </a:solidFill>
          <a:ln/>
        </p:spPr>
        <p:txBody>
          <a:bodyPr/>
          <a:lstStyle/>
          <a:p>
            <a:endParaRPr lang="es-ES"/>
          </a:p>
        </p:txBody>
      </p:sp>
      <p:pic>
        <p:nvPicPr>
          <p:cNvPr id="10" name="Image 0" descr="assets/warning.png"/>
          <p:cNvPicPr>
            <a:picLocks noChangeAspect="1"/>
          </p:cNvPicPr>
          <p:nvPr/>
        </p:nvPicPr>
        <p:blipFill>
          <a:blip r:embed="rId4"/>
          <a:stretch>
            <a:fillRect/>
          </a:stretch>
        </p:blipFill>
        <p:spPr>
          <a:xfrm>
            <a:off x="919886" y="5839358"/>
            <a:ext cx="263347" cy="263347"/>
          </a:xfrm>
          <a:prstGeom prst="rect">
            <a:avLst/>
          </a:prstGeom>
        </p:spPr>
      </p:pic>
      <p:sp>
        <p:nvSpPr>
          <p:cNvPr id="11" name="Text 7"/>
          <p:cNvSpPr/>
          <p:nvPr/>
        </p:nvSpPr>
        <p:spPr>
          <a:xfrm>
            <a:off x="1508760" y="5623560"/>
            <a:ext cx="9859975" cy="685800"/>
          </a:xfrm>
          <a:prstGeom prst="rect">
            <a:avLst/>
          </a:prstGeom>
          <a:noFill/>
          <a:ln/>
        </p:spPr>
        <p:txBody>
          <a:bodyPr wrap="square" lIns="0" tIns="0" rIns="0" bIns="0" rtlCol="0" anchor="ctr"/>
          <a:lstStyle/>
          <a:p>
            <a:pPr marL="0" indent="0">
              <a:lnSpc>
                <a:spcPct val="120000"/>
              </a:lnSpc>
              <a:buNone/>
            </a:pPr>
            <a:r>
              <a:rPr lang="en-US" sz="1150" b="1" dirty="0">
                <a:solidFill>
                  <a:srgbClr val="0A1A33"/>
                </a:solidFill>
                <a:latin typeface="Calibri" pitchFamily="34" charset="0"/>
                <a:ea typeface="Calibri" pitchFamily="34" charset="-122"/>
                <a:cs typeface="Calibri" pitchFamily="34" charset="-120"/>
              </a:rPr>
              <a:t>Margen de contribución insuficiente para la estructura fija.  </a:t>
            </a:r>
            <a:r>
              <a:rPr lang="en-US" sz="1150" dirty="0">
                <a:solidFill>
                  <a:srgbClr val="152238"/>
                </a:solidFill>
                <a:latin typeface="Calibri" pitchFamily="34" charset="0"/>
                <a:ea typeface="Calibri" pitchFamily="34" charset="-122"/>
                <a:cs typeface="Calibri" pitchFamily="34" charset="-120"/>
              </a:rPr>
              <a:t>El margen unitario es de 1.680 €/cliente/año (1.800 € de precio anual − 120 € de coste variable), pero con solo 20 clientes en el año 1 genera 36.000 € frente a 142.440 € de costes fijos.</a:t>
            </a:r>
            <a:endParaRPr lang="en-US" sz="1150" dirty="0"/>
          </a:p>
        </p:txBody>
      </p:sp>
      <p:sp>
        <p:nvSpPr>
          <p:cNvPr id="12" name="Text 8"/>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13" name="Text 9"/>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09</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FINANCIACIÓN Y DEUDA</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300" b="1" dirty="0">
                <a:solidFill>
                  <a:srgbClr val="0A1A33"/>
                </a:solidFill>
                <a:latin typeface="Cambria" pitchFamily="34" charset="0"/>
                <a:ea typeface="Cambria" pitchFamily="34" charset="-122"/>
                <a:cs typeface="Cambria" pitchFamily="34" charset="-120"/>
              </a:rPr>
              <a:t>Estructura 40/60 entre capital propio y deuda bancaria</a:t>
            </a:r>
            <a:endParaRPr lang="en-US" sz="2300" dirty="0"/>
          </a:p>
        </p:txBody>
      </p:sp>
      <p:sp>
        <p:nvSpPr>
          <p:cNvPr id="6" name="Shape 4"/>
          <p:cNvSpPr/>
          <p:nvPr/>
        </p:nvSpPr>
        <p:spPr>
          <a:xfrm>
            <a:off x="548640" y="1874520"/>
            <a:ext cx="4160520" cy="4160520"/>
          </a:xfrm>
          <a:prstGeom prst="roundRect">
            <a:avLst>
              <a:gd name="adj" fmla="val 1978"/>
            </a:avLst>
          </a:prstGeom>
          <a:solidFill>
            <a:srgbClr val="FFFFFF"/>
          </a:solidFill>
          <a:ln/>
          <a:effectLst>
            <a:outerShdw blurRad="101600" dist="38100" dir="5400000" algn="bl" rotWithShape="0">
              <a:srgbClr val="0A1A33">
                <a:alpha val="12000"/>
              </a:srgbClr>
            </a:outerShdw>
          </a:effectLst>
        </p:spPr>
        <p:txBody>
          <a:bodyPr/>
          <a:lstStyle/>
          <a:p>
            <a:endParaRPr lang="es-ES"/>
          </a:p>
        </p:txBody>
      </p:sp>
      <p:graphicFrame>
        <p:nvGraphicFramePr>
          <p:cNvPr id="7" name="Chart 0"/>
          <p:cNvGraphicFramePr/>
          <p:nvPr/>
        </p:nvGraphicFramePr>
        <p:xfrm>
          <a:off x="822960" y="2194560"/>
          <a:ext cx="361188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22960" y="4617720"/>
            <a:ext cx="3611880" cy="1280160"/>
          </a:xfrm>
          <a:prstGeom prst="rect">
            <a:avLst/>
          </a:prstGeom>
          <a:noFill/>
          <a:ln/>
        </p:spPr>
        <p:txBody>
          <a:bodyPr wrap="square" lIns="0" tIns="0" rIns="0" bIns="0" rtlCol="0" anchor="ctr"/>
          <a:lstStyle/>
          <a:p>
            <a:pPr marL="0" indent="0" algn="ctr">
              <a:lnSpc>
                <a:spcPct val="110000"/>
              </a:lnSpc>
              <a:buNone/>
            </a:pPr>
            <a:r>
              <a:rPr lang="en-US" sz="1700" b="1" dirty="0">
                <a:solidFill>
                  <a:srgbClr val="0EA5B0"/>
                </a:solidFill>
                <a:latin typeface="Calibri" pitchFamily="34" charset="0"/>
                <a:ea typeface="Calibri" pitchFamily="34" charset="-122"/>
                <a:cs typeface="Calibri" pitchFamily="34" charset="-120"/>
              </a:rPr>
              <a:t>61.400 €</a:t>
            </a:r>
            <a:endParaRPr lang="en-US" sz="1700" dirty="0"/>
          </a:p>
          <a:p>
            <a:pPr marL="0" indent="0" algn="ctr">
              <a:lnSpc>
                <a:spcPct val="110000"/>
              </a:lnSpc>
              <a:buNone/>
            </a:pPr>
            <a:r>
              <a:rPr lang="en-US" sz="1000" dirty="0">
                <a:solidFill>
                  <a:srgbClr val="64748B"/>
                </a:solidFill>
                <a:latin typeface="Calibri" pitchFamily="34" charset="0"/>
                <a:ea typeface="Calibri" pitchFamily="34" charset="-122"/>
                <a:cs typeface="Calibri" pitchFamily="34" charset="-120"/>
              </a:rPr>
              <a:t>Capital propio</a:t>
            </a:r>
            <a:endParaRPr lang="en-US" sz="1700" dirty="0"/>
          </a:p>
          <a:p>
            <a:pPr marL="0" indent="0" algn="ctr">
              <a:lnSpc>
                <a:spcPct val="110000"/>
              </a:lnSpc>
              <a:buNone/>
            </a:pPr>
            <a:r>
              <a:rPr lang="en-US" sz="400" dirty="0">
                <a:solidFill>
                  <a:srgbClr val="000000"/>
                </a:solidFill>
                <a:latin typeface="Calibri" pitchFamily="34" charset="0"/>
                <a:ea typeface="Calibri" pitchFamily="34" charset="-122"/>
                <a:cs typeface="Calibri" pitchFamily="34" charset="-120"/>
              </a:rPr>
              <a:t> </a:t>
            </a:r>
            <a:endParaRPr lang="en-US" sz="1700" dirty="0"/>
          </a:p>
          <a:p>
            <a:pPr marL="0" indent="0" algn="ctr">
              <a:lnSpc>
                <a:spcPct val="110000"/>
              </a:lnSpc>
              <a:buNone/>
            </a:pPr>
            <a:r>
              <a:rPr lang="en-US" sz="1700" b="1" dirty="0">
                <a:solidFill>
                  <a:srgbClr val="0A1A33"/>
                </a:solidFill>
                <a:latin typeface="Calibri" pitchFamily="34" charset="0"/>
                <a:ea typeface="Calibri" pitchFamily="34" charset="-122"/>
                <a:cs typeface="Calibri" pitchFamily="34" charset="-120"/>
              </a:rPr>
              <a:t>92.100 €</a:t>
            </a:r>
            <a:endParaRPr lang="en-US" sz="1700" dirty="0"/>
          </a:p>
          <a:p>
            <a:pPr marL="0" indent="0" algn="ctr">
              <a:lnSpc>
                <a:spcPct val="110000"/>
              </a:lnSpc>
              <a:buNone/>
            </a:pPr>
            <a:r>
              <a:rPr lang="en-US" sz="1000" dirty="0">
                <a:solidFill>
                  <a:srgbClr val="64748B"/>
                </a:solidFill>
                <a:latin typeface="Calibri" pitchFamily="34" charset="0"/>
                <a:ea typeface="Calibri" pitchFamily="34" charset="-122"/>
                <a:cs typeface="Calibri" pitchFamily="34" charset="-120"/>
              </a:rPr>
              <a:t>Préstamo bancario</a:t>
            </a:r>
            <a:endParaRPr lang="en-US" sz="1700" dirty="0"/>
          </a:p>
        </p:txBody>
      </p:sp>
      <p:sp>
        <p:nvSpPr>
          <p:cNvPr id="9" name="Text 6"/>
          <p:cNvSpPr/>
          <p:nvPr/>
        </p:nvSpPr>
        <p:spPr>
          <a:xfrm>
            <a:off x="5029200" y="1874520"/>
            <a:ext cx="6613855" cy="320040"/>
          </a:xfrm>
          <a:prstGeom prst="rect">
            <a:avLst/>
          </a:prstGeom>
          <a:noFill/>
          <a:ln/>
        </p:spPr>
        <p:txBody>
          <a:bodyPr wrap="square" lIns="0" tIns="0" rIns="0" bIns="0" rtlCol="0" anchor="ctr"/>
          <a:lstStyle/>
          <a:p>
            <a:pPr marL="0" indent="0">
              <a:buNone/>
            </a:pPr>
            <a:r>
              <a:rPr lang="en-US" sz="1200" b="1" dirty="0">
                <a:solidFill>
                  <a:srgbClr val="0A1A33"/>
                </a:solidFill>
                <a:latin typeface="Calibri" pitchFamily="34" charset="0"/>
                <a:ea typeface="Calibri" pitchFamily="34" charset="-122"/>
                <a:cs typeface="Calibri" pitchFamily="34" charset="-120"/>
              </a:rPr>
              <a:t>Cuadro de amortización — sistema francés, 5 % anual, 5 años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0" y="2286000"/>
          <a:ext cx="6613855" cy="2194560"/>
        </p:xfrm>
        <a:graphic>
          <a:graphicData uri="http://schemas.openxmlformats.org/drawingml/2006/table">
            <a:tbl>
              <a:tblPr/>
              <a:tblGrid>
                <a:gridCol w="859801">
                  <a:extLst>
                    <a:ext uri="{9D8B030D-6E8A-4147-A177-3AD203B41FA5}">
                      <a16:colId xmlns:a16="http://schemas.microsoft.com/office/drawing/2014/main" val="20000"/>
                    </a:ext>
                  </a:extLst>
                </a:gridCol>
                <a:gridCol w="1785741">
                  <a:extLst>
                    <a:ext uri="{9D8B030D-6E8A-4147-A177-3AD203B41FA5}">
                      <a16:colId xmlns:a16="http://schemas.microsoft.com/office/drawing/2014/main" val="20001"/>
                    </a:ext>
                  </a:extLst>
                </a:gridCol>
                <a:gridCol w="1322771">
                  <a:extLst>
                    <a:ext uri="{9D8B030D-6E8A-4147-A177-3AD203B41FA5}">
                      <a16:colId xmlns:a16="http://schemas.microsoft.com/office/drawing/2014/main" val="20002"/>
                    </a:ext>
                  </a:extLst>
                </a:gridCol>
                <a:gridCol w="1322771">
                  <a:extLst>
                    <a:ext uri="{9D8B030D-6E8A-4147-A177-3AD203B41FA5}">
                      <a16:colId xmlns:a16="http://schemas.microsoft.com/office/drawing/2014/main" val="20003"/>
                    </a:ext>
                  </a:extLst>
                </a:gridCol>
                <a:gridCol w="1322771">
                  <a:extLst>
                    <a:ext uri="{9D8B030D-6E8A-4147-A177-3AD203B41FA5}">
                      <a16:colId xmlns:a16="http://schemas.microsoft.com/office/drawing/2014/main" val="20004"/>
                    </a:ext>
                  </a:extLst>
                </a:gridCol>
              </a:tblGrid>
              <a:tr h="365760">
                <a:tc>
                  <a:txBody>
                    <a:bodyPr/>
                    <a:lstStyle/>
                    <a:p>
                      <a:pPr marL="0" indent="0" algn="ctr">
                        <a:buNone/>
                      </a:pPr>
                      <a:r>
                        <a:rPr lang="en-US" sz="1050" b="1" dirty="0">
                          <a:solidFill>
                            <a:srgbClr val="FFFFFF"/>
                          </a:solidFill>
                        </a:rPr>
                        <a:t>Año</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n-US" sz="1050" b="1" dirty="0">
                          <a:solidFill>
                            <a:srgbClr val="FFFFFF"/>
                          </a:solidFill>
                        </a:rPr>
                        <a:t>Saldo inicial</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n-US" sz="1050" b="1" dirty="0">
                          <a:solidFill>
                            <a:srgbClr val="FFFFFF"/>
                          </a:solidFill>
                        </a:rPr>
                        <a:t>Cuota</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n-US" sz="1050" b="1" dirty="0">
                          <a:solidFill>
                            <a:srgbClr val="FFFFFF"/>
                          </a:solidFill>
                        </a:rPr>
                        <a:t>Interés</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tc>
                  <a:txBody>
                    <a:bodyPr/>
                    <a:lstStyle/>
                    <a:p>
                      <a:pPr marL="0" indent="0" algn="r">
                        <a:buNone/>
                      </a:pPr>
                      <a:r>
                        <a:rPr lang="en-US" sz="1050" b="1" dirty="0">
                          <a:solidFill>
                            <a:srgbClr val="FFFFFF"/>
                          </a:solidFill>
                        </a:rPr>
                        <a:t>Amortización</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0A1A33"/>
                    </a:solidFill>
                  </a:tcPr>
                </a:tc>
                <a:extLst>
                  <a:ext uri="{0D108BD9-81ED-4DB2-BD59-A6C34878D82A}">
                    <a16:rowId xmlns:a16="http://schemas.microsoft.com/office/drawing/2014/main" val="10000"/>
                  </a:ext>
                </a:extLst>
              </a:tr>
              <a:tr h="365760">
                <a:tc>
                  <a:txBody>
                    <a:bodyPr/>
                    <a:lstStyle/>
                    <a:p>
                      <a:pPr marL="0" indent="0" algn="ctr">
                        <a:buNone/>
                      </a:pPr>
                      <a:r>
                        <a:rPr lang="en-US" sz="1050" dirty="0">
                          <a:solidFill>
                            <a:srgbClr val="152238"/>
                          </a:solidFill>
                        </a:rPr>
                        <a:t>1</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92.100 €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21.273 €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4.605 €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16.668 €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050" dirty="0">
                          <a:solidFill>
                            <a:srgbClr val="152238"/>
                          </a:solidFill>
                        </a:rPr>
                        <a:t>2</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75.432 €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21.273 €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3.772 €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17.501 €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65760">
                <a:tc>
                  <a:txBody>
                    <a:bodyPr/>
                    <a:lstStyle/>
                    <a:p>
                      <a:pPr marL="0" indent="0" algn="ctr">
                        <a:buNone/>
                      </a:pPr>
                      <a:r>
                        <a:rPr lang="en-US" sz="1050" dirty="0">
                          <a:solidFill>
                            <a:srgbClr val="152238"/>
                          </a:solidFill>
                        </a:rPr>
                        <a:t>3</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57.931 €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21.273 €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2.897 €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18.376 €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050" dirty="0">
                          <a:solidFill>
                            <a:srgbClr val="152238"/>
                          </a:solidFill>
                        </a:rPr>
                        <a:t>4</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39.555 €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21.273 €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1.978 €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tc>
                  <a:txBody>
                    <a:bodyPr/>
                    <a:lstStyle/>
                    <a:p>
                      <a:pPr marL="0" indent="0" algn="r">
                        <a:buNone/>
                      </a:pPr>
                      <a:r>
                        <a:rPr lang="en-US" sz="1050" dirty="0">
                          <a:solidFill>
                            <a:srgbClr val="152238"/>
                          </a:solidFill>
                        </a:rPr>
                        <a:t>19.295 €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65760">
                <a:tc>
                  <a:txBody>
                    <a:bodyPr/>
                    <a:lstStyle/>
                    <a:p>
                      <a:pPr marL="0" indent="0" algn="ctr">
                        <a:buNone/>
                      </a:pPr>
                      <a:r>
                        <a:rPr lang="en-US" sz="1050" dirty="0">
                          <a:solidFill>
                            <a:srgbClr val="152238"/>
                          </a:solidFill>
                        </a:rPr>
                        <a:t>5</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20.260 €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21.273 €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1.013 €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52238"/>
                          </a:solidFill>
                        </a:rPr>
                        <a:t>20.260 €</a:t>
                      </a:r>
                      <a:endParaRPr lang="en-US" sz="1050" dirty="0"/>
                    </a:p>
                  </a:txBody>
                  <a:tcPr anchor="ctr">
                    <a:lnL w="6350" cap="flat" cmpd="sng" algn="ctr">
                      <a:solidFill>
                        <a:srgbClr val="DCE5EC"/>
                      </a:solidFill>
                      <a:prstDash val="solid"/>
                      <a:round/>
                      <a:headEnd type="none" w="med" len="med"/>
                      <a:tailEnd type="none" w="med" len="med"/>
                    </a:lnL>
                    <a:lnR w="6350" cap="flat" cmpd="sng" algn="ctr">
                      <a:solidFill>
                        <a:srgbClr val="DCE5EC"/>
                      </a:solidFill>
                      <a:prstDash val="solid"/>
                      <a:round/>
                      <a:headEnd type="none" w="med" len="med"/>
                      <a:tailEnd type="none" w="med" len="med"/>
                    </a:lnR>
                    <a:lnT w="6350" cap="flat" cmpd="sng" algn="ctr">
                      <a:solidFill>
                        <a:srgbClr val="DCE5EC"/>
                      </a:solidFill>
                      <a:prstDash val="solid"/>
                      <a:round/>
                      <a:headEnd type="none" w="med" len="med"/>
                      <a:tailEnd type="none" w="med" len="med"/>
                    </a:lnT>
                    <a:lnB w="6350" cap="flat" cmpd="sng" algn="ctr">
                      <a:solidFill>
                        <a:srgbClr val="DC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7"/>
          <p:cNvSpPr/>
          <p:nvPr/>
        </p:nvSpPr>
        <p:spPr>
          <a:xfrm>
            <a:off x="5029200" y="4709160"/>
            <a:ext cx="6613855" cy="365760"/>
          </a:xfrm>
          <a:prstGeom prst="rect">
            <a:avLst/>
          </a:prstGeom>
          <a:noFill/>
          <a:ln/>
        </p:spPr>
        <p:txBody>
          <a:bodyPr wrap="square" lIns="0" tIns="0" rIns="0" bIns="0" rtlCol="0" anchor="ctr"/>
          <a:lstStyle/>
          <a:p>
            <a:pPr marL="0" indent="0">
              <a:buNone/>
            </a:pPr>
            <a:r>
              <a:rPr lang="en-US" sz="1150" b="1" dirty="0">
                <a:solidFill>
                  <a:srgbClr val="0A1A33"/>
                </a:solidFill>
                <a:latin typeface="Calibri" pitchFamily="34" charset="0"/>
                <a:ea typeface="Calibri" pitchFamily="34" charset="-122"/>
                <a:cs typeface="Calibri" pitchFamily="34" charset="-120"/>
              </a:rPr>
              <a:t>Ke nominal: 12,00 %    ·   Kd nominal: 5,00 %    ·   WACC real: 4,37 %</a:t>
            </a:r>
            <a:endParaRPr lang="en-US" sz="1150" dirty="0"/>
          </a:p>
        </p:txBody>
      </p:sp>
      <p:sp>
        <p:nvSpPr>
          <p:cNvPr id="13" name="Text 9"/>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14" name="Text 10"/>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FLUJOS DE FONDOS</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200" b="1" dirty="0">
                <a:solidFill>
                  <a:srgbClr val="0A1A33"/>
                </a:solidFill>
                <a:latin typeface="Cambria" pitchFamily="34" charset="0"/>
                <a:ea typeface="Cambria" pitchFamily="34" charset="-122"/>
                <a:cs typeface="Cambria" pitchFamily="34" charset="-120"/>
              </a:rPr>
              <a:t>La deuda agrava el flujo del inversionista en todos los años</a:t>
            </a:r>
            <a:endParaRPr lang="en-US" sz="2200" dirty="0"/>
          </a:p>
        </p:txBody>
      </p:sp>
      <p:sp>
        <p:nvSpPr>
          <p:cNvPr id="6" name="Shape 4"/>
          <p:cNvSpPr/>
          <p:nvPr/>
        </p:nvSpPr>
        <p:spPr>
          <a:xfrm>
            <a:off x="548640" y="1828800"/>
            <a:ext cx="5364328" cy="3749040"/>
          </a:xfrm>
          <a:prstGeom prst="roundRect">
            <a:avLst>
              <a:gd name="adj" fmla="val 219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Text 5"/>
          <p:cNvSpPr/>
          <p:nvPr/>
        </p:nvSpPr>
        <p:spPr>
          <a:xfrm>
            <a:off x="777240" y="1965960"/>
            <a:ext cx="4907128" cy="320040"/>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Flujo de Fondos Puro vs. del Inversionista</a:t>
            </a:r>
            <a:endParaRPr lang="en-US" sz="1150" dirty="0"/>
          </a:p>
        </p:txBody>
      </p:sp>
      <p:graphicFrame>
        <p:nvGraphicFramePr>
          <p:cNvPr id="8" name="Chart 0"/>
          <p:cNvGraphicFramePr/>
          <p:nvPr/>
        </p:nvGraphicFramePr>
        <p:xfrm>
          <a:off x="731520" y="2331720"/>
          <a:ext cx="4998568"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278728" y="1828800"/>
            <a:ext cx="5364328" cy="3749040"/>
          </a:xfrm>
          <a:prstGeom prst="roundRect">
            <a:avLst>
              <a:gd name="adj" fmla="val 219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0" name="Text 7"/>
          <p:cNvSpPr/>
          <p:nvPr/>
        </p:nvSpPr>
        <p:spPr>
          <a:xfrm>
            <a:off x="6507328" y="1965960"/>
            <a:ext cx="4907128" cy="320040"/>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Periodo de recupero descontado (acumulado)</a:t>
            </a:r>
            <a:endParaRPr lang="en-US" sz="1150" dirty="0"/>
          </a:p>
        </p:txBody>
      </p:sp>
      <p:graphicFrame>
        <p:nvGraphicFramePr>
          <p:cNvPr id="11" name="Chart 1"/>
          <p:cNvGraphicFramePr/>
          <p:nvPr/>
        </p:nvGraphicFramePr>
        <p:xfrm>
          <a:off x="6461608" y="2331720"/>
          <a:ext cx="4998568"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548640" y="5760720"/>
            <a:ext cx="11094415" cy="548640"/>
          </a:xfrm>
          <a:prstGeom prst="rect">
            <a:avLst/>
          </a:prstGeom>
          <a:noFill/>
          <a:ln/>
        </p:spPr>
        <p:txBody>
          <a:bodyPr wrap="square" lIns="0" tIns="0" rIns="0" bIns="0" rtlCol="0" anchor="ctr"/>
          <a:lstStyle/>
          <a:p>
            <a:pPr marL="0" indent="0" algn="ctr">
              <a:lnSpc>
                <a:spcPct val="120000"/>
              </a:lnSpc>
              <a:buNone/>
            </a:pPr>
            <a:r>
              <a:rPr lang="en-US" sz="1150" i="1" dirty="0">
                <a:solidFill>
                  <a:srgbClr val="64748B"/>
                </a:solidFill>
                <a:latin typeface="Calibri" pitchFamily="34" charset="0"/>
                <a:ea typeface="Calibri" pitchFamily="34" charset="-122"/>
                <a:cs typeface="Calibri" pitchFamily="34" charset="-120"/>
              </a:rPr>
              <a:t>La diferencia entre ambos flujos es el servicio de la deuda neto de impuestos (de 20.122 € a 21.020 € al año). El acumulado descontado nunca cruza el cero: no hay recupero en el horizonte de 5 años.</a:t>
            </a:r>
            <a:endParaRPr lang="en-US" sz="1150" dirty="0"/>
          </a:p>
        </p:txBody>
      </p:sp>
      <p:sp>
        <p:nvSpPr>
          <p:cNvPr id="13" name="Text 9"/>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14" name="Text 10"/>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EVALUACIÓN FINANCIERA</a:t>
            </a:r>
            <a:endParaRPr lang="en-US" sz="1200" dirty="0"/>
          </a:p>
        </p:txBody>
      </p:sp>
      <p:sp>
        <p:nvSpPr>
          <p:cNvPr id="5" name="Text 3"/>
          <p:cNvSpPr/>
          <p:nvPr/>
        </p:nvSpPr>
        <p:spPr>
          <a:xfrm>
            <a:off x="548640" y="896112"/>
            <a:ext cx="11094415" cy="777240"/>
          </a:xfrm>
          <a:prstGeom prst="rect">
            <a:avLst/>
          </a:prstGeom>
          <a:noFill/>
          <a:ln/>
        </p:spPr>
        <p:txBody>
          <a:bodyPr wrap="square" lIns="0" tIns="0" rIns="0" bIns="0" rtlCol="0" anchor="t"/>
          <a:lstStyle/>
          <a:p>
            <a:pPr marL="0" indent="0" algn="l">
              <a:lnSpc>
                <a:spcPct val="102000"/>
              </a:lnSpc>
              <a:buNone/>
            </a:pPr>
            <a:r>
              <a:rPr lang="en-US" sz="2600" b="1" dirty="0">
                <a:solidFill>
                  <a:srgbClr val="0A1A33"/>
                </a:solidFill>
                <a:latin typeface="Cambria" pitchFamily="34" charset="0"/>
                <a:ea typeface="Cambria" pitchFamily="34" charset="-122"/>
                <a:cs typeface="Cambria" pitchFamily="34" charset="-120"/>
              </a:rPr>
              <a:t>Resultado desfavorable en el escenario base</a:t>
            </a:r>
            <a:endParaRPr lang="en-US" sz="2600" dirty="0"/>
          </a:p>
        </p:txBody>
      </p:sp>
      <p:sp>
        <p:nvSpPr>
          <p:cNvPr id="6" name="Shape 4"/>
          <p:cNvSpPr/>
          <p:nvPr/>
        </p:nvSpPr>
        <p:spPr>
          <a:xfrm>
            <a:off x="548640" y="1874520"/>
            <a:ext cx="2602154" cy="2286000"/>
          </a:xfrm>
          <a:prstGeom prst="roundRect">
            <a:avLst>
              <a:gd name="adj" fmla="val 3600"/>
            </a:avLst>
          </a:prstGeom>
          <a:solidFill>
            <a:srgbClr val="FBEAEA"/>
          </a:solidFill>
          <a:ln/>
          <a:effectLst>
            <a:outerShdw blurRad="101600" dist="38100" dir="5400000" algn="bl" rotWithShape="0">
              <a:srgbClr val="0A1A33">
                <a:alpha val="12000"/>
              </a:srgbClr>
            </a:outerShdw>
          </a:effectLst>
        </p:spPr>
        <p:txBody>
          <a:bodyPr/>
          <a:lstStyle/>
          <a:p>
            <a:endParaRPr lang="es-ES"/>
          </a:p>
        </p:txBody>
      </p:sp>
      <p:sp>
        <p:nvSpPr>
          <p:cNvPr id="7" name="Text 5"/>
          <p:cNvSpPr/>
          <p:nvPr/>
        </p:nvSpPr>
        <p:spPr>
          <a:xfrm>
            <a:off x="731520" y="2075688"/>
            <a:ext cx="2236394" cy="411480"/>
          </a:xfrm>
          <a:prstGeom prst="rect">
            <a:avLst/>
          </a:prstGeom>
          <a:noFill/>
          <a:ln/>
        </p:spPr>
        <p:txBody>
          <a:bodyPr wrap="square" lIns="0" tIns="0" rIns="0" bIns="0"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VAN DEL PROYECTO</a:t>
            </a:r>
            <a:endParaRPr lang="en-US" sz="1000" dirty="0"/>
          </a:p>
        </p:txBody>
      </p:sp>
      <p:sp>
        <p:nvSpPr>
          <p:cNvPr id="8" name="Text 6"/>
          <p:cNvSpPr/>
          <p:nvPr/>
        </p:nvSpPr>
        <p:spPr>
          <a:xfrm>
            <a:off x="731520" y="2468880"/>
            <a:ext cx="2236394" cy="868680"/>
          </a:xfrm>
          <a:prstGeom prst="rect">
            <a:avLst/>
          </a:prstGeom>
          <a:noFill/>
          <a:ln/>
        </p:spPr>
        <p:txBody>
          <a:bodyPr wrap="square" lIns="0" tIns="0" rIns="0" bIns="0" rtlCol="0" anchor="ctr"/>
          <a:lstStyle/>
          <a:p>
            <a:pPr marL="0" indent="0">
              <a:buNone/>
            </a:pPr>
            <a:r>
              <a:rPr lang="en-US" sz="1900" b="1" dirty="0">
                <a:solidFill>
                  <a:srgbClr val="C73E3E"/>
                </a:solidFill>
                <a:latin typeface="Cambria" pitchFamily="34" charset="0"/>
                <a:ea typeface="Cambria" pitchFamily="34" charset="-122"/>
                <a:cs typeface="Cambria" pitchFamily="34" charset="-120"/>
              </a:rPr>
              <a:t>-461.713,11 €</a:t>
            </a:r>
            <a:endParaRPr lang="en-US" sz="1900" dirty="0"/>
          </a:p>
        </p:txBody>
      </p:sp>
      <p:sp>
        <p:nvSpPr>
          <p:cNvPr id="9" name="Text 7"/>
          <p:cNvSpPr/>
          <p:nvPr/>
        </p:nvSpPr>
        <p:spPr>
          <a:xfrm>
            <a:off x="731520" y="3383280"/>
            <a:ext cx="2236394" cy="640080"/>
          </a:xfrm>
          <a:prstGeom prst="rect">
            <a:avLst/>
          </a:prstGeom>
          <a:noFill/>
          <a:ln/>
        </p:spPr>
        <p:txBody>
          <a:bodyPr wrap="square" lIns="0" tIns="0" rIns="0" bIns="0" rtlCol="0" anchor="ctr"/>
          <a:lstStyle/>
          <a:p>
            <a:pPr marL="0" indent="0">
              <a:lnSpc>
                <a:spcPct val="115000"/>
              </a:lnSpc>
              <a:buNone/>
            </a:pPr>
            <a:r>
              <a:rPr lang="en-US" sz="950" dirty="0">
                <a:solidFill>
                  <a:srgbClr val="152238"/>
                </a:solidFill>
                <a:latin typeface="Calibri" pitchFamily="34" charset="0"/>
                <a:ea typeface="Calibri" pitchFamily="34" charset="-122"/>
                <a:cs typeface="Calibri" pitchFamily="34" charset="-120"/>
              </a:rPr>
              <a:t>Descuento a Ke real 8,74 %</a:t>
            </a:r>
            <a:endParaRPr lang="en-US" sz="950" dirty="0"/>
          </a:p>
        </p:txBody>
      </p:sp>
      <p:sp>
        <p:nvSpPr>
          <p:cNvPr id="10" name="Shape 8"/>
          <p:cNvSpPr/>
          <p:nvPr/>
        </p:nvSpPr>
        <p:spPr>
          <a:xfrm>
            <a:off x="3379394" y="1874520"/>
            <a:ext cx="2602154" cy="2286000"/>
          </a:xfrm>
          <a:prstGeom prst="roundRect">
            <a:avLst>
              <a:gd name="adj" fmla="val 3600"/>
            </a:avLst>
          </a:prstGeom>
          <a:solidFill>
            <a:srgbClr val="FBEAEA"/>
          </a:solidFill>
          <a:ln/>
          <a:effectLst>
            <a:outerShdw blurRad="101600" dist="38100" dir="5400000" algn="bl" rotWithShape="0">
              <a:srgbClr val="0A1A33">
                <a:alpha val="12000"/>
              </a:srgbClr>
            </a:outerShdw>
          </a:effectLst>
        </p:spPr>
        <p:txBody>
          <a:bodyPr/>
          <a:lstStyle/>
          <a:p>
            <a:endParaRPr lang="es-ES"/>
          </a:p>
        </p:txBody>
      </p:sp>
      <p:sp>
        <p:nvSpPr>
          <p:cNvPr id="11" name="Text 9"/>
          <p:cNvSpPr/>
          <p:nvPr/>
        </p:nvSpPr>
        <p:spPr>
          <a:xfrm>
            <a:off x="3562274" y="2075688"/>
            <a:ext cx="2236394" cy="411480"/>
          </a:xfrm>
          <a:prstGeom prst="rect">
            <a:avLst/>
          </a:prstGeom>
          <a:noFill/>
          <a:ln/>
        </p:spPr>
        <p:txBody>
          <a:bodyPr wrap="square" lIns="0" tIns="0" rIns="0" bIns="0"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TIR DEL PROYECTO</a:t>
            </a:r>
            <a:endParaRPr lang="en-US" sz="1000" dirty="0"/>
          </a:p>
        </p:txBody>
      </p:sp>
      <p:sp>
        <p:nvSpPr>
          <p:cNvPr id="12" name="Text 10"/>
          <p:cNvSpPr/>
          <p:nvPr/>
        </p:nvSpPr>
        <p:spPr>
          <a:xfrm>
            <a:off x="3562274" y="2468880"/>
            <a:ext cx="2236394" cy="868680"/>
          </a:xfrm>
          <a:prstGeom prst="rect">
            <a:avLst/>
          </a:prstGeom>
          <a:noFill/>
          <a:ln/>
        </p:spPr>
        <p:txBody>
          <a:bodyPr wrap="square" lIns="0" tIns="0" rIns="0" bIns="0" rtlCol="0" anchor="ctr"/>
          <a:lstStyle/>
          <a:p>
            <a:pPr marL="0" indent="0">
              <a:buNone/>
            </a:pPr>
            <a:r>
              <a:rPr lang="en-US" sz="1900" b="1" dirty="0">
                <a:solidFill>
                  <a:srgbClr val="C73E3E"/>
                </a:solidFill>
                <a:latin typeface="Cambria" pitchFamily="34" charset="0"/>
                <a:ea typeface="Cambria" pitchFamily="34" charset="-122"/>
                <a:cs typeface="Cambria" pitchFamily="34" charset="-120"/>
              </a:rPr>
              <a:t>No calculable</a:t>
            </a:r>
            <a:endParaRPr lang="en-US" sz="1900" dirty="0"/>
          </a:p>
        </p:txBody>
      </p:sp>
      <p:sp>
        <p:nvSpPr>
          <p:cNvPr id="13" name="Text 11"/>
          <p:cNvSpPr/>
          <p:nvPr/>
        </p:nvSpPr>
        <p:spPr>
          <a:xfrm>
            <a:off x="3562274" y="3383280"/>
            <a:ext cx="2236394" cy="640080"/>
          </a:xfrm>
          <a:prstGeom prst="rect">
            <a:avLst/>
          </a:prstGeom>
          <a:noFill/>
          <a:ln/>
        </p:spPr>
        <p:txBody>
          <a:bodyPr wrap="square" lIns="0" tIns="0" rIns="0" bIns="0" rtlCol="0" anchor="ctr"/>
          <a:lstStyle/>
          <a:p>
            <a:pPr marL="0" indent="0">
              <a:lnSpc>
                <a:spcPct val="115000"/>
              </a:lnSpc>
              <a:buNone/>
            </a:pPr>
            <a:r>
              <a:rPr lang="en-US" sz="950" dirty="0">
                <a:solidFill>
                  <a:srgbClr val="152238"/>
                </a:solidFill>
                <a:latin typeface="Calibri" pitchFamily="34" charset="0"/>
                <a:ea typeface="Calibri" pitchFamily="34" charset="-122"/>
                <a:cs typeface="Calibri" pitchFamily="34" charset="-120"/>
              </a:rPr>
              <a:t>Sin recuperación positiva suficiente (#NUM!)</a:t>
            </a:r>
            <a:endParaRPr lang="en-US" sz="950" dirty="0"/>
          </a:p>
        </p:txBody>
      </p:sp>
      <p:sp>
        <p:nvSpPr>
          <p:cNvPr id="14" name="Shape 12"/>
          <p:cNvSpPr/>
          <p:nvPr/>
        </p:nvSpPr>
        <p:spPr>
          <a:xfrm>
            <a:off x="6210148" y="1874520"/>
            <a:ext cx="2602154" cy="2286000"/>
          </a:xfrm>
          <a:prstGeom prst="roundRect">
            <a:avLst>
              <a:gd name="adj" fmla="val 3600"/>
            </a:avLst>
          </a:prstGeom>
          <a:solidFill>
            <a:srgbClr val="FBEAEA"/>
          </a:solidFill>
          <a:ln/>
          <a:effectLst>
            <a:outerShdw blurRad="101600" dist="38100" dir="5400000" algn="bl" rotWithShape="0">
              <a:srgbClr val="0A1A33">
                <a:alpha val="12000"/>
              </a:srgbClr>
            </a:outerShdw>
          </a:effectLst>
        </p:spPr>
        <p:txBody>
          <a:bodyPr/>
          <a:lstStyle/>
          <a:p>
            <a:endParaRPr lang="es-ES"/>
          </a:p>
        </p:txBody>
      </p:sp>
      <p:sp>
        <p:nvSpPr>
          <p:cNvPr id="15" name="Text 13"/>
          <p:cNvSpPr/>
          <p:nvPr/>
        </p:nvSpPr>
        <p:spPr>
          <a:xfrm>
            <a:off x="6393028" y="2075688"/>
            <a:ext cx="2236394" cy="411480"/>
          </a:xfrm>
          <a:prstGeom prst="rect">
            <a:avLst/>
          </a:prstGeom>
          <a:noFill/>
          <a:ln/>
        </p:spPr>
        <p:txBody>
          <a:bodyPr wrap="square" lIns="0" tIns="0" rIns="0" bIns="0"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VAE</a:t>
            </a:r>
            <a:endParaRPr lang="en-US" sz="1000" dirty="0"/>
          </a:p>
        </p:txBody>
      </p:sp>
      <p:sp>
        <p:nvSpPr>
          <p:cNvPr id="16" name="Text 14"/>
          <p:cNvSpPr/>
          <p:nvPr/>
        </p:nvSpPr>
        <p:spPr>
          <a:xfrm>
            <a:off x="6393028" y="2468880"/>
            <a:ext cx="2236394" cy="868680"/>
          </a:xfrm>
          <a:prstGeom prst="rect">
            <a:avLst/>
          </a:prstGeom>
          <a:noFill/>
          <a:ln/>
        </p:spPr>
        <p:txBody>
          <a:bodyPr wrap="square" lIns="0" tIns="0" rIns="0" bIns="0" rtlCol="0" anchor="ctr"/>
          <a:lstStyle/>
          <a:p>
            <a:pPr marL="0" indent="0">
              <a:buNone/>
            </a:pPr>
            <a:r>
              <a:rPr lang="en-US" sz="1900" b="1" dirty="0">
                <a:solidFill>
                  <a:srgbClr val="C73E3E"/>
                </a:solidFill>
                <a:latin typeface="Cambria" pitchFamily="34" charset="0"/>
                <a:ea typeface="Cambria" pitchFamily="34" charset="-122"/>
                <a:cs typeface="Cambria" pitchFamily="34" charset="-120"/>
              </a:rPr>
              <a:t>-117.896,69 €</a:t>
            </a:r>
            <a:endParaRPr lang="en-US" sz="1900" dirty="0"/>
          </a:p>
        </p:txBody>
      </p:sp>
      <p:sp>
        <p:nvSpPr>
          <p:cNvPr id="17" name="Text 15"/>
          <p:cNvSpPr/>
          <p:nvPr/>
        </p:nvSpPr>
        <p:spPr>
          <a:xfrm>
            <a:off x="6393028" y="3383280"/>
            <a:ext cx="2236394" cy="640080"/>
          </a:xfrm>
          <a:prstGeom prst="rect">
            <a:avLst/>
          </a:prstGeom>
          <a:noFill/>
          <a:ln/>
        </p:spPr>
        <p:txBody>
          <a:bodyPr wrap="square" lIns="0" tIns="0" rIns="0" bIns="0" rtlCol="0" anchor="ctr"/>
          <a:lstStyle/>
          <a:p>
            <a:pPr marL="0" indent="0">
              <a:lnSpc>
                <a:spcPct val="115000"/>
              </a:lnSpc>
              <a:buNone/>
            </a:pPr>
            <a:r>
              <a:rPr lang="en-US" sz="950" dirty="0">
                <a:solidFill>
                  <a:srgbClr val="152238"/>
                </a:solidFill>
                <a:latin typeface="Calibri" pitchFamily="34" charset="0"/>
                <a:ea typeface="Calibri" pitchFamily="34" charset="-122"/>
                <a:cs typeface="Calibri" pitchFamily="34" charset="-120"/>
              </a:rPr>
              <a:t>Coste anual equivalente (VAN negativo)</a:t>
            </a:r>
            <a:endParaRPr lang="en-US" sz="950" dirty="0"/>
          </a:p>
        </p:txBody>
      </p:sp>
      <p:sp>
        <p:nvSpPr>
          <p:cNvPr id="18" name="Shape 16"/>
          <p:cNvSpPr/>
          <p:nvPr/>
        </p:nvSpPr>
        <p:spPr>
          <a:xfrm>
            <a:off x="9040901" y="1874520"/>
            <a:ext cx="2602154" cy="2286000"/>
          </a:xfrm>
          <a:prstGeom prst="roundRect">
            <a:avLst>
              <a:gd name="adj" fmla="val 3600"/>
            </a:avLst>
          </a:prstGeom>
          <a:solidFill>
            <a:srgbClr val="FBEAEA"/>
          </a:solidFill>
          <a:ln/>
          <a:effectLst>
            <a:outerShdw blurRad="101600" dist="38100" dir="5400000" algn="bl" rotWithShape="0">
              <a:srgbClr val="0A1A33">
                <a:alpha val="12000"/>
              </a:srgbClr>
            </a:outerShdw>
          </a:effectLst>
        </p:spPr>
        <p:txBody>
          <a:bodyPr/>
          <a:lstStyle/>
          <a:p>
            <a:endParaRPr lang="es-ES"/>
          </a:p>
        </p:txBody>
      </p:sp>
      <p:sp>
        <p:nvSpPr>
          <p:cNvPr id="19" name="Text 17"/>
          <p:cNvSpPr/>
          <p:nvPr/>
        </p:nvSpPr>
        <p:spPr>
          <a:xfrm>
            <a:off x="9223781" y="2075688"/>
            <a:ext cx="2236394" cy="411480"/>
          </a:xfrm>
          <a:prstGeom prst="rect">
            <a:avLst/>
          </a:prstGeom>
          <a:noFill/>
          <a:ln/>
        </p:spPr>
        <p:txBody>
          <a:bodyPr wrap="square" lIns="0" tIns="0" rIns="0" bIns="0"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PAYBACK DESCONTADO</a:t>
            </a:r>
            <a:endParaRPr lang="en-US" sz="1000" dirty="0"/>
          </a:p>
        </p:txBody>
      </p:sp>
      <p:sp>
        <p:nvSpPr>
          <p:cNvPr id="20" name="Text 18"/>
          <p:cNvSpPr/>
          <p:nvPr/>
        </p:nvSpPr>
        <p:spPr>
          <a:xfrm>
            <a:off x="9223781" y="2468880"/>
            <a:ext cx="2236394" cy="868680"/>
          </a:xfrm>
          <a:prstGeom prst="rect">
            <a:avLst/>
          </a:prstGeom>
          <a:noFill/>
          <a:ln/>
        </p:spPr>
        <p:txBody>
          <a:bodyPr wrap="square" lIns="0" tIns="0" rIns="0" bIns="0" rtlCol="0" anchor="ctr"/>
          <a:lstStyle/>
          <a:p>
            <a:pPr marL="0" indent="0">
              <a:buNone/>
            </a:pPr>
            <a:r>
              <a:rPr lang="en-US" sz="1900" b="1" dirty="0">
                <a:solidFill>
                  <a:srgbClr val="C73E3E"/>
                </a:solidFill>
                <a:latin typeface="Cambria" pitchFamily="34" charset="0"/>
                <a:ea typeface="Cambria" pitchFamily="34" charset="-122"/>
                <a:cs typeface="Cambria" pitchFamily="34" charset="-120"/>
              </a:rPr>
              <a:t>No se alcanza</a:t>
            </a:r>
            <a:endParaRPr lang="en-US" sz="1900" dirty="0"/>
          </a:p>
        </p:txBody>
      </p:sp>
      <p:sp>
        <p:nvSpPr>
          <p:cNvPr id="21" name="Text 19"/>
          <p:cNvSpPr/>
          <p:nvPr/>
        </p:nvSpPr>
        <p:spPr>
          <a:xfrm>
            <a:off x="9223781" y="3383280"/>
            <a:ext cx="2236394" cy="640080"/>
          </a:xfrm>
          <a:prstGeom prst="rect">
            <a:avLst/>
          </a:prstGeom>
          <a:noFill/>
          <a:ln/>
        </p:spPr>
        <p:txBody>
          <a:bodyPr wrap="square" lIns="0" tIns="0" rIns="0" bIns="0" rtlCol="0" anchor="ctr"/>
          <a:lstStyle/>
          <a:p>
            <a:pPr marL="0" indent="0">
              <a:lnSpc>
                <a:spcPct val="115000"/>
              </a:lnSpc>
              <a:buNone/>
            </a:pPr>
            <a:r>
              <a:rPr lang="en-US" sz="950" dirty="0">
                <a:solidFill>
                  <a:srgbClr val="152238"/>
                </a:solidFill>
                <a:latin typeface="Calibri" pitchFamily="34" charset="0"/>
                <a:ea typeface="Calibri" pitchFamily="34" charset="-122"/>
                <a:cs typeface="Calibri" pitchFamily="34" charset="-120"/>
              </a:rPr>
              <a:t>Acumulado final: -461.713 € en el año 5</a:t>
            </a:r>
            <a:endParaRPr lang="en-US" sz="950" dirty="0"/>
          </a:p>
        </p:txBody>
      </p:sp>
      <p:sp>
        <p:nvSpPr>
          <p:cNvPr id="22" name="Shape 20"/>
          <p:cNvSpPr/>
          <p:nvPr/>
        </p:nvSpPr>
        <p:spPr>
          <a:xfrm>
            <a:off x="548639" y="4502799"/>
            <a:ext cx="11094415" cy="1417320"/>
          </a:xfrm>
          <a:prstGeom prst="roundRect">
            <a:avLst>
              <a:gd name="adj" fmla="val 5806"/>
            </a:avLst>
          </a:prstGeom>
          <a:solidFill>
            <a:srgbClr val="0A1A33"/>
          </a:solidFill>
          <a:ln/>
        </p:spPr>
        <p:txBody>
          <a:bodyPr/>
          <a:lstStyle/>
          <a:p>
            <a:endParaRPr lang="es-ES"/>
          </a:p>
        </p:txBody>
      </p:sp>
      <p:sp>
        <p:nvSpPr>
          <p:cNvPr id="23" name="Shape 21"/>
          <p:cNvSpPr/>
          <p:nvPr/>
        </p:nvSpPr>
        <p:spPr>
          <a:xfrm>
            <a:off x="868680" y="4841268"/>
            <a:ext cx="685800" cy="685800"/>
          </a:xfrm>
          <a:prstGeom prst="ellipse">
            <a:avLst/>
          </a:prstGeom>
          <a:solidFill>
            <a:srgbClr val="C73E3E"/>
          </a:solidFill>
          <a:ln/>
        </p:spPr>
        <p:txBody>
          <a:bodyPr/>
          <a:lstStyle/>
          <a:p>
            <a:endParaRPr lang="es-ES"/>
          </a:p>
        </p:txBody>
      </p:sp>
      <p:pic>
        <p:nvPicPr>
          <p:cNvPr id="24" name="Image 0" descr="assets/timescircle.png"/>
          <p:cNvPicPr>
            <a:picLocks noChangeAspect="1"/>
          </p:cNvPicPr>
          <p:nvPr/>
        </p:nvPicPr>
        <p:blipFill>
          <a:blip r:embed="rId3"/>
          <a:stretch>
            <a:fillRect/>
          </a:stretch>
        </p:blipFill>
        <p:spPr>
          <a:xfrm>
            <a:off x="1046988" y="5019576"/>
            <a:ext cx="329184" cy="329184"/>
          </a:xfrm>
          <a:prstGeom prst="rect">
            <a:avLst/>
          </a:prstGeom>
        </p:spPr>
      </p:pic>
      <p:sp>
        <p:nvSpPr>
          <p:cNvPr id="25" name="Text 22"/>
          <p:cNvSpPr/>
          <p:nvPr/>
        </p:nvSpPr>
        <p:spPr>
          <a:xfrm>
            <a:off x="1828800" y="4572000"/>
            <a:ext cx="9539935" cy="457200"/>
          </a:xfrm>
          <a:prstGeom prst="rect">
            <a:avLst/>
          </a:prstGeom>
          <a:noFill/>
          <a:ln/>
        </p:spPr>
        <p:txBody>
          <a:bodyPr wrap="square" lIns="0" tIns="0" rIns="0" bIns="0" rtlCol="0" anchor="ctr"/>
          <a:lstStyle/>
          <a:p>
            <a:pPr marL="0" indent="0">
              <a:buNone/>
            </a:pPr>
            <a:r>
              <a:rPr lang="en-US" sz="1600" b="1" dirty="0" err="1">
                <a:solidFill>
                  <a:srgbClr val="FFFFFF"/>
                </a:solidFill>
                <a:latin typeface="Cambria" pitchFamily="34" charset="0"/>
                <a:ea typeface="Cambria" pitchFamily="34" charset="-122"/>
                <a:cs typeface="Cambria" pitchFamily="34" charset="-120"/>
              </a:rPr>
              <a:t>Decisión</a:t>
            </a:r>
            <a:r>
              <a:rPr lang="en-US" sz="1600" b="1" dirty="0">
                <a:solidFill>
                  <a:srgbClr val="FFFFFF"/>
                </a:solidFill>
                <a:latin typeface="Cambria" pitchFamily="34" charset="0"/>
                <a:ea typeface="Cambria" pitchFamily="34" charset="-122"/>
                <a:cs typeface="Cambria" pitchFamily="34" charset="-120"/>
              </a:rPr>
              <a:t> de inversión: NO acometer el proyecto en su configuración actual</a:t>
            </a:r>
            <a:endParaRPr lang="en-US" sz="1600" dirty="0"/>
          </a:p>
        </p:txBody>
      </p:sp>
      <p:sp>
        <p:nvSpPr>
          <p:cNvPr id="26" name="Text 23"/>
          <p:cNvSpPr/>
          <p:nvPr/>
        </p:nvSpPr>
        <p:spPr>
          <a:xfrm>
            <a:off x="1828800" y="4841268"/>
            <a:ext cx="9539935" cy="375864"/>
          </a:xfrm>
          <a:prstGeom prst="rect">
            <a:avLst/>
          </a:prstGeom>
          <a:noFill/>
          <a:ln/>
        </p:spPr>
        <p:txBody>
          <a:bodyPr wrap="square" lIns="0" tIns="0" rIns="0" bIns="0" rtlCol="0" anchor="ctr"/>
          <a:lstStyle/>
          <a:p>
            <a:pPr marL="0" indent="0">
              <a:lnSpc>
                <a:spcPct val="125000"/>
              </a:lnSpc>
              <a:buNone/>
            </a:pPr>
            <a:r>
              <a:rPr lang="en-US" sz="1200" dirty="0">
                <a:solidFill>
                  <a:srgbClr val="CFE9EC"/>
                </a:solidFill>
                <a:latin typeface="Calibri" pitchFamily="34" charset="0"/>
                <a:ea typeface="Calibri" pitchFamily="34" charset="-122"/>
                <a:cs typeface="Calibri" pitchFamily="34" charset="-120"/>
              </a:rPr>
              <a:t>El VAN del inversionista también es negativo (-490.611,23 €): la deuda no mejora la rentabilidad del accionista, sino que la </a:t>
            </a:r>
            <a:r>
              <a:rPr lang="en-US" sz="1200" dirty="0" err="1">
                <a:solidFill>
                  <a:srgbClr val="CFE9EC"/>
                </a:solidFill>
                <a:latin typeface="Calibri" pitchFamily="34" charset="0"/>
                <a:ea typeface="Calibri" pitchFamily="34" charset="-122"/>
                <a:cs typeface="Calibri" pitchFamily="34" charset="-120"/>
              </a:rPr>
              <a:t>empeora</a:t>
            </a:r>
            <a:r>
              <a:rPr lang="en-US" sz="1200" dirty="0">
                <a:solidFill>
                  <a:srgbClr val="CFE9EC"/>
                </a:solidFill>
                <a:latin typeface="Calibri" pitchFamily="34" charset="0"/>
                <a:ea typeface="Calibri" pitchFamily="34" charset="-122"/>
                <a:cs typeface="Calibri" pitchFamily="34" charset="-120"/>
              </a:rPr>
              <a:t>.</a:t>
            </a:r>
          </a:p>
        </p:txBody>
      </p:sp>
      <p:sp>
        <p:nvSpPr>
          <p:cNvPr id="27" name="Text 24"/>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8" name="Text 25"/>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15</a:t>
            </a:r>
            <a:endParaRPr lang="en-US" sz="900" dirty="0"/>
          </a:p>
        </p:txBody>
      </p:sp>
      <p:sp>
        <p:nvSpPr>
          <p:cNvPr id="29" name="Text 22">
            <a:extLst>
              <a:ext uri="{FF2B5EF4-FFF2-40B4-BE49-F238E27FC236}">
                <a16:creationId xmlns:a16="http://schemas.microsoft.com/office/drawing/2014/main" id="{289D9121-7F73-76CA-BC49-EBE31AE9FFB1}"/>
              </a:ext>
            </a:extLst>
          </p:cNvPr>
          <p:cNvSpPr/>
          <p:nvPr/>
        </p:nvSpPr>
        <p:spPr>
          <a:xfrm>
            <a:off x="1828800" y="5211459"/>
            <a:ext cx="9539935" cy="59667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El </a:t>
            </a:r>
            <a:r>
              <a:rPr lang="en-US" sz="1600" b="1" dirty="0" err="1">
                <a:solidFill>
                  <a:srgbClr val="FFFFFF"/>
                </a:solidFill>
                <a:latin typeface="Cambria" pitchFamily="34" charset="0"/>
                <a:ea typeface="Cambria" pitchFamily="34" charset="-122"/>
                <a:cs typeface="Cambria" pitchFamily="34" charset="-120"/>
              </a:rPr>
              <a:t>problema</a:t>
            </a:r>
            <a:r>
              <a:rPr lang="en-US" sz="1600" b="1" dirty="0">
                <a:solidFill>
                  <a:srgbClr val="FFFFFF"/>
                </a:solidFill>
                <a:latin typeface="Cambria" pitchFamily="34" charset="0"/>
                <a:ea typeface="Cambria" pitchFamily="34" charset="-122"/>
                <a:cs typeface="Cambria" pitchFamily="34" charset="-120"/>
              </a:rPr>
              <a:t> no es </a:t>
            </a:r>
            <a:r>
              <a:rPr lang="en-US" sz="1600" b="1" dirty="0" err="1">
                <a:solidFill>
                  <a:srgbClr val="FFFFFF"/>
                </a:solidFill>
                <a:latin typeface="Cambria" pitchFamily="34" charset="0"/>
                <a:ea typeface="Cambria" pitchFamily="34" charset="-122"/>
                <a:cs typeface="Cambria" pitchFamily="34" charset="-120"/>
              </a:rPr>
              <a:t>que</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el</a:t>
            </a:r>
            <a:r>
              <a:rPr lang="en-US" sz="1600" b="1" dirty="0">
                <a:solidFill>
                  <a:srgbClr val="FFFFFF"/>
                </a:solidFill>
                <a:latin typeface="Cambria" pitchFamily="34" charset="0"/>
                <a:ea typeface="Cambria" pitchFamily="34" charset="-122"/>
                <a:cs typeface="Cambria" pitchFamily="34" charset="-120"/>
              </a:rPr>
              <a:t> Proyecto no </a:t>
            </a:r>
            <a:r>
              <a:rPr lang="en-US" sz="1600" b="1" dirty="0" err="1">
                <a:solidFill>
                  <a:srgbClr val="FFFFFF"/>
                </a:solidFill>
                <a:latin typeface="Cambria" pitchFamily="34" charset="0"/>
                <a:ea typeface="Cambria" pitchFamily="34" charset="-122"/>
                <a:cs typeface="Cambria" pitchFamily="34" charset="-120"/>
              </a:rPr>
              <a:t>mejore</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sino</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que</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mejora</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demasiado</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tarde</a:t>
            </a:r>
            <a:r>
              <a:rPr lang="en-US" sz="1600" b="1" dirty="0">
                <a:solidFill>
                  <a:srgbClr val="FFFFFF"/>
                </a:solidFill>
                <a:latin typeface="Cambria" pitchFamily="34" charset="0"/>
                <a:ea typeface="Cambria" pitchFamily="34" charset="-122"/>
                <a:cs typeface="Cambria" pitchFamily="34" charset="-120"/>
              </a:rPr>
              <a:t> y </a:t>
            </a:r>
            <a:r>
              <a:rPr lang="en-US" sz="1600" b="1" dirty="0" err="1">
                <a:solidFill>
                  <a:srgbClr val="FFFFFF"/>
                </a:solidFill>
                <a:latin typeface="Cambria" pitchFamily="34" charset="0"/>
                <a:ea typeface="Cambria" pitchFamily="34" charset="-122"/>
                <a:cs typeface="Cambria" pitchFamily="34" charset="-120"/>
              </a:rPr>
              <a:t>desde</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una</a:t>
            </a:r>
            <a:r>
              <a:rPr lang="en-US" sz="1600" b="1" dirty="0">
                <a:solidFill>
                  <a:srgbClr val="FFFFFF"/>
                </a:solidFill>
                <a:latin typeface="Cambria" pitchFamily="34" charset="0"/>
                <a:ea typeface="Cambria" pitchFamily="34" charset="-122"/>
                <a:cs typeface="Cambria" pitchFamily="34" charset="-120"/>
              </a:rPr>
              <a:t> base </a:t>
            </a:r>
            <a:r>
              <a:rPr lang="en-US" sz="1600" b="1" dirty="0" err="1">
                <a:solidFill>
                  <a:srgbClr val="FFFFFF"/>
                </a:solidFill>
                <a:latin typeface="Cambria" pitchFamily="34" charset="0"/>
                <a:ea typeface="Cambria" pitchFamily="34" charset="-122"/>
                <a:cs typeface="Cambria" pitchFamily="34" charset="-120"/>
              </a:rPr>
              <a:t>demasiado</a:t>
            </a:r>
            <a:r>
              <a:rPr lang="en-US" sz="1600" b="1" dirty="0">
                <a:solidFill>
                  <a:srgbClr val="FFFFFF"/>
                </a:solidFill>
                <a:latin typeface="Cambria" pitchFamily="34" charset="0"/>
                <a:ea typeface="Cambria" pitchFamily="34" charset="-122"/>
                <a:cs typeface="Cambria" pitchFamily="34" charset="-120"/>
              </a:rPr>
              <a:t> </a:t>
            </a:r>
            <a:r>
              <a:rPr lang="en-US" sz="1600" b="1" dirty="0" err="1">
                <a:solidFill>
                  <a:srgbClr val="FFFFFF"/>
                </a:solidFill>
                <a:latin typeface="Cambria" pitchFamily="34" charset="0"/>
                <a:ea typeface="Cambria" pitchFamily="34" charset="-122"/>
                <a:cs typeface="Cambria" pitchFamily="34" charset="-120"/>
              </a:rPr>
              <a:t>pequeña</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12</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SENSIBILIDAD Y VAN = 0</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100" b="1" dirty="0">
                <a:solidFill>
                  <a:srgbClr val="0A1A33"/>
                </a:solidFill>
                <a:latin typeface="Cambria" pitchFamily="34" charset="0"/>
                <a:ea typeface="Cambria" pitchFamily="34" charset="-122"/>
                <a:cs typeface="Cambria" pitchFamily="34" charset="-120"/>
              </a:rPr>
              <a:t>Ninguna variable aislada revierte el resultado en el rango analizado</a:t>
            </a:r>
            <a:endParaRPr lang="en-US" sz="2100" dirty="0"/>
          </a:p>
        </p:txBody>
      </p:sp>
      <p:sp>
        <p:nvSpPr>
          <p:cNvPr id="6" name="Shape 4"/>
          <p:cNvSpPr/>
          <p:nvPr/>
        </p:nvSpPr>
        <p:spPr>
          <a:xfrm>
            <a:off x="548640" y="1783080"/>
            <a:ext cx="5364328" cy="3063240"/>
          </a:xfrm>
          <a:prstGeom prst="roundRect">
            <a:avLst>
              <a:gd name="adj" fmla="val 2687"/>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Text 5"/>
          <p:cNvSpPr/>
          <p:nvPr/>
        </p:nvSpPr>
        <p:spPr>
          <a:xfrm>
            <a:off x="777240" y="1920240"/>
            <a:ext cx="4907128" cy="502920"/>
          </a:xfrm>
          <a:prstGeom prst="rect">
            <a:avLst/>
          </a:prstGeom>
          <a:noFill/>
          <a:ln/>
        </p:spPr>
        <p:txBody>
          <a:bodyPr wrap="square" lIns="0" tIns="0" rIns="0" bIns="0" rtlCol="0" anchor="ctr"/>
          <a:lstStyle/>
          <a:p>
            <a:pPr marL="0" indent="0">
              <a:lnSpc>
                <a:spcPct val="110000"/>
              </a:lnSpc>
              <a:buNone/>
            </a:pPr>
            <a:r>
              <a:rPr lang="en-US" sz="1100" b="1" dirty="0">
                <a:solidFill>
                  <a:srgbClr val="64748B"/>
                </a:solidFill>
                <a:latin typeface="Calibri" pitchFamily="34" charset="0"/>
                <a:ea typeface="Calibri" pitchFamily="34" charset="-122"/>
                <a:cs typeface="Calibri" pitchFamily="34" charset="-120"/>
              </a:rPr>
              <a:t>Sensibilidad unidimensional — VAN vs. tasa de descuento</a:t>
            </a:r>
            <a:endParaRPr lang="en-US" sz="1100" dirty="0"/>
          </a:p>
        </p:txBody>
      </p:sp>
      <p:graphicFrame>
        <p:nvGraphicFramePr>
          <p:cNvPr id="8" name="Chart 0"/>
          <p:cNvGraphicFramePr/>
          <p:nvPr/>
        </p:nvGraphicFramePr>
        <p:xfrm>
          <a:off x="731520" y="2468880"/>
          <a:ext cx="4998568"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278728" y="1783080"/>
            <a:ext cx="5364328" cy="3063240"/>
          </a:xfrm>
          <a:prstGeom prst="roundRect">
            <a:avLst>
              <a:gd name="adj" fmla="val 2687"/>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0" name="Text 7"/>
          <p:cNvSpPr/>
          <p:nvPr/>
        </p:nvSpPr>
        <p:spPr>
          <a:xfrm>
            <a:off x="6507328" y="1920240"/>
            <a:ext cx="4907128" cy="36576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Sensibilidad bidimensional — VAN (k€) según clientes × precio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07328" y="2331720"/>
          <a:ext cx="4907128" cy="1810512"/>
        </p:xfrm>
        <a:graphic>
          <a:graphicData uri="http://schemas.openxmlformats.org/drawingml/2006/table">
            <a:tbl>
              <a:tblPr/>
              <a:tblGrid>
                <a:gridCol w="883283">
                  <a:extLst>
                    <a:ext uri="{9D8B030D-6E8A-4147-A177-3AD203B41FA5}">
                      <a16:colId xmlns:a16="http://schemas.microsoft.com/office/drawing/2014/main" val="20000"/>
                    </a:ext>
                  </a:extLst>
                </a:gridCol>
                <a:gridCol w="804769">
                  <a:extLst>
                    <a:ext uri="{9D8B030D-6E8A-4147-A177-3AD203B41FA5}">
                      <a16:colId xmlns:a16="http://schemas.microsoft.com/office/drawing/2014/main" val="20001"/>
                    </a:ext>
                  </a:extLst>
                </a:gridCol>
                <a:gridCol w="804769">
                  <a:extLst>
                    <a:ext uri="{9D8B030D-6E8A-4147-A177-3AD203B41FA5}">
                      <a16:colId xmlns:a16="http://schemas.microsoft.com/office/drawing/2014/main" val="20002"/>
                    </a:ext>
                  </a:extLst>
                </a:gridCol>
                <a:gridCol w="804769">
                  <a:extLst>
                    <a:ext uri="{9D8B030D-6E8A-4147-A177-3AD203B41FA5}">
                      <a16:colId xmlns:a16="http://schemas.microsoft.com/office/drawing/2014/main" val="20003"/>
                    </a:ext>
                  </a:extLst>
                </a:gridCol>
                <a:gridCol w="804769">
                  <a:extLst>
                    <a:ext uri="{9D8B030D-6E8A-4147-A177-3AD203B41FA5}">
                      <a16:colId xmlns:a16="http://schemas.microsoft.com/office/drawing/2014/main" val="20004"/>
                    </a:ext>
                  </a:extLst>
                </a:gridCol>
                <a:gridCol w="804769">
                  <a:extLst>
                    <a:ext uri="{9D8B030D-6E8A-4147-A177-3AD203B41FA5}">
                      <a16:colId xmlns:a16="http://schemas.microsoft.com/office/drawing/2014/main" val="20005"/>
                    </a:ext>
                  </a:extLst>
                </a:gridCol>
              </a:tblGrid>
              <a:tr h="301752">
                <a:tc>
                  <a:txBody>
                    <a:bodyPr/>
                    <a:lstStyle/>
                    <a:p>
                      <a:pPr marL="0" indent="0">
                        <a:buNone/>
                      </a:pPr>
                      <a:endParaRPr lang="en-US" sz="120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rPr>
                        <a:t>75 €</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1A33"/>
                    </a:solidFill>
                  </a:tcPr>
                </a:tc>
                <a:tc>
                  <a:txBody>
                    <a:bodyPr/>
                    <a:lstStyle/>
                    <a:p>
                      <a:pPr marL="0" indent="0" algn="ctr">
                        <a:buNone/>
                      </a:pPr>
                      <a:r>
                        <a:rPr lang="en-US" sz="950" b="1" dirty="0">
                          <a:solidFill>
                            <a:srgbClr val="FFFFFF"/>
                          </a:solidFill>
                        </a:rPr>
                        <a:t>105 €</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1A33"/>
                    </a:solidFill>
                  </a:tcPr>
                </a:tc>
                <a:tc>
                  <a:txBody>
                    <a:bodyPr/>
                    <a:lstStyle/>
                    <a:p>
                      <a:pPr marL="0" indent="0" algn="ctr">
                        <a:buNone/>
                      </a:pPr>
                      <a:r>
                        <a:rPr lang="en-US" sz="950" b="1" dirty="0">
                          <a:solidFill>
                            <a:srgbClr val="FFFFFF"/>
                          </a:solidFill>
                        </a:rPr>
                        <a:t>135 €</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1A33"/>
                    </a:solidFill>
                  </a:tcPr>
                </a:tc>
                <a:tc>
                  <a:txBody>
                    <a:bodyPr/>
                    <a:lstStyle/>
                    <a:p>
                      <a:pPr marL="0" indent="0" algn="ctr">
                        <a:buNone/>
                      </a:pPr>
                      <a:r>
                        <a:rPr lang="en-US" sz="950" b="1" dirty="0">
                          <a:solidFill>
                            <a:srgbClr val="FFFFFF"/>
                          </a:solidFill>
                        </a:rPr>
                        <a:t>165 €</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1A33"/>
                    </a:solidFill>
                  </a:tcPr>
                </a:tc>
                <a:tc>
                  <a:txBody>
                    <a:bodyPr/>
                    <a:lstStyle/>
                    <a:p>
                      <a:pPr marL="0" indent="0" algn="ctr">
                        <a:buNone/>
                      </a:pPr>
                      <a:r>
                        <a:rPr lang="en-US" sz="950" b="1" dirty="0">
                          <a:solidFill>
                            <a:srgbClr val="FFFFFF"/>
                          </a:solidFill>
                        </a:rPr>
                        <a:t>195 €</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1A33"/>
                    </a:solidFill>
                  </a:tcPr>
                </a:tc>
                <a:extLst>
                  <a:ext uri="{0D108BD9-81ED-4DB2-BD59-A6C34878D82A}">
                    <a16:rowId xmlns:a16="http://schemas.microsoft.com/office/drawing/2014/main" val="10000"/>
                  </a:ext>
                </a:extLst>
              </a:tr>
              <a:tr h="301752">
                <a:tc>
                  <a:txBody>
                    <a:bodyPr/>
                    <a:lstStyle/>
                    <a:p>
                      <a:pPr marL="0" indent="0" algn="ctr">
                        <a:buNone/>
                      </a:pPr>
                      <a:r>
                        <a:rPr lang="en-US" sz="950" b="1" dirty="0">
                          <a:solidFill>
                            <a:srgbClr val="0A1A33"/>
                          </a:solidFill>
                        </a:rPr>
                        <a:t>10 cli.</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marL="0" indent="0" algn="ctr">
                        <a:buNone/>
                      </a:pPr>
                      <a:r>
                        <a:rPr lang="en-US" sz="950" dirty="0">
                          <a:solidFill>
                            <a:srgbClr val="FFFFFF"/>
                          </a:solidFill>
                        </a:rPr>
                        <a:t>-616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1F"/>
                    </a:solidFill>
                  </a:tcPr>
                </a:tc>
                <a:tc>
                  <a:txBody>
                    <a:bodyPr/>
                    <a:lstStyle/>
                    <a:p>
                      <a:pPr marL="0" indent="0" algn="ctr">
                        <a:buNone/>
                      </a:pPr>
                      <a:r>
                        <a:rPr lang="en-US" sz="950" dirty="0">
                          <a:solidFill>
                            <a:srgbClr val="FFFFFF"/>
                          </a:solidFill>
                        </a:rPr>
                        <a:t>-613</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C2121"/>
                    </a:solidFill>
                  </a:tcPr>
                </a:tc>
                <a:tc>
                  <a:txBody>
                    <a:bodyPr/>
                    <a:lstStyle/>
                    <a:p>
                      <a:pPr marL="0" indent="0" algn="ctr">
                        <a:buNone/>
                      </a:pPr>
                      <a:r>
                        <a:rPr lang="en-US" sz="950" dirty="0">
                          <a:solidFill>
                            <a:srgbClr val="FFFFFF"/>
                          </a:solidFill>
                        </a:rPr>
                        <a:t>-610</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D2323"/>
                    </a:solidFill>
                  </a:tcPr>
                </a:tc>
                <a:tc>
                  <a:txBody>
                    <a:bodyPr/>
                    <a:lstStyle/>
                    <a:p>
                      <a:pPr marL="0" indent="0" algn="ctr">
                        <a:buNone/>
                      </a:pPr>
                      <a:r>
                        <a:rPr lang="en-US" sz="950" dirty="0">
                          <a:solidFill>
                            <a:srgbClr val="FFFFFF"/>
                          </a:solidFill>
                        </a:rPr>
                        <a:t>-606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F2626"/>
                    </a:solidFill>
                  </a:tcPr>
                </a:tc>
                <a:tc>
                  <a:txBody>
                    <a:bodyPr/>
                    <a:lstStyle/>
                    <a:p>
                      <a:pPr marL="0" indent="0" algn="ctr">
                        <a:buNone/>
                      </a:pPr>
                      <a:r>
                        <a:rPr lang="en-US" sz="950" dirty="0">
                          <a:solidFill>
                            <a:srgbClr val="FFFFFF"/>
                          </a:solidFill>
                        </a:rPr>
                        <a:t>-603</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02828"/>
                    </a:solidFill>
                  </a:tcPr>
                </a:tc>
                <a:extLst>
                  <a:ext uri="{0D108BD9-81ED-4DB2-BD59-A6C34878D82A}">
                    <a16:rowId xmlns:a16="http://schemas.microsoft.com/office/drawing/2014/main" val="10001"/>
                  </a:ext>
                </a:extLst>
              </a:tr>
              <a:tr h="301752">
                <a:tc>
                  <a:txBody>
                    <a:bodyPr/>
                    <a:lstStyle/>
                    <a:p>
                      <a:pPr marL="0" indent="0" algn="ctr">
                        <a:buNone/>
                      </a:pPr>
                      <a:r>
                        <a:rPr lang="en-US" sz="950" b="1" dirty="0">
                          <a:solidFill>
                            <a:srgbClr val="0A1A33"/>
                          </a:solidFill>
                        </a:rPr>
                        <a:t>14 cli.</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marL="0" indent="0" algn="ctr">
                        <a:buNone/>
                      </a:pPr>
                      <a:r>
                        <a:rPr lang="en-US" sz="950" dirty="0">
                          <a:solidFill>
                            <a:srgbClr val="FFFFFF"/>
                          </a:solidFill>
                        </a:rPr>
                        <a:t>-561</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44444"/>
                    </a:solidFill>
                  </a:tcPr>
                </a:tc>
                <a:tc>
                  <a:txBody>
                    <a:bodyPr/>
                    <a:lstStyle/>
                    <a:p>
                      <a:pPr marL="0" indent="0" algn="ctr">
                        <a:buNone/>
                      </a:pPr>
                      <a:r>
                        <a:rPr lang="en-US" sz="950" dirty="0">
                          <a:solidFill>
                            <a:srgbClr val="FFFFFF"/>
                          </a:solidFill>
                        </a:rPr>
                        <a:t>-556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64747"/>
                    </a:solidFill>
                  </a:tcPr>
                </a:tc>
                <a:tc>
                  <a:txBody>
                    <a:bodyPr/>
                    <a:lstStyle/>
                    <a:p>
                      <a:pPr marL="0" indent="0" algn="ctr">
                        <a:buNone/>
                      </a:pPr>
                      <a:r>
                        <a:rPr lang="en-US" sz="950" dirty="0">
                          <a:solidFill>
                            <a:srgbClr val="FFFFFF"/>
                          </a:solidFill>
                        </a:rPr>
                        <a:t>-552</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84A4A"/>
                    </a:solidFill>
                  </a:tcPr>
                </a:tc>
                <a:tc>
                  <a:txBody>
                    <a:bodyPr/>
                    <a:lstStyle/>
                    <a:p>
                      <a:pPr marL="0" indent="0" algn="ctr">
                        <a:buNone/>
                      </a:pPr>
                      <a:r>
                        <a:rPr lang="en-US" sz="950" dirty="0">
                          <a:solidFill>
                            <a:srgbClr val="FFFFFF"/>
                          </a:solidFill>
                        </a:rPr>
                        <a:t>-547</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4D4D"/>
                    </a:solidFill>
                  </a:tcPr>
                </a:tc>
                <a:tc>
                  <a:txBody>
                    <a:bodyPr/>
                    <a:lstStyle/>
                    <a:p>
                      <a:pPr marL="0" indent="0" algn="ctr">
                        <a:buNone/>
                      </a:pPr>
                      <a:r>
                        <a:rPr lang="en-US" sz="950" dirty="0">
                          <a:solidFill>
                            <a:srgbClr val="FFFFFF"/>
                          </a:solidFill>
                        </a:rPr>
                        <a:t>-542</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D5050"/>
                    </a:solidFill>
                  </a:tcPr>
                </a:tc>
                <a:extLst>
                  <a:ext uri="{0D108BD9-81ED-4DB2-BD59-A6C34878D82A}">
                    <a16:rowId xmlns:a16="http://schemas.microsoft.com/office/drawing/2014/main" val="10002"/>
                  </a:ext>
                </a:extLst>
              </a:tr>
              <a:tr h="301752">
                <a:tc>
                  <a:txBody>
                    <a:bodyPr/>
                    <a:lstStyle/>
                    <a:p>
                      <a:pPr marL="0" indent="0" algn="ctr">
                        <a:buNone/>
                      </a:pPr>
                      <a:r>
                        <a:rPr lang="en-US" sz="950" b="1" dirty="0">
                          <a:solidFill>
                            <a:srgbClr val="0A1A33"/>
                          </a:solidFill>
                        </a:rPr>
                        <a:t>18 cli.</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marL="0" indent="0" algn="ctr">
                        <a:buNone/>
                      </a:pPr>
                      <a:r>
                        <a:rPr lang="en-US" sz="950" dirty="0">
                          <a:solidFill>
                            <a:srgbClr val="FFFFFF"/>
                          </a:solidFill>
                        </a:rPr>
                        <a:t>-506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E6969"/>
                    </a:solidFill>
                  </a:tcPr>
                </a:tc>
                <a:tc>
                  <a:txBody>
                    <a:bodyPr/>
                    <a:lstStyle/>
                    <a:p>
                      <a:pPr marL="0" indent="0" algn="ctr">
                        <a:buNone/>
                      </a:pPr>
                      <a:r>
                        <a:rPr lang="en-US" sz="950" dirty="0">
                          <a:solidFill>
                            <a:srgbClr val="FFFFFF"/>
                          </a:solidFill>
                        </a:rPr>
                        <a:t>-500</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16C6C"/>
                    </a:solidFill>
                  </a:tcPr>
                </a:tc>
                <a:tc>
                  <a:txBody>
                    <a:bodyPr/>
                    <a:lstStyle/>
                    <a:p>
                      <a:pPr marL="0" indent="0" algn="ctr">
                        <a:buNone/>
                      </a:pPr>
                      <a:r>
                        <a:rPr lang="en-US" sz="950" dirty="0">
                          <a:solidFill>
                            <a:srgbClr val="FFFFFF"/>
                          </a:solidFill>
                        </a:rPr>
                        <a:t>-494</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7070"/>
                    </a:solidFill>
                  </a:tcPr>
                </a:tc>
                <a:tc>
                  <a:txBody>
                    <a:bodyPr/>
                    <a:lstStyle/>
                    <a:p>
                      <a:pPr marL="0" indent="0" algn="ctr">
                        <a:buNone/>
                      </a:pPr>
                      <a:r>
                        <a:rPr lang="en-US" sz="950" dirty="0">
                          <a:solidFill>
                            <a:srgbClr val="FFFFFF"/>
                          </a:solidFill>
                        </a:rPr>
                        <a:t>-488</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67474"/>
                    </a:solidFill>
                  </a:tcPr>
                </a:tc>
                <a:tc>
                  <a:txBody>
                    <a:bodyPr/>
                    <a:lstStyle/>
                    <a:p>
                      <a:pPr marL="0" indent="0" algn="ctr">
                        <a:buNone/>
                      </a:pPr>
                      <a:r>
                        <a:rPr lang="en-US" sz="950" dirty="0">
                          <a:solidFill>
                            <a:srgbClr val="FFFFFF"/>
                          </a:solidFill>
                        </a:rPr>
                        <a:t>-482</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97878"/>
                    </a:solidFill>
                  </a:tcPr>
                </a:tc>
                <a:extLst>
                  <a:ext uri="{0D108BD9-81ED-4DB2-BD59-A6C34878D82A}">
                    <a16:rowId xmlns:a16="http://schemas.microsoft.com/office/drawing/2014/main" val="10003"/>
                  </a:ext>
                </a:extLst>
              </a:tr>
              <a:tr h="301752">
                <a:tc>
                  <a:txBody>
                    <a:bodyPr/>
                    <a:lstStyle/>
                    <a:p>
                      <a:pPr marL="0" indent="0" algn="ctr">
                        <a:buNone/>
                      </a:pPr>
                      <a:r>
                        <a:rPr lang="en-US" sz="950" b="1" dirty="0">
                          <a:solidFill>
                            <a:srgbClr val="0A1A33"/>
                          </a:solidFill>
                        </a:rPr>
                        <a:t>22 cli.</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marL="0" indent="0" algn="ctr">
                        <a:buNone/>
                      </a:pPr>
                      <a:r>
                        <a:rPr lang="en-US" sz="950" dirty="0">
                          <a:solidFill>
                            <a:srgbClr val="5A2020"/>
                          </a:solidFill>
                        </a:rPr>
                        <a:t>-451</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88D8D"/>
                    </a:solidFill>
                  </a:tcPr>
                </a:tc>
                <a:tc>
                  <a:txBody>
                    <a:bodyPr/>
                    <a:lstStyle/>
                    <a:p>
                      <a:pPr marL="0" indent="0" algn="ctr">
                        <a:buNone/>
                      </a:pPr>
                      <a:r>
                        <a:rPr lang="en-US" sz="950" dirty="0">
                          <a:solidFill>
                            <a:srgbClr val="5A2020"/>
                          </a:solidFill>
                        </a:rPr>
                        <a:t>-443</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9292"/>
                    </a:solidFill>
                  </a:tcPr>
                </a:tc>
                <a:tc>
                  <a:txBody>
                    <a:bodyPr/>
                    <a:lstStyle/>
                    <a:p>
                      <a:pPr marL="0" indent="0" algn="ctr">
                        <a:buNone/>
                      </a:pPr>
                      <a:r>
                        <a:rPr lang="en-US" sz="950" dirty="0">
                          <a:solidFill>
                            <a:srgbClr val="5A2020"/>
                          </a:solidFill>
                        </a:rPr>
                        <a:t>-436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F9797"/>
                    </a:solidFill>
                  </a:tcPr>
                </a:tc>
                <a:tc>
                  <a:txBody>
                    <a:bodyPr/>
                    <a:lstStyle/>
                    <a:p>
                      <a:pPr marL="0" indent="0" algn="ctr">
                        <a:buNone/>
                      </a:pPr>
                      <a:r>
                        <a:rPr lang="en-US" sz="950" dirty="0">
                          <a:solidFill>
                            <a:srgbClr val="5A2020"/>
                          </a:solidFill>
                        </a:rPr>
                        <a:t>-429</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29C9C"/>
                    </a:solidFill>
                  </a:tcPr>
                </a:tc>
                <a:tc>
                  <a:txBody>
                    <a:bodyPr/>
                    <a:lstStyle/>
                    <a:p>
                      <a:pPr marL="0" indent="0" algn="ctr">
                        <a:buNone/>
                      </a:pPr>
                      <a:r>
                        <a:rPr lang="en-US" sz="950" dirty="0">
                          <a:solidFill>
                            <a:srgbClr val="5A2020"/>
                          </a:solidFill>
                        </a:rPr>
                        <a:t>-422</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A1A1"/>
                    </a:solidFill>
                  </a:tcPr>
                </a:tc>
                <a:extLst>
                  <a:ext uri="{0D108BD9-81ED-4DB2-BD59-A6C34878D82A}">
                    <a16:rowId xmlns:a16="http://schemas.microsoft.com/office/drawing/2014/main" val="10004"/>
                  </a:ext>
                </a:extLst>
              </a:tr>
              <a:tr h="301752">
                <a:tc>
                  <a:txBody>
                    <a:bodyPr/>
                    <a:lstStyle/>
                    <a:p>
                      <a:pPr marL="0" indent="0" algn="ctr">
                        <a:buNone/>
                      </a:pPr>
                      <a:r>
                        <a:rPr lang="en-US" sz="950" b="1" dirty="0">
                          <a:solidFill>
                            <a:srgbClr val="0A1A33"/>
                          </a:solidFill>
                        </a:rPr>
                        <a:t>26 cli.</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marL="0" indent="0" algn="ctr">
                        <a:buNone/>
                      </a:pPr>
                      <a:r>
                        <a:rPr lang="en-US" sz="950" dirty="0">
                          <a:solidFill>
                            <a:srgbClr val="5A2020"/>
                          </a:solidFill>
                        </a:rPr>
                        <a:t>-396</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B2B2"/>
                    </a:solidFill>
                  </a:tcPr>
                </a:tc>
                <a:tc>
                  <a:txBody>
                    <a:bodyPr/>
                    <a:lstStyle/>
                    <a:p>
                      <a:pPr marL="0" indent="0" algn="ctr">
                        <a:buNone/>
                      </a:pPr>
                      <a:r>
                        <a:rPr lang="en-US" sz="950" dirty="0">
                          <a:solidFill>
                            <a:srgbClr val="5A2020"/>
                          </a:solidFill>
                        </a:rPr>
                        <a:t>-387</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B8B8"/>
                    </a:solidFill>
                  </a:tcPr>
                </a:tc>
                <a:tc>
                  <a:txBody>
                    <a:bodyPr/>
                    <a:lstStyle/>
                    <a:p>
                      <a:pPr marL="0" indent="0" algn="ctr">
                        <a:buNone/>
                      </a:pPr>
                      <a:r>
                        <a:rPr lang="en-US" sz="950" dirty="0">
                          <a:solidFill>
                            <a:srgbClr val="5A2020"/>
                          </a:solidFill>
                        </a:rPr>
                        <a:t>-378</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ABEBE"/>
                    </a:solidFill>
                  </a:tcPr>
                </a:tc>
                <a:tc>
                  <a:txBody>
                    <a:bodyPr/>
                    <a:lstStyle/>
                    <a:p>
                      <a:pPr marL="0" indent="0" algn="ctr">
                        <a:buNone/>
                      </a:pPr>
                      <a:r>
                        <a:rPr lang="en-US" sz="950" dirty="0">
                          <a:solidFill>
                            <a:srgbClr val="5A2020"/>
                          </a:solidFill>
                        </a:rPr>
                        <a:t>-370</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C3C3"/>
                    </a:solidFill>
                  </a:tcPr>
                </a:tc>
                <a:tc>
                  <a:txBody>
                    <a:bodyPr/>
                    <a:lstStyle/>
                    <a:p>
                      <a:pPr marL="0" indent="0" algn="ctr">
                        <a:buNone/>
                      </a:pPr>
                      <a:r>
                        <a:rPr lang="en-US" sz="950" dirty="0">
                          <a:solidFill>
                            <a:srgbClr val="5A2020"/>
                          </a:solidFill>
                        </a:rPr>
                        <a:t>-361</a:t>
                      </a:r>
                      <a:endParaRPr lang="en-US" sz="950" dirty="0"/>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C9C9"/>
                    </a:solidFill>
                  </a:tcPr>
                </a:tc>
                <a:extLst>
                  <a:ext uri="{0D108BD9-81ED-4DB2-BD59-A6C34878D82A}">
                    <a16:rowId xmlns:a16="http://schemas.microsoft.com/office/drawing/2014/main" val="10005"/>
                  </a:ext>
                </a:extLst>
              </a:tr>
            </a:tbl>
          </a:graphicData>
        </a:graphic>
      </p:graphicFrame>
      <p:sp>
        <p:nvSpPr>
          <p:cNvPr id="11" name="Text 8"/>
          <p:cNvSpPr/>
          <p:nvPr/>
        </p:nvSpPr>
        <p:spPr>
          <a:xfrm>
            <a:off x="6507328" y="4251960"/>
            <a:ext cx="4907128" cy="457200"/>
          </a:xfrm>
          <a:prstGeom prst="rect">
            <a:avLst/>
          </a:prstGeom>
          <a:noFill/>
          <a:ln/>
        </p:spPr>
        <p:txBody>
          <a:bodyPr wrap="square" lIns="0" tIns="0" rIns="0" bIns="0" rtlCol="0" anchor="ctr"/>
          <a:lstStyle/>
          <a:p>
            <a:pPr marL="0" indent="0">
              <a:lnSpc>
                <a:spcPct val="115000"/>
              </a:lnSpc>
              <a:buNone/>
            </a:pPr>
            <a:r>
              <a:rPr lang="en-US" sz="950" i="1" dirty="0">
                <a:solidFill>
                  <a:srgbClr val="64748B"/>
                </a:solidFill>
                <a:latin typeface="Calibri" pitchFamily="34" charset="0"/>
                <a:ea typeface="Calibri" pitchFamily="34" charset="-122"/>
                <a:cs typeface="Calibri" pitchFamily="34" charset="-120"/>
              </a:rPr>
              <a:t>Incluso en la celda más favorable (26 clientes, 195 €/mes) el VAN sigue siendo de -361.100 €.</a:t>
            </a:r>
            <a:endParaRPr lang="en-US" sz="950" dirty="0"/>
          </a:p>
        </p:txBody>
      </p:sp>
      <p:sp>
        <p:nvSpPr>
          <p:cNvPr id="13" name="Shape 9"/>
          <p:cNvSpPr/>
          <p:nvPr/>
        </p:nvSpPr>
        <p:spPr>
          <a:xfrm>
            <a:off x="548640" y="5074920"/>
            <a:ext cx="11094415" cy="1051560"/>
          </a:xfrm>
          <a:prstGeom prst="roundRect">
            <a:avLst>
              <a:gd name="adj" fmla="val 7826"/>
            </a:avLst>
          </a:prstGeom>
          <a:solidFill>
            <a:srgbClr val="0A1A33"/>
          </a:solidFill>
          <a:ln/>
        </p:spPr>
        <p:txBody>
          <a:bodyPr/>
          <a:lstStyle/>
          <a:p>
            <a:endParaRPr lang="es-ES"/>
          </a:p>
        </p:txBody>
      </p:sp>
      <p:sp>
        <p:nvSpPr>
          <p:cNvPr id="14" name="Shape 10"/>
          <p:cNvSpPr/>
          <p:nvPr/>
        </p:nvSpPr>
        <p:spPr>
          <a:xfrm>
            <a:off x="822960" y="5330952"/>
            <a:ext cx="548640" cy="548640"/>
          </a:xfrm>
          <a:prstGeom prst="ellipse">
            <a:avLst/>
          </a:prstGeom>
          <a:solidFill>
            <a:srgbClr val="0EA5B0"/>
          </a:solidFill>
          <a:ln/>
        </p:spPr>
        <p:txBody>
          <a:bodyPr/>
          <a:lstStyle/>
          <a:p>
            <a:endParaRPr lang="es-ES"/>
          </a:p>
        </p:txBody>
      </p:sp>
      <p:pic>
        <p:nvPicPr>
          <p:cNvPr id="15" name="Image 0" descr="assets/sliders.png"/>
          <p:cNvPicPr>
            <a:picLocks noChangeAspect="1"/>
          </p:cNvPicPr>
          <p:nvPr/>
        </p:nvPicPr>
        <p:blipFill>
          <a:blip r:embed="rId4"/>
          <a:stretch>
            <a:fillRect/>
          </a:stretch>
        </p:blipFill>
        <p:spPr>
          <a:xfrm>
            <a:off x="965606" y="5473598"/>
            <a:ext cx="263347" cy="263347"/>
          </a:xfrm>
          <a:prstGeom prst="rect">
            <a:avLst/>
          </a:prstGeom>
        </p:spPr>
      </p:pic>
      <p:sp>
        <p:nvSpPr>
          <p:cNvPr id="16" name="Text 11"/>
          <p:cNvSpPr/>
          <p:nvPr/>
        </p:nvSpPr>
        <p:spPr>
          <a:xfrm>
            <a:off x="1508760" y="5074920"/>
            <a:ext cx="7253935" cy="1051560"/>
          </a:xfrm>
          <a:prstGeom prst="rect">
            <a:avLst/>
          </a:prstGeom>
          <a:noFill/>
          <a:ln/>
        </p:spPr>
        <p:txBody>
          <a:bodyPr wrap="square" lIns="0" tIns="0" rIns="0" bIns="0" rtlCol="0" anchor="ctr"/>
          <a:lstStyle/>
          <a:p>
            <a:pPr marL="0" indent="0">
              <a:lnSpc>
                <a:spcPct val="120000"/>
              </a:lnSpc>
              <a:buNone/>
            </a:pPr>
            <a:r>
              <a:rPr lang="en-US" sz="1400" b="1" dirty="0">
                <a:solidFill>
                  <a:srgbClr val="FFFFFF"/>
                </a:solidFill>
                <a:latin typeface="Calibri" pitchFamily="34" charset="0"/>
                <a:ea typeface="Calibri" pitchFamily="34" charset="-122"/>
                <a:cs typeface="Calibri" pitchFamily="34" charset="-120"/>
              </a:rPr>
              <a:t>Punto VAN = 0:  </a:t>
            </a:r>
            <a:r>
              <a:rPr lang="en-US" sz="1200" dirty="0">
                <a:solidFill>
                  <a:srgbClr val="CFE9EC"/>
                </a:solidFill>
                <a:latin typeface="Calibri" pitchFamily="34" charset="0"/>
                <a:ea typeface="Calibri" pitchFamily="34" charset="-122"/>
                <a:cs typeface="Calibri" pitchFamily="34" charset="-120"/>
              </a:rPr>
              <a:t>se necesitarían como mínimo 52 clientes en el año 1 (frente a los 20 reales) para alcanzar el equilibrio financiero, manteniendo el resto de hipótesis constantes.</a:t>
            </a:r>
            <a:endParaRPr lang="en-US" sz="1400" dirty="0"/>
          </a:p>
        </p:txBody>
      </p:sp>
      <p:sp>
        <p:nvSpPr>
          <p:cNvPr id="17" name="Text 12"/>
          <p:cNvSpPr/>
          <p:nvPr/>
        </p:nvSpPr>
        <p:spPr>
          <a:xfrm>
            <a:off x="8579815" y="5074920"/>
            <a:ext cx="2788920" cy="1051560"/>
          </a:xfrm>
          <a:prstGeom prst="rect">
            <a:avLst/>
          </a:prstGeom>
          <a:noFill/>
          <a:ln/>
        </p:spPr>
        <p:txBody>
          <a:bodyPr wrap="square" lIns="0" tIns="0" rIns="0" bIns="0" rtlCol="0" anchor="ctr"/>
          <a:lstStyle/>
          <a:p>
            <a:pPr marL="0" indent="0" algn="r">
              <a:lnSpc>
                <a:spcPct val="130000"/>
              </a:lnSpc>
              <a:buNone/>
            </a:pPr>
            <a:r>
              <a:rPr lang="en-US" sz="1100" b="1" dirty="0">
                <a:solidFill>
                  <a:srgbClr val="FFFFFF"/>
                </a:solidFill>
                <a:latin typeface="Calibri" pitchFamily="34" charset="0"/>
                <a:ea typeface="Calibri" pitchFamily="34" charset="-122"/>
                <a:cs typeface="Calibri" pitchFamily="34" charset="-120"/>
              </a:rPr>
              <a:t>FF año 1: -51.964 €</a:t>
            </a:r>
            <a:endParaRPr lang="en-US" sz="1100" dirty="0"/>
          </a:p>
          <a:p>
            <a:pPr marL="0" indent="0" algn="r">
              <a:lnSpc>
                <a:spcPct val="130000"/>
              </a:lnSpc>
              <a:buNone/>
            </a:pPr>
            <a:r>
              <a:rPr lang="en-US" sz="1100" b="1" dirty="0">
                <a:solidFill>
                  <a:srgbClr val="0EA5B0"/>
                </a:solidFill>
                <a:latin typeface="Calibri" pitchFamily="34" charset="0"/>
                <a:ea typeface="Calibri" pitchFamily="34" charset="-122"/>
                <a:cs typeface="Calibri" pitchFamily="34" charset="-120"/>
              </a:rPr>
              <a:t>FF año 5: +208.194 €</a:t>
            </a:r>
            <a:endParaRPr lang="en-US" sz="1100" dirty="0"/>
          </a:p>
        </p:txBody>
      </p:sp>
      <p:sp>
        <p:nvSpPr>
          <p:cNvPr id="18" name="Text 13"/>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19" name="Text 14"/>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13</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64748B"/>
                </a:solidFill>
                <a:latin typeface="Calibri" pitchFamily="34" charset="0"/>
                <a:ea typeface="Calibri" pitchFamily="34" charset="-122"/>
                <a:cs typeface="Calibri" pitchFamily="34" charset="-120"/>
              </a:rPr>
              <a:t>SIMULACIÓN MONTE CARLO</a:t>
            </a:r>
            <a:endParaRPr lang="en-US" sz="1200" dirty="0"/>
          </a:p>
        </p:txBody>
      </p:sp>
      <p:sp>
        <p:nvSpPr>
          <p:cNvPr id="5" name="Text 3"/>
          <p:cNvSpPr/>
          <p:nvPr/>
        </p:nvSpPr>
        <p:spPr>
          <a:xfrm>
            <a:off x="548640" y="896112"/>
            <a:ext cx="11064240" cy="777240"/>
          </a:xfrm>
          <a:prstGeom prst="rect">
            <a:avLst/>
          </a:prstGeom>
          <a:noFill/>
          <a:ln/>
        </p:spPr>
        <p:txBody>
          <a:bodyPr wrap="square" lIns="0" tIns="0" rIns="0" bIns="0" rtlCol="0" anchor="t"/>
          <a:lstStyle/>
          <a:p>
            <a:pPr marL="0" indent="0" algn="l">
              <a:lnSpc>
                <a:spcPct val="102000"/>
              </a:lnSpc>
              <a:buNone/>
            </a:pPr>
            <a:r>
              <a:rPr lang="en-US" sz="2200" b="1" dirty="0">
                <a:solidFill>
                  <a:srgbClr val="0A1A33"/>
                </a:solidFill>
                <a:latin typeface="Cambria" pitchFamily="34" charset="0"/>
                <a:ea typeface="Cambria" pitchFamily="34" charset="-122"/>
                <a:cs typeface="Cambria" pitchFamily="34" charset="-120"/>
              </a:rPr>
              <a:t>0,00 % de probabilidad de VAN positivo en 1.000 iteraciones</a:t>
            </a:r>
            <a:endParaRPr lang="en-US" sz="2200" dirty="0"/>
          </a:p>
        </p:txBody>
      </p:sp>
      <p:sp>
        <p:nvSpPr>
          <p:cNvPr id="6" name="Shape 4"/>
          <p:cNvSpPr/>
          <p:nvPr/>
        </p:nvSpPr>
        <p:spPr>
          <a:xfrm>
            <a:off x="548640" y="1828800"/>
            <a:ext cx="3246120" cy="3931920"/>
          </a:xfrm>
          <a:prstGeom prst="roundRect">
            <a:avLst>
              <a:gd name="adj" fmla="val 2535"/>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7" name="Text 5"/>
          <p:cNvSpPr/>
          <p:nvPr/>
        </p:nvSpPr>
        <p:spPr>
          <a:xfrm>
            <a:off x="822960" y="2103120"/>
            <a:ext cx="2697480" cy="274320"/>
          </a:xfrm>
          <a:prstGeom prst="rect">
            <a:avLst/>
          </a:prstGeom>
          <a:noFill/>
          <a:ln/>
        </p:spPr>
        <p:txBody>
          <a:bodyPr wrap="square" lIns="0" tIns="0" rIns="0" bIns="0" rtlCol="0" anchor="ctr"/>
          <a:lstStyle/>
          <a:p>
            <a:pPr marL="0" indent="0">
              <a:buNone/>
            </a:pPr>
            <a:r>
              <a:rPr lang="en-US" sz="950" b="1" kern="0" spc="50" dirty="0">
                <a:solidFill>
                  <a:srgbClr val="64748B"/>
                </a:solidFill>
                <a:latin typeface="Calibri" pitchFamily="34" charset="0"/>
                <a:ea typeface="Calibri" pitchFamily="34" charset="-122"/>
                <a:cs typeface="Calibri" pitchFamily="34" charset="-120"/>
              </a:rPr>
              <a:t>VAN ESPERADO</a:t>
            </a:r>
            <a:endParaRPr lang="en-US" sz="950" dirty="0"/>
          </a:p>
        </p:txBody>
      </p:sp>
      <p:sp>
        <p:nvSpPr>
          <p:cNvPr id="8" name="Text 6"/>
          <p:cNvSpPr/>
          <p:nvPr/>
        </p:nvSpPr>
        <p:spPr>
          <a:xfrm>
            <a:off x="822960" y="2377440"/>
            <a:ext cx="2697480" cy="411480"/>
          </a:xfrm>
          <a:prstGeom prst="rect">
            <a:avLst/>
          </a:prstGeom>
          <a:noFill/>
          <a:ln/>
        </p:spPr>
        <p:txBody>
          <a:bodyPr wrap="square" lIns="0" tIns="0" rIns="0" bIns="0" rtlCol="0" anchor="ctr"/>
          <a:lstStyle/>
          <a:p>
            <a:pPr marL="0" indent="0">
              <a:buNone/>
            </a:pPr>
            <a:r>
              <a:rPr lang="en-US" sz="1700" b="1" dirty="0">
                <a:solidFill>
                  <a:srgbClr val="0A1A33"/>
                </a:solidFill>
                <a:latin typeface="Cambria" pitchFamily="34" charset="0"/>
                <a:ea typeface="Cambria" pitchFamily="34" charset="-122"/>
                <a:cs typeface="Cambria" pitchFamily="34" charset="-120"/>
              </a:rPr>
              <a:t>-441.903,61 €</a:t>
            </a:r>
            <a:endParaRPr lang="en-US" sz="1700" dirty="0"/>
          </a:p>
        </p:txBody>
      </p:sp>
      <p:sp>
        <p:nvSpPr>
          <p:cNvPr id="9" name="Text 7"/>
          <p:cNvSpPr/>
          <p:nvPr/>
        </p:nvSpPr>
        <p:spPr>
          <a:xfrm>
            <a:off x="822960" y="2944368"/>
            <a:ext cx="2697480" cy="274320"/>
          </a:xfrm>
          <a:prstGeom prst="rect">
            <a:avLst/>
          </a:prstGeom>
          <a:noFill/>
          <a:ln/>
        </p:spPr>
        <p:txBody>
          <a:bodyPr wrap="square" lIns="0" tIns="0" rIns="0" bIns="0" rtlCol="0" anchor="ctr"/>
          <a:lstStyle/>
          <a:p>
            <a:pPr marL="0" indent="0">
              <a:buNone/>
            </a:pPr>
            <a:r>
              <a:rPr lang="en-US" sz="950" b="1" kern="0" spc="50" dirty="0">
                <a:solidFill>
                  <a:srgbClr val="64748B"/>
                </a:solidFill>
                <a:latin typeface="Calibri" pitchFamily="34" charset="0"/>
                <a:ea typeface="Calibri" pitchFamily="34" charset="-122"/>
                <a:cs typeface="Calibri" pitchFamily="34" charset="-120"/>
              </a:rPr>
              <a:t>DESVIACIÓN ESTÁNDAR</a:t>
            </a:r>
            <a:endParaRPr lang="en-US" sz="950" dirty="0"/>
          </a:p>
        </p:txBody>
      </p:sp>
      <p:sp>
        <p:nvSpPr>
          <p:cNvPr id="10" name="Text 8"/>
          <p:cNvSpPr/>
          <p:nvPr/>
        </p:nvSpPr>
        <p:spPr>
          <a:xfrm>
            <a:off x="822960" y="3218688"/>
            <a:ext cx="2697480" cy="411480"/>
          </a:xfrm>
          <a:prstGeom prst="rect">
            <a:avLst/>
          </a:prstGeom>
          <a:noFill/>
          <a:ln/>
        </p:spPr>
        <p:txBody>
          <a:bodyPr wrap="square" lIns="0" tIns="0" rIns="0" bIns="0" rtlCol="0" anchor="ctr"/>
          <a:lstStyle/>
          <a:p>
            <a:pPr marL="0" indent="0">
              <a:buNone/>
            </a:pPr>
            <a:r>
              <a:rPr lang="en-US" sz="1700" b="1" dirty="0">
                <a:solidFill>
                  <a:srgbClr val="0A1A33"/>
                </a:solidFill>
                <a:latin typeface="Cambria" pitchFamily="34" charset="0"/>
                <a:ea typeface="Cambria" pitchFamily="34" charset="-122"/>
                <a:cs typeface="Cambria" pitchFamily="34" charset="-120"/>
              </a:rPr>
              <a:t>22.058,15 €</a:t>
            </a:r>
            <a:endParaRPr lang="en-US" sz="1700" dirty="0"/>
          </a:p>
        </p:txBody>
      </p:sp>
      <p:sp>
        <p:nvSpPr>
          <p:cNvPr id="11" name="Text 9"/>
          <p:cNvSpPr/>
          <p:nvPr/>
        </p:nvSpPr>
        <p:spPr>
          <a:xfrm>
            <a:off x="822960" y="3785616"/>
            <a:ext cx="2697480" cy="274320"/>
          </a:xfrm>
          <a:prstGeom prst="rect">
            <a:avLst/>
          </a:prstGeom>
          <a:noFill/>
          <a:ln/>
        </p:spPr>
        <p:txBody>
          <a:bodyPr wrap="square" lIns="0" tIns="0" rIns="0" bIns="0" rtlCol="0" anchor="ctr"/>
          <a:lstStyle/>
          <a:p>
            <a:pPr marL="0" indent="0">
              <a:buNone/>
            </a:pPr>
            <a:r>
              <a:rPr lang="en-US" sz="950" b="1" kern="0" spc="50" dirty="0">
                <a:solidFill>
                  <a:srgbClr val="64748B"/>
                </a:solidFill>
                <a:latin typeface="Calibri" pitchFamily="34" charset="0"/>
                <a:ea typeface="Calibri" pitchFamily="34" charset="-122"/>
                <a:cs typeface="Calibri" pitchFamily="34" charset="-120"/>
              </a:rPr>
              <a:t>PERCENTIL 5 / PERCENTIL 95</a:t>
            </a:r>
            <a:endParaRPr lang="en-US" sz="950" dirty="0"/>
          </a:p>
        </p:txBody>
      </p:sp>
      <p:sp>
        <p:nvSpPr>
          <p:cNvPr id="12" name="Text 10"/>
          <p:cNvSpPr/>
          <p:nvPr/>
        </p:nvSpPr>
        <p:spPr>
          <a:xfrm>
            <a:off x="822960" y="4059936"/>
            <a:ext cx="2697480" cy="411480"/>
          </a:xfrm>
          <a:prstGeom prst="rect">
            <a:avLst/>
          </a:prstGeom>
          <a:noFill/>
          <a:ln/>
        </p:spPr>
        <p:txBody>
          <a:bodyPr wrap="square" lIns="0" tIns="0" rIns="0" bIns="0" rtlCol="0" anchor="ctr"/>
          <a:lstStyle/>
          <a:p>
            <a:pPr marL="0" indent="0">
              <a:buNone/>
            </a:pPr>
            <a:r>
              <a:rPr lang="en-US" sz="1700" b="1" dirty="0">
                <a:solidFill>
                  <a:srgbClr val="0A1A33"/>
                </a:solidFill>
                <a:latin typeface="Cambria" pitchFamily="34" charset="0"/>
                <a:ea typeface="Cambria" pitchFamily="34" charset="-122"/>
                <a:cs typeface="Cambria" pitchFamily="34" charset="-120"/>
              </a:rPr>
              <a:t>-479.026 € / -405.513 €</a:t>
            </a:r>
            <a:endParaRPr lang="en-US" sz="1700" dirty="0"/>
          </a:p>
        </p:txBody>
      </p:sp>
      <p:sp>
        <p:nvSpPr>
          <p:cNvPr id="13" name="Text 11"/>
          <p:cNvSpPr/>
          <p:nvPr/>
        </p:nvSpPr>
        <p:spPr>
          <a:xfrm>
            <a:off x="822960" y="4626864"/>
            <a:ext cx="2697480" cy="274320"/>
          </a:xfrm>
          <a:prstGeom prst="rect">
            <a:avLst/>
          </a:prstGeom>
          <a:noFill/>
          <a:ln/>
        </p:spPr>
        <p:txBody>
          <a:bodyPr wrap="square" lIns="0" tIns="0" rIns="0" bIns="0" rtlCol="0" anchor="ctr"/>
          <a:lstStyle/>
          <a:p>
            <a:pPr marL="0" indent="0">
              <a:buNone/>
            </a:pPr>
            <a:r>
              <a:rPr lang="en-US" sz="950" b="1" kern="0" spc="50" dirty="0">
                <a:solidFill>
                  <a:srgbClr val="64748B"/>
                </a:solidFill>
                <a:latin typeface="Calibri" pitchFamily="34" charset="0"/>
                <a:ea typeface="Calibri" pitchFamily="34" charset="-122"/>
                <a:cs typeface="Calibri" pitchFamily="34" charset="-120"/>
              </a:rPr>
              <a:t>VAN MÍN. / VAN MÁX.</a:t>
            </a:r>
            <a:endParaRPr lang="en-US" sz="950" dirty="0"/>
          </a:p>
        </p:txBody>
      </p:sp>
      <p:sp>
        <p:nvSpPr>
          <p:cNvPr id="14" name="Text 12"/>
          <p:cNvSpPr/>
          <p:nvPr/>
        </p:nvSpPr>
        <p:spPr>
          <a:xfrm>
            <a:off x="822960" y="4901184"/>
            <a:ext cx="2697480" cy="411480"/>
          </a:xfrm>
          <a:prstGeom prst="rect">
            <a:avLst/>
          </a:prstGeom>
          <a:noFill/>
          <a:ln/>
        </p:spPr>
        <p:txBody>
          <a:bodyPr wrap="square" lIns="0" tIns="0" rIns="0" bIns="0" rtlCol="0" anchor="ctr"/>
          <a:lstStyle/>
          <a:p>
            <a:pPr marL="0" indent="0">
              <a:buNone/>
            </a:pPr>
            <a:r>
              <a:rPr lang="en-US" sz="1700" b="1" dirty="0">
                <a:solidFill>
                  <a:srgbClr val="0A1A33"/>
                </a:solidFill>
                <a:latin typeface="Cambria" pitchFamily="34" charset="0"/>
                <a:ea typeface="Cambria" pitchFamily="34" charset="-122"/>
                <a:cs typeface="Cambria" pitchFamily="34" charset="-120"/>
              </a:rPr>
              <a:t>-503.082 € / -386.690 €</a:t>
            </a:r>
            <a:endParaRPr lang="en-US" sz="1700" dirty="0"/>
          </a:p>
        </p:txBody>
      </p:sp>
      <p:sp>
        <p:nvSpPr>
          <p:cNvPr id="15" name="Shape 13"/>
          <p:cNvSpPr/>
          <p:nvPr/>
        </p:nvSpPr>
        <p:spPr>
          <a:xfrm>
            <a:off x="777240" y="5513832"/>
            <a:ext cx="2788920" cy="566928"/>
          </a:xfrm>
          <a:prstGeom prst="roundRect">
            <a:avLst>
              <a:gd name="adj" fmla="val 12903"/>
            </a:avLst>
          </a:prstGeom>
          <a:solidFill>
            <a:srgbClr val="FBEAEA"/>
          </a:solidFill>
          <a:ln/>
        </p:spPr>
        <p:txBody>
          <a:bodyPr/>
          <a:lstStyle/>
          <a:p>
            <a:endParaRPr lang="es-ES"/>
          </a:p>
        </p:txBody>
      </p:sp>
      <p:sp>
        <p:nvSpPr>
          <p:cNvPr id="16" name="Text 14"/>
          <p:cNvSpPr/>
          <p:nvPr/>
        </p:nvSpPr>
        <p:spPr>
          <a:xfrm>
            <a:off x="914400" y="5513832"/>
            <a:ext cx="2514600" cy="566928"/>
          </a:xfrm>
          <a:prstGeom prst="rect">
            <a:avLst/>
          </a:prstGeom>
          <a:noFill/>
          <a:ln/>
        </p:spPr>
        <p:txBody>
          <a:bodyPr wrap="square" lIns="0" tIns="0" rIns="0" bIns="0" rtlCol="0" anchor="ctr"/>
          <a:lstStyle/>
          <a:p>
            <a:pPr marL="0" indent="0">
              <a:buNone/>
            </a:pPr>
            <a:r>
              <a:rPr lang="en-US" sz="1900" b="1" dirty="0">
                <a:solidFill>
                  <a:srgbClr val="C73E3E"/>
                </a:solidFill>
                <a:latin typeface="Calibri" pitchFamily="34" charset="0"/>
                <a:ea typeface="Calibri" pitchFamily="34" charset="-122"/>
                <a:cs typeface="Calibri" pitchFamily="34" charset="-120"/>
              </a:rPr>
              <a:t>0,00 %  </a:t>
            </a:r>
            <a:r>
              <a:rPr lang="en-US" sz="1050" dirty="0">
                <a:solidFill>
                  <a:srgbClr val="0A1A33"/>
                </a:solidFill>
                <a:latin typeface="Calibri" pitchFamily="34" charset="0"/>
                <a:ea typeface="Calibri" pitchFamily="34" charset="-122"/>
                <a:cs typeface="Calibri" pitchFamily="34" charset="-120"/>
              </a:rPr>
              <a:t>probabilidad de VAN &gt; 0</a:t>
            </a:r>
            <a:endParaRPr lang="en-US" sz="1900" dirty="0"/>
          </a:p>
        </p:txBody>
      </p:sp>
      <p:sp>
        <p:nvSpPr>
          <p:cNvPr id="17" name="Shape 15"/>
          <p:cNvSpPr/>
          <p:nvPr/>
        </p:nvSpPr>
        <p:spPr>
          <a:xfrm>
            <a:off x="4160520" y="1828800"/>
            <a:ext cx="7482535" cy="3931920"/>
          </a:xfrm>
          <a:prstGeom prst="roundRect">
            <a:avLst>
              <a:gd name="adj" fmla="val 2093"/>
            </a:avLst>
          </a:prstGeom>
          <a:solidFill>
            <a:srgbClr val="FFFFFF"/>
          </a:solidFill>
          <a:ln/>
          <a:effectLst>
            <a:outerShdw blurRad="101600" dist="38100" dir="5400000" algn="bl" rotWithShape="0">
              <a:srgbClr val="0A1A33">
                <a:alpha val="12000"/>
              </a:srgbClr>
            </a:outerShdw>
          </a:effectLst>
        </p:spPr>
        <p:txBody>
          <a:bodyPr/>
          <a:lstStyle/>
          <a:p>
            <a:endParaRPr lang="es-ES"/>
          </a:p>
        </p:txBody>
      </p:sp>
      <p:sp>
        <p:nvSpPr>
          <p:cNvPr id="18" name="Text 16"/>
          <p:cNvSpPr/>
          <p:nvPr/>
        </p:nvSpPr>
        <p:spPr>
          <a:xfrm>
            <a:off x="4434840" y="1993392"/>
            <a:ext cx="6933895" cy="320040"/>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Distribución del VAN simulado (1.000 iteraciones, en miles de €)</a:t>
            </a:r>
            <a:endParaRPr lang="en-US" sz="1150" dirty="0"/>
          </a:p>
        </p:txBody>
      </p:sp>
      <p:graphicFrame>
        <p:nvGraphicFramePr>
          <p:cNvPr id="19" name="Chart 0"/>
          <p:cNvGraphicFramePr/>
          <p:nvPr/>
        </p:nvGraphicFramePr>
        <p:xfrm>
          <a:off x="4389120" y="2377440"/>
          <a:ext cx="7025335"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 17"/>
          <p:cNvSpPr/>
          <p:nvPr/>
        </p:nvSpPr>
        <p:spPr>
          <a:xfrm>
            <a:off x="4389120" y="4892040"/>
            <a:ext cx="7025335" cy="640080"/>
          </a:xfrm>
          <a:prstGeom prst="rect">
            <a:avLst/>
          </a:prstGeom>
          <a:noFill/>
          <a:ln/>
        </p:spPr>
        <p:txBody>
          <a:bodyPr wrap="square" lIns="0" tIns="0" rIns="0" bIns="0" rtlCol="0" anchor="ctr"/>
          <a:lstStyle/>
          <a:p>
            <a:pPr marL="0" indent="0">
              <a:lnSpc>
                <a:spcPct val="120000"/>
              </a:lnSpc>
              <a:buNone/>
            </a:pPr>
            <a:r>
              <a:rPr lang="en-US" sz="950" i="1" dirty="0">
                <a:solidFill>
                  <a:srgbClr val="64748B"/>
                </a:solidFill>
                <a:latin typeface="Calibri" pitchFamily="34" charset="0"/>
                <a:ea typeface="Calibri" pitchFamily="34" charset="-122"/>
                <a:cs typeface="Calibri" pitchFamily="34" charset="-120"/>
              </a:rPr>
              <a:t>Intervalos de VAN en miles de euros (€k)  ·  Variables simuladas: precio mensual (120–200 €) e ingresos asociados a la base de clientes</a:t>
            </a:r>
            <a:endParaRPr lang="en-US" sz="950" dirty="0"/>
          </a:p>
        </p:txBody>
      </p:sp>
      <p:sp>
        <p:nvSpPr>
          <p:cNvPr id="21" name="Text 18"/>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2" name="Text 19"/>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A1A33"/>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365760"/>
          </a:xfrm>
          <a:prstGeom prst="roundRect">
            <a:avLst>
              <a:gd name="adj" fmla="val 17500"/>
            </a:avLst>
          </a:prstGeom>
          <a:solidFill>
            <a:srgbClr val="0EA5B0"/>
          </a:solidFill>
          <a:ln/>
        </p:spPr>
        <p:txBody>
          <a:bodyPr/>
          <a:lstStyle/>
          <a:p>
            <a:endParaRPr lang="es-ES"/>
          </a:p>
        </p:txBody>
      </p:sp>
      <p:sp>
        <p:nvSpPr>
          <p:cNvPr id="3" name="Text 1"/>
          <p:cNvSpPr/>
          <p:nvPr/>
        </p:nvSpPr>
        <p:spPr>
          <a:xfrm>
            <a:off x="548640" y="457200"/>
            <a:ext cx="457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14</a:t>
            </a:r>
            <a:endParaRPr lang="en-US" sz="1500" dirty="0"/>
          </a:p>
        </p:txBody>
      </p:sp>
      <p:sp>
        <p:nvSpPr>
          <p:cNvPr id="4" name="Text 2"/>
          <p:cNvSpPr/>
          <p:nvPr/>
        </p:nvSpPr>
        <p:spPr>
          <a:xfrm>
            <a:off x="1115568" y="457200"/>
            <a:ext cx="7315200" cy="365760"/>
          </a:xfrm>
          <a:prstGeom prst="rect">
            <a:avLst/>
          </a:prstGeom>
          <a:noFill/>
          <a:ln/>
        </p:spPr>
        <p:txBody>
          <a:bodyPr wrap="square" lIns="0" tIns="0" rIns="0" bIns="0" rtlCol="0" anchor="ctr"/>
          <a:lstStyle/>
          <a:p>
            <a:pPr marL="0" indent="0" algn="l">
              <a:buNone/>
            </a:pPr>
            <a:r>
              <a:rPr lang="en-US" sz="1200" b="1" kern="0" spc="200" dirty="0">
                <a:solidFill>
                  <a:srgbClr val="CFE9EC"/>
                </a:solidFill>
                <a:latin typeface="Calibri" pitchFamily="34" charset="0"/>
                <a:ea typeface="Calibri" pitchFamily="34" charset="-122"/>
                <a:cs typeface="Calibri" pitchFamily="34" charset="-120"/>
              </a:rPr>
              <a:t>CONCLUSIONES</a:t>
            </a:r>
            <a:endParaRPr lang="en-US" sz="1200" dirty="0"/>
          </a:p>
        </p:txBody>
      </p:sp>
      <p:sp>
        <p:nvSpPr>
          <p:cNvPr id="5" name="Text 3"/>
          <p:cNvSpPr/>
          <p:nvPr/>
        </p:nvSpPr>
        <p:spPr>
          <a:xfrm>
            <a:off x="548640" y="896112"/>
            <a:ext cx="11064240" cy="868680"/>
          </a:xfrm>
          <a:prstGeom prst="rect">
            <a:avLst/>
          </a:prstGeom>
          <a:noFill/>
          <a:ln/>
        </p:spPr>
        <p:txBody>
          <a:bodyPr wrap="square" lIns="0" tIns="0" rIns="0" bIns="0" rtlCol="0" anchor="t"/>
          <a:lstStyle/>
          <a:p>
            <a:pPr marL="0" indent="0" algn="l">
              <a:lnSpc>
                <a:spcPct val="102000"/>
              </a:lnSpc>
              <a:buNone/>
            </a:pPr>
            <a:r>
              <a:rPr lang="en-US" sz="2300" b="1" dirty="0">
                <a:solidFill>
                  <a:srgbClr val="FFFFFF"/>
                </a:solidFill>
                <a:latin typeface="Cambria" pitchFamily="34" charset="0"/>
                <a:ea typeface="Cambria" pitchFamily="34" charset="-122"/>
                <a:cs typeface="Cambria" pitchFamily="34" charset="-120"/>
              </a:rPr>
              <a:t>Idea estratégica sólida; modelo financiero no viable en su configuración actual</a:t>
            </a:r>
            <a:endParaRPr lang="en-US" sz="2300" dirty="0"/>
          </a:p>
        </p:txBody>
      </p:sp>
      <p:sp>
        <p:nvSpPr>
          <p:cNvPr id="6" name="Shape 4"/>
          <p:cNvSpPr/>
          <p:nvPr/>
        </p:nvSpPr>
        <p:spPr>
          <a:xfrm>
            <a:off x="548640" y="1965960"/>
            <a:ext cx="3520440" cy="3200400"/>
          </a:xfrm>
          <a:prstGeom prst="roundRect">
            <a:avLst>
              <a:gd name="adj" fmla="val 2571"/>
            </a:avLst>
          </a:prstGeom>
          <a:solidFill>
            <a:srgbClr val="13294F"/>
          </a:solidFill>
          <a:ln/>
        </p:spPr>
        <p:txBody>
          <a:bodyPr/>
          <a:lstStyle/>
          <a:p>
            <a:endParaRPr lang="es-ES"/>
          </a:p>
        </p:txBody>
      </p:sp>
      <p:sp>
        <p:nvSpPr>
          <p:cNvPr id="7" name="Shape 5"/>
          <p:cNvSpPr/>
          <p:nvPr/>
        </p:nvSpPr>
        <p:spPr>
          <a:xfrm>
            <a:off x="841248" y="2258568"/>
            <a:ext cx="640080" cy="640080"/>
          </a:xfrm>
          <a:prstGeom prst="ellipse">
            <a:avLst/>
          </a:prstGeom>
          <a:solidFill>
            <a:srgbClr val="C73E3E"/>
          </a:solidFill>
          <a:ln/>
        </p:spPr>
        <p:txBody>
          <a:bodyPr/>
          <a:lstStyle/>
          <a:p>
            <a:endParaRPr lang="es-ES"/>
          </a:p>
        </p:txBody>
      </p:sp>
      <p:pic>
        <p:nvPicPr>
          <p:cNvPr id="8" name="Image 0" descr="assets/timescircle.png"/>
          <p:cNvPicPr>
            <a:picLocks noChangeAspect="1"/>
          </p:cNvPicPr>
          <p:nvPr/>
        </p:nvPicPr>
        <p:blipFill>
          <a:blip r:embed="rId3"/>
          <a:stretch>
            <a:fillRect/>
          </a:stretch>
        </p:blipFill>
        <p:spPr>
          <a:xfrm>
            <a:off x="1007669" y="2424989"/>
            <a:ext cx="307238" cy="307238"/>
          </a:xfrm>
          <a:prstGeom prst="rect">
            <a:avLst/>
          </a:prstGeom>
        </p:spPr>
      </p:pic>
      <p:sp>
        <p:nvSpPr>
          <p:cNvPr id="9" name="Text 6"/>
          <p:cNvSpPr/>
          <p:nvPr/>
        </p:nvSpPr>
        <p:spPr>
          <a:xfrm>
            <a:off x="841248" y="3063240"/>
            <a:ext cx="2935224"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Viabilidad</a:t>
            </a:r>
            <a:endParaRPr lang="en-US" sz="1600" dirty="0"/>
          </a:p>
        </p:txBody>
      </p:sp>
      <p:sp>
        <p:nvSpPr>
          <p:cNvPr id="10" name="Text 7"/>
          <p:cNvSpPr/>
          <p:nvPr/>
        </p:nvSpPr>
        <p:spPr>
          <a:xfrm>
            <a:off x="841248" y="3520440"/>
            <a:ext cx="2935224" cy="1463040"/>
          </a:xfrm>
          <a:prstGeom prst="rect">
            <a:avLst/>
          </a:prstGeom>
          <a:noFill/>
          <a:ln/>
        </p:spPr>
        <p:txBody>
          <a:bodyPr wrap="square" lIns="0" tIns="0" rIns="0" bIns="0" rtlCol="0" anchor="ctr"/>
          <a:lstStyle/>
          <a:p>
            <a:pPr marL="0" indent="0">
              <a:lnSpc>
                <a:spcPct val="125000"/>
              </a:lnSpc>
              <a:buNone/>
            </a:pPr>
            <a:r>
              <a:rPr lang="en-US" sz="1150" dirty="0">
                <a:solidFill>
                  <a:srgbClr val="CFE9EC"/>
                </a:solidFill>
                <a:latin typeface="Calibri" pitchFamily="34" charset="0"/>
                <a:ea typeface="Calibri" pitchFamily="34" charset="-122"/>
                <a:cs typeface="Calibri" pitchFamily="34" charset="-120"/>
              </a:rPr>
              <a:t>No viable en el escenario base: VAN del proyecto -461.713,11 €, VAN del inversionista -490.611,23 €, TIR no calculable y payback no alcanzado en 5 años.</a:t>
            </a:r>
            <a:endParaRPr lang="en-US" sz="1150" dirty="0"/>
          </a:p>
        </p:txBody>
      </p:sp>
      <p:sp>
        <p:nvSpPr>
          <p:cNvPr id="11" name="Shape 8"/>
          <p:cNvSpPr/>
          <p:nvPr/>
        </p:nvSpPr>
        <p:spPr>
          <a:xfrm>
            <a:off x="4297680" y="1965960"/>
            <a:ext cx="3520440" cy="3200400"/>
          </a:xfrm>
          <a:prstGeom prst="roundRect">
            <a:avLst>
              <a:gd name="adj" fmla="val 2571"/>
            </a:avLst>
          </a:prstGeom>
          <a:solidFill>
            <a:srgbClr val="13294F"/>
          </a:solidFill>
          <a:ln/>
        </p:spPr>
        <p:txBody>
          <a:bodyPr/>
          <a:lstStyle/>
          <a:p>
            <a:endParaRPr lang="es-ES"/>
          </a:p>
        </p:txBody>
      </p:sp>
      <p:sp>
        <p:nvSpPr>
          <p:cNvPr id="12" name="Shape 9"/>
          <p:cNvSpPr/>
          <p:nvPr/>
        </p:nvSpPr>
        <p:spPr>
          <a:xfrm>
            <a:off x="4590288" y="2258568"/>
            <a:ext cx="640080" cy="640080"/>
          </a:xfrm>
          <a:prstGeom prst="ellipse">
            <a:avLst/>
          </a:prstGeom>
          <a:solidFill>
            <a:srgbClr val="E0A93B"/>
          </a:solidFill>
          <a:ln/>
        </p:spPr>
        <p:txBody>
          <a:bodyPr/>
          <a:lstStyle/>
          <a:p>
            <a:endParaRPr lang="es-ES"/>
          </a:p>
        </p:txBody>
      </p:sp>
      <p:pic>
        <p:nvPicPr>
          <p:cNvPr id="13" name="Image 1" descr="assets/warning.png"/>
          <p:cNvPicPr>
            <a:picLocks noChangeAspect="1"/>
          </p:cNvPicPr>
          <p:nvPr/>
        </p:nvPicPr>
        <p:blipFill>
          <a:blip r:embed="rId4"/>
          <a:stretch>
            <a:fillRect/>
          </a:stretch>
        </p:blipFill>
        <p:spPr>
          <a:xfrm>
            <a:off x="4756709" y="2424989"/>
            <a:ext cx="307238" cy="307238"/>
          </a:xfrm>
          <a:prstGeom prst="rect">
            <a:avLst/>
          </a:prstGeom>
        </p:spPr>
      </p:pic>
      <p:sp>
        <p:nvSpPr>
          <p:cNvPr id="14" name="Text 10"/>
          <p:cNvSpPr/>
          <p:nvPr/>
        </p:nvSpPr>
        <p:spPr>
          <a:xfrm>
            <a:off x="4590288" y="3063240"/>
            <a:ext cx="2935224"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Riesgos principales</a:t>
            </a:r>
            <a:endParaRPr lang="en-US" sz="1600" dirty="0"/>
          </a:p>
        </p:txBody>
      </p:sp>
      <p:sp>
        <p:nvSpPr>
          <p:cNvPr id="15" name="Text 11"/>
          <p:cNvSpPr/>
          <p:nvPr/>
        </p:nvSpPr>
        <p:spPr>
          <a:xfrm>
            <a:off x="4590288" y="3520440"/>
            <a:ext cx="2935224" cy="1463040"/>
          </a:xfrm>
          <a:prstGeom prst="rect">
            <a:avLst/>
          </a:prstGeom>
          <a:noFill/>
          <a:ln/>
        </p:spPr>
        <p:txBody>
          <a:bodyPr wrap="square" lIns="0" tIns="0" rIns="0" bIns="0" rtlCol="0" anchor="ctr"/>
          <a:lstStyle/>
          <a:p>
            <a:pPr marL="0" indent="0">
              <a:lnSpc>
                <a:spcPct val="125000"/>
              </a:lnSpc>
              <a:buNone/>
            </a:pPr>
            <a:r>
              <a:rPr lang="en-US" sz="1150" dirty="0">
                <a:solidFill>
                  <a:srgbClr val="CFE9EC"/>
                </a:solidFill>
                <a:latin typeface="Calibri" pitchFamily="34" charset="0"/>
                <a:ea typeface="Calibri" pitchFamily="34" charset="-122"/>
                <a:cs typeface="Calibri" pitchFamily="34" charset="-120"/>
              </a:rPr>
              <a:t>Desajuste entre ingresos iniciales (36.000 €) y costes fijos (142.440 €); escala de 20 clientes insuficiente; la deuda agrava el flujo del inversionista en vez de mejorarlo.</a:t>
            </a:r>
            <a:endParaRPr lang="en-US" sz="1150" dirty="0"/>
          </a:p>
        </p:txBody>
      </p:sp>
      <p:sp>
        <p:nvSpPr>
          <p:cNvPr id="16" name="Shape 12"/>
          <p:cNvSpPr/>
          <p:nvPr/>
        </p:nvSpPr>
        <p:spPr>
          <a:xfrm>
            <a:off x="8046720" y="1965960"/>
            <a:ext cx="3520440" cy="3200400"/>
          </a:xfrm>
          <a:prstGeom prst="roundRect">
            <a:avLst>
              <a:gd name="adj" fmla="val 2571"/>
            </a:avLst>
          </a:prstGeom>
          <a:solidFill>
            <a:srgbClr val="13294F"/>
          </a:solidFill>
          <a:ln/>
        </p:spPr>
        <p:txBody>
          <a:bodyPr/>
          <a:lstStyle/>
          <a:p>
            <a:endParaRPr lang="es-ES"/>
          </a:p>
        </p:txBody>
      </p:sp>
      <p:sp>
        <p:nvSpPr>
          <p:cNvPr id="17" name="Shape 13"/>
          <p:cNvSpPr/>
          <p:nvPr/>
        </p:nvSpPr>
        <p:spPr>
          <a:xfrm>
            <a:off x="8339328" y="2258568"/>
            <a:ext cx="640080" cy="640080"/>
          </a:xfrm>
          <a:prstGeom prst="ellipse">
            <a:avLst/>
          </a:prstGeom>
          <a:solidFill>
            <a:srgbClr val="0EA5B0"/>
          </a:solidFill>
          <a:ln/>
        </p:spPr>
        <p:txBody>
          <a:bodyPr/>
          <a:lstStyle/>
          <a:p>
            <a:endParaRPr lang="es-ES"/>
          </a:p>
        </p:txBody>
      </p:sp>
      <p:pic>
        <p:nvPicPr>
          <p:cNvPr id="18" name="Image 2" descr="assets/flag.png"/>
          <p:cNvPicPr>
            <a:picLocks noChangeAspect="1"/>
          </p:cNvPicPr>
          <p:nvPr/>
        </p:nvPicPr>
        <p:blipFill>
          <a:blip r:embed="rId5"/>
          <a:stretch>
            <a:fillRect/>
          </a:stretch>
        </p:blipFill>
        <p:spPr>
          <a:xfrm>
            <a:off x="8505749" y="2424989"/>
            <a:ext cx="307238" cy="307238"/>
          </a:xfrm>
          <a:prstGeom prst="rect">
            <a:avLst/>
          </a:prstGeom>
        </p:spPr>
      </p:pic>
      <p:sp>
        <p:nvSpPr>
          <p:cNvPr id="19" name="Text 14"/>
          <p:cNvSpPr/>
          <p:nvPr/>
        </p:nvSpPr>
        <p:spPr>
          <a:xfrm>
            <a:off x="8339328" y="3063240"/>
            <a:ext cx="2935224"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Recomendación final</a:t>
            </a:r>
            <a:endParaRPr lang="en-US" sz="1600" dirty="0"/>
          </a:p>
        </p:txBody>
      </p:sp>
      <p:sp>
        <p:nvSpPr>
          <p:cNvPr id="20" name="Text 15"/>
          <p:cNvSpPr/>
          <p:nvPr/>
        </p:nvSpPr>
        <p:spPr>
          <a:xfrm>
            <a:off x="8339328" y="3520440"/>
            <a:ext cx="2935224" cy="1463040"/>
          </a:xfrm>
          <a:prstGeom prst="rect">
            <a:avLst/>
          </a:prstGeom>
          <a:noFill/>
          <a:ln/>
        </p:spPr>
        <p:txBody>
          <a:bodyPr wrap="square" lIns="0" tIns="0" rIns="0" bIns="0" rtlCol="0" anchor="ctr"/>
          <a:lstStyle/>
          <a:p>
            <a:pPr marL="0" indent="0">
              <a:lnSpc>
                <a:spcPct val="125000"/>
              </a:lnSpc>
              <a:buNone/>
            </a:pPr>
            <a:r>
              <a:rPr lang="en-US" sz="1150" dirty="0">
                <a:solidFill>
                  <a:srgbClr val="CFE9EC"/>
                </a:solidFill>
                <a:latin typeface="Calibri" pitchFamily="34" charset="0"/>
                <a:ea typeface="Calibri" pitchFamily="34" charset="-122"/>
                <a:cs typeface="Calibri" pitchFamily="34" charset="-120"/>
              </a:rPr>
              <a:t>No acometer la inversión con las hipótesis actuales. Reconsiderar con mayor horizonte temporal, precio más ajustado al valor aportado y captación inicial más agresiva.</a:t>
            </a:r>
            <a:endParaRPr lang="en-US" sz="1150" dirty="0"/>
          </a:p>
        </p:txBody>
      </p:sp>
      <p:sp>
        <p:nvSpPr>
          <p:cNvPr id="21" name="Text 16"/>
          <p:cNvSpPr/>
          <p:nvPr/>
        </p:nvSpPr>
        <p:spPr>
          <a:xfrm>
            <a:off x="548640" y="5240000"/>
            <a:ext cx="11094415" cy="1020000"/>
          </a:xfrm>
          <a:prstGeom prst="rect">
            <a:avLst/>
          </a:prstGeom>
          <a:noFill/>
          <a:ln/>
        </p:spPr>
        <p:txBody>
          <a:bodyPr wrap="square" lIns="0" tIns="0" rIns="0" bIns="0" rtlCol="0" anchor="ctr"/>
          <a:lstStyle/>
          <a:p>
            <a:pPr marL="0" indent="0" algn="ctr">
              <a:lnSpc>
                <a:spcPct val="125000"/>
              </a:lnSpc>
              <a:buNone/>
            </a:pPr>
            <a:r>
              <a:rPr lang="es-ES" sz="1200" i="1" dirty="0">
                <a:solidFill>
                  <a:srgbClr val="0EA5B0"/>
                </a:solidFill>
                <a:latin typeface="Calibri" pitchFamily="34" charset="0"/>
                <a:ea typeface="Calibri" pitchFamily="34" charset="-122"/>
                <a:cs typeface="Calibri" pitchFamily="34" charset="-120"/>
              </a:rPr>
              <a:t>La decisión racional no es rechazar la idea, sino rechazar esta configuración financiera: con 20 clientes iniciales y esta estructura de costes fijos elevados, el proyecto destruye valor; con mayor escala, un precio superior o costes iniciales más flexibles, podría reconsiderarse.</a:t>
            </a:r>
            <a:endParaRPr lang="es-ES" sz="1200" dirty="0"/>
          </a:p>
        </p:txBody>
      </p:sp>
      <p:sp>
        <p:nvSpPr>
          <p:cNvPr id="22" name="Text 17"/>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C7290"/>
                </a:solidFill>
                <a:latin typeface="Calibri" pitchFamily="34" charset="0"/>
                <a:ea typeface="Calibri" pitchFamily="34" charset="-122"/>
                <a:cs typeface="Calibri" pitchFamily="34" charset="-120"/>
              </a:rPr>
              <a:t>QuantumVault S.L.  ·  Evaluación de Proyecto de Inversión</a:t>
            </a:r>
            <a:endParaRPr lang="en-US" sz="900" dirty="0"/>
          </a:p>
        </p:txBody>
      </p:sp>
      <p:sp>
        <p:nvSpPr>
          <p:cNvPr id="23" name="Text 18"/>
          <p:cNvSpPr/>
          <p:nvPr/>
        </p:nvSpPr>
        <p:spPr>
          <a:xfrm>
            <a:off x="10545775" y="6510528"/>
            <a:ext cx="1097280" cy="274320"/>
          </a:xfrm>
          <a:prstGeom prst="rect">
            <a:avLst/>
          </a:prstGeom>
          <a:noFill/>
          <a:ln/>
        </p:spPr>
        <p:txBody>
          <a:bodyPr wrap="square" lIns="0" tIns="0" rIns="0" bIns="0" rtlCol="0" anchor="ctr"/>
          <a:lstStyle/>
          <a:p>
            <a:pPr marL="0" indent="0" algn="r">
              <a:buNone/>
            </a:pPr>
            <a:r>
              <a:rPr lang="en-US" sz="900" dirty="0">
                <a:solidFill>
                  <a:srgbClr val="5C7290"/>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3325</Words>
  <Application>Microsoft Macintosh PowerPoint</Application>
  <PresentationFormat>Panorámica</PresentationFormat>
  <Paragraphs>353</Paragraphs>
  <Slides>15</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QuantumVault S.L. — Evaluación de Proyecto de Inversión</dc:title>
  <dc:subject>PptxGenJS Presentation</dc:subject>
  <dc:creator>Alejandro Martínez Ronda</dc:creator>
  <cp:lastModifiedBy>Alejandro Martínez Ronda</cp:lastModifiedBy>
  <cp:revision>5</cp:revision>
  <dcterms:created xsi:type="dcterms:W3CDTF">2026-06-20T10:40:55Z</dcterms:created>
  <dcterms:modified xsi:type="dcterms:W3CDTF">2026-06-23T11:50:24Z</dcterms:modified>
</cp:coreProperties>
</file>